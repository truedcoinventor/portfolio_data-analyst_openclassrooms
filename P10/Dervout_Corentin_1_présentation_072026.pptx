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66" r:id="rId3"/>
    <p:sldId id="258" r:id="rId4"/>
    <p:sldId id="259" r:id="rId5"/>
    <p:sldId id="260" r:id="rId6"/>
    <p:sldId id="261" r:id="rId7"/>
    <p:sldId id="262" r:id="rId8"/>
    <p:sldId id="263" r:id="rId9"/>
    <p:sldId id="264" r:id="rId10"/>
    <p:sldId id="267" r:id="rId11"/>
    <p:sldId id="265"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53" d="100"/>
          <a:sy n="153" d="100"/>
        </p:scale>
        <p:origin x="576" y="1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05225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Bonjour à </a:t>
            </a:r>
            <a:r>
              <a:rPr dirty="0" err="1"/>
              <a:t>tous</a:t>
            </a:r>
            <a:r>
              <a:rPr dirty="0"/>
              <a:t> et merci de </a:t>
            </a:r>
            <a:r>
              <a:rPr dirty="0" err="1"/>
              <a:t>votre</a:t>
            </a:r>
            <a:r>
              <a:rPr dirty="0"/>
              <a:t> </a:t>
            </a:r>
            <a:r>
              <a:rPr dirty="0" err="1"/>
              <a:t>présence</a:t>
            </a:r>
            <a:r>
              <a:rPr dirty="0"/>
              <a:t>. Je </a:t>
            </a:r>
            <a:r>
              <a:rPr dirty="0" err="1"/>
              <a:t>vais</a:t>
            </a:r>
            <a:r>
              <a:rPr dirty="0"/>
              <a:t> </a:t>
            </a:r>
            <a:r>
              <a:rPr dirty="0" err="1"/>
              <a:t>vous</a:t>
            </a:r>
            <a:r>
              <a:rPr dirty="0"/>
              <a:t> </a:t>
            </a:r>
            <a:r>
              <a:rPr dirty="0" err="1"/>
              <a:t>présenter</a:t>
            </a:r>
            <a:r>
              <a:rPr dirty="0"/>
              <a:t> le tableau de bord </a:t>
            </a:r>
            <a:r>
              <a:rPr dirty="0" err="1"/>
              <a:t>réalisé</a:t>
            </a:r>
            <a:r>
              <a:rPr dirty="0"/>
              <a:t> pour DWFA sur </a:t>
            </a:r>
            <a:r>
              <a:rPr dirty="0" err="1"/>
              <a:t>l’accès</a:t>
            </a:r>
            <a:r>
              <a:rPr dirty="0"/>
              <a:t> à </a:t>
            </a:r>
            <a:r>
              <a:rPr dirty="0" err="1"/>
              <a:t>l’eau</a:t>
            </a:r>
            <a:r>
              <a:rPr dirty="0"/>
              <a:t> potable dans le monde, sur la </a:t>
            </a:r>
            <a:r>
              <a:rPr dirty="0" err="1"/>
              <a:t>période</a:t>
            </a:r>
            <a:r>
              <a:rPr dirty="0"/>
              <a:t> 2000–2018. </a:t>
            </a:r>
            <a:r>
              <a:rPr dirty="0" err="1"/>
              <a:t>L’objectif</a:t>
            </a:r>
            <a:r>
              <a:rPr dirty="0"/>
              <a:t> de </a:t>
            </a:r>
            <a:r>
              <a:rPr dirty="0" err="1"/>
              <a:t>cette</a:t>
            </a:r>
            <a:r>
              <a:rPr dirty="0"/>
              <a:t> </a:t>
            </a:r>
            <a:r>
              <a:rPr dirty="0" err="1"/>
              <a:t>réunion</a:t>
            </a:r>
            <a:r>
              <a:rPr dirty="0"/>
              <a:t> </a:t>
            </a:r>
            <a:r>
              <a:rPr dirty="0" err="1"/>
              <a:t>est</a:t>
            </a:r>
            <a:r>
              <a:rPr dirty="0"/>
              <a:t> de </a:t>
            </a:r>
            <a:r>
              <a:rPr dirty="0" err="1"/>
              <a:t>vous</a:t>
            </a:r>
            <a:r>
              <a:rPr dirty="0"/>
              <a:t> </a:t>
            </a:r>
            <a:r>
              <a:rPr dirty="0" err="1"/>
              <a:t>restituer</a:t>
            </a:r>
            <a:r>
              <a:rPr dirty="0"/>
              <a:t> la démarche, les données </a:t>
            </a:r>
            <a:r>
              <a:rPr dirty="0" err="1"/>
              <a:t>mobilisées</a:t>
            </a:r>
            <a:r>
              <a:rPr dirty="0"/>
              <a:t> et </a:t>
            </a:r>
            <a:r>
              <a:rPr dirty="0" err="1"/>
              <a:t>l’outil</a:t>
            </a:r>
            <a:r>
              <a:rPr dirty="0"/>
              <a:t> </a:t>
            </a:r>
            <a:r>
              <a:rPr dirty="0" err="1"/>
              <a:t>retenu</a:t>
            </a:r>
            <a:r>
              <a:rPr dirty="0"/>
              <a:t>, </a:t>
            </a:r>
            <a:r>
              <a:rPr dirty="0" err="1"/>
              <a:t>avant</a:t>
            </a:r>
            <a:r>
              <a:rPr dirty="0"/>
              <a:t> </a:t>
            </a:r>
            <a:r>
              <a:rPr dirty="0" err="1"/>
              <a:t>une</a:t>
            </a:r>
            <a:r>
              <a:rPr dirty="0"/>
              <a:t> </a:t>
            </a:r>
            <a:r>
              <a:rPr dirty="0" err="1"/>
              <a:t>démonstration</a:t>
            </a:r>
            <a:r>
              <a:rPr dirty="0"/>
              <a:t> </a:t>
            </a:r>
            <a:r>
              <a:rPr dirty="0" err="1"/>
              <a:t>en</a:t>
            </a:r>
            <a:r>
              <a:rPr dirty="0"/>
              <a:t> direct du tableau de bord.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Voici le déroulé de la présentation. Je commence par le contexte et les objectifs, puis je présente les données sources. J’explique ensuite le prétraitement et la modélisation, avant de vous montrer le blueprint qui a servi de plan de construction. Je justifie le choix de Power BI, et je termine par la démonstration.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DWFA est une ONG qui accompagne les pays pour améliorer l’accès à l’eau potable. Le tableau de bord répond à un besoin simple : identifier les pays les plus en difficulté et décider où concentrer les efforts. Ces efforts s’organisent autour de trois domaines d’expertise : la création de nouveaux services, la modernisation des services existants, et le consulting auprès des administrations. Le tableau propose trois vues — mondiale, continentale et nationale — pour aller du global au particulier.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données ont été fournies par un data engineer : cinq fichiers couvrant 194 pays sur la période 2000–2018, issus de sources de référence, l’OMS et la FAO. Elles portent sur quatre familles d’indicateurs : l’accès à l’eau potable (de base et de haute qualité), la mortalité liée à l’eau insalubre, la population rurale et urbaine, et la stabilité politique. Chaque indicateur est suivi année par année, ce qui permet d’observer les évolutions dans le temps.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 important : tout le prétraitement a été réalisé directement dans Power BI, avec Power Query — aucun outil externe n’est nécessaire, le fichier est autonome. Concrètement, j’ai transformé les données : des pivots pour passer les granularités en colonnes, des jointures entre les cinq fichiers, du typage et du nettoyage. J’ai aussi créé plusieurs indicateurs calculés : la part de population sans accès, la part urbaine, la stabilité moyenne par pays et un indice d’efficacité de la politique publique. Enfin, j’ai géré les cas particuliers : la mortalité n’existe que pour 2016, et j’ai exclu les territoires hors du périmètre des 194 pays.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Côté modélisation, j’ai construit un modèle en étoile à dimensions conformes. Deux tables partagées — un calendrier des années et une table des régions avec pays et continent — filtrent l’ensemble des tables de faits. Cette organisation garantit la cohérence entre les trois vues, de meilleures performances d’affichage, et surtout une gestion propre des couvertures temporelles différentes : la mortalité, par exemple, n’existe que pour 2016, ce que le modèle absorbe sans créer d’incohérence.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Avant de construire quoi que ce soit, j’ai formalisé un blueprint, un document de cadrage. Pour chacune des trois vues, il relie le besoin de l’utilisateur, les indicateurs à mobiliser et la visualisation retenue. Il m’a servi de plan avant la réalisation dans Power BI, et il garantit que chaque graphique répond à un besoin précis.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Voici le détail du blueprint. Il couvre douze besoins répartis sur les trois vues et intègre les indicateurs des trois domaines d’expertise. À chaque ligne : un besoin, une mesure, une visualisation et la vue concernée. C’est aussi une manière de vérifier que toutes les exigences sont couvertes.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mot sur le choix de l’outil. J’ai retenu Power BI plutôt que Tableau, principalement parce que je le maîtrisais déjà pour l’avoir utilisé sur un projet précédent : réutiliser cette compétence m’a permis d’être opérationnel immédiatement et de livrer plus vite, avec moins de risque. Apprendre Tableau aurait été possible, mais aurait ralenti le projet pour un résultat au fond équivalent. Power BI apporte aussi des atouts adaptés ici : Power Query pour tout le prétraitement, la modélisation en étoile, les mesures DAX, et une version Desktop gratuite.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Voici les recommandations concrètes issues de l’analyse, organisées par domaine. Pour la création de services, la priorité va aux pays où l’accès est le plus faible : Tchad, Soudan du Sud, Éthiopie, RD Congo, Niger. Pour la modernisation, on cible les pays qui ont un bon accès de base mais une faible qualité de service : Laos, Népal, Bhoutan, Mongolie, Mexique. Pour le consulting, on retient des administrations suffisamment stables mais dont la politique de l’eau reste perfectible : Bénin, Zambie, Lesotho, Mozambique, Malawi. C’est une liste indicative, à affiner ensuite avec les équipes de terrain.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Passons à la démonstration. Je vais parcourir les trois vues, de la vue mondiale à la vue nationale, et manipuler les filtres — continent, pays, année, et le curseur de stabilité politique — pour montrer comment on identifie les pays prioritaires, domaine par domaine. Il me restera à finaliser l’accessibilité (textes alternatifs, ordre de tabulation) puis à publier le tableau de bord. Merci de votre attention, je suis à votre disposition pour vos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2026-07-05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2026-07-05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2026-07-05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2026-07-05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2026-07-05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2026-07-05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2026-07-05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2026-07-05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2026-07-05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2026-07-05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2026-07-05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2026-07-05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7223759" y="960119"/>
            <a:ext cx="4937760" cy="4937760"/>
          </a:xfrm>
          <a:prstGeom prst="ellipse">
            <a:avLst/>
          </a:prstGeom>
          <a:noFill/>
          <a:ln w="19050">
            <a:solidFill>
              <a:srgbClr val="1A6B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818120" y="1554480"/>
            <a:ext cx="3749039" cy="3749039"/>
          </a:xfrm>
          <a:prstGeom prst="ellipse">
            <a:avLst/>
          </a:prstGeom>
          <a:noFill/>
          <a:ln w="19050">
            <a:solidFill>
              <a:srgbClr val="2196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412480" y="2148840"/>
            <a:ext cx="2560320" cy="2560320"/>
          </a:xfrm>
          <a:prstGeom prst="ellipse">
            <a:avLst/>
          </a:prstGeom>
          <a:noFill/>
          <a:ln w="19050">
            <a:solidFill>
              <a:srgbClr val="89CD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979408" y="2715768"/>
            <a:ext cx="1426464" cy="1426464"/>
          </a:xfrm>
          <a:prstGeom prst="ellipse">
            <a:avLst/>
          </a:prstGeom>
          <a:noFill/>
          <a:ln w="19050">
            <a:solidFill>
              <a:srgbClr val="89CD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9436608" y="3172968"/>
            <a:ext cx="512064" cy="512064"/>
          </a:xfrm>
          <a:prstGeom prst="ellipse">
            <a:avLst/>
          </a:prstGeom>
          <a:solidFill>
            <a:srgbClr val="89CD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2057400"/>
            <a:ext cx="7863840" cy="1737360"/>
          </a:xfrm>
          <a:prstGeom prst="rect">
            <a:avLst/>
          </a:prstGeom>
          <a:noFill/>
        </p:spPr>
        <p:txBody>
          <a:bodyPr wrap="square" lIns="0" tIns="0" rIns="0" bIns="0" anchor="t">
            <a:spAutoFit/>
          </a:bodyPr>
          <a:lstStyle/>
          <a:p>
            <a:pPr algn="l">
              <a:lnSpc>
                <a:spcPct val="102000"/>
              </a:lnSpc>
            </a:pPr>
            <a:r>
              <a:rPr sz="4200" b="1">
                <a:solidFill>
                  <a:srgbClr val="FFFFFF"/>
                </a:solidFill>
                <a:latin typeface="Cambria"/>
              </a:rPr>
              <a:t>Accès à l’eau potable</a:t>
            </a:r>
          </a:p>
          <a:p>
            <a:pPr algn="l">
              <a:lnSpc>
                <a:spcPct val="102000"/>
              </a:lnSpc>
              <a:spcBef>
                <a:spcPts val="200"/>
              </a:spcBef>
            </a:pPr>
            <a:r>
              <a:rPr sz="4200" b="1">
                <a:solidFill>
                  <a:srgbClr val="FFFFFF"/>
                </a:solidFill>
                <a:latin typeface="Cambria"/>
              </a:rPr>
              <a:t>dans le monde</a:t>
            </a:r>
          </a:p>
        </p:txBody>
      </p:sp>
      <p:sp>
        <p:nvSpPr>
          <p:cNvPr id="9" name="TextBox 8"/>
          <p:cNvSpPr txBox="1"/>
          <p:nvPr/>
        </p:nvSpPr>
        <p:spPr>
          <a:xfrm>
            <a:off x="868680" y="3794760"/>
            <a:ext cx="7680960" cy="338554"/>
          </a:xfrm>
          <a:prstGeom prst="rect">
            <a:avLst/>
          </a:prstGeom>
          <a:noFill/>
        </p:spPr>
        <p:txBody>
          <a:bodyPr wrap="square" lIns="0" tIns="0" rIns="0" bIns="0" anchor="t">
            <a:spAutoFit/>
          </a:bodyPr>
          <a:lstStyle/>
          <a:p>
            <a:pPr algn="l">
              <a:lnSpc>
                <a:spcPct val="100000"/>
              </a:lnSpc>
            </a:pPr>
            <a:r>
              <a:rPr sz="2200" b="0" dirty="0">
                <a:solidFill>
                  <a:srgbClr val="89CDE0"/>
                </a:solidFill>
                <a:latin typeface="Calibri"/>
              </a:rPr>
              <a:t>Tableau de bord </a:t>
            </a:r>
            <a:r>
              <a:rPr sz="2200" b="0" dirty="0" err="1">
                <a:solidFill>
                  <a:srgbClr val="89CDE0"/>
                </a:solidFill>
                <a:latin typeface="Calibri"/>
              </a:rPr>
              <a:t>d’aide</a:t>
            </a:r>
            <a:r>
              <a:rPr sz="2200" b="0" dirty="0">
                <a:solidFill>
                  <a:srgbClr val="89CDE0"/>
                </a:solidFill>
                <a:latin typeface="Calibri"/>
              </a:rPr>
              <a:t> à la </a:t>
            </a:r>
            <a:r>
              <a:rPr sz="2200" b="0" dirty="0" err="1">
                <a:solidFill>
                  <a:srgbClr val="89CDE0"/>
                </a:solidFill>
                <a:latin typeface="Calibri"/>
              </a:rPr>
              <a:t>décision</a:t>
            </a:r>
            <a:r>
              <a:rPr sz="2200" b="0" dirty="0">
                <a:solidFill>
                  <a:srgbClr val="89CDE0"/>
                </a:solidFill>
                <a:latin typeface="Calibri"/>
              </a:rPr>
              <a:t> </a:t>
            </a:r>
            <a:r>
              <a:rPr lang="en-US" sz="2200" b="0" dirty="0">
                <a:solidFill>
                  <a:srgbClr val="89CDE0"/>
                </a:solidFill>
                <a:latin typeface="Calibri"/>
              </a:rPr>
              <a:t>pour</a:t>
            </a:r>
            <a:r>
              <a:rPr sz="2200" b="0" dirty="0">
                <a:solidFill>
                  <a:srgbClr val="89CDE0"/>
                </a:solidFill>
                <a:latin typeface="Calibri"/>
              </a:rPr>
              <a:t> DWFA</a:t>
            </a:r>
          </a:p>
        </p:txBody>
      </p:sp>
      <p:sp>
        <p:nvSpPr>
          <p:cNvPr id="10" name="TextBox 9"/>
          <p:cNvSpPr txBox="1"/>
          <p:nvPr/>
        </p:nvSpPr>
        <p:spPr>
          <a:xfrm>
            <a:off x="868680" y="4389120"/>
            <a:ext cx="7680960" cy="230832"/>
          </a:xfrm>
          <a:prstGeom prst="rect">
            <a:avLst/>
          </a:prstGeom>
          <a:noFill/>
        </p:spPr>
        <p:txBody>
          <a:bodyPr wrap="square" lIns="0" tIns="0" rIns="0" bIns="0" anchor="t">
            <a:spAutoFit/>
          </a:bodyPr>
          <a:lstStyle/>
          <a:p>
            <a:pPr algn="l">
              <a:lnSpc>
                <a:spcPct val="100000"/>
              </a:lnSpc>
            </a:pPr>
            <a:r>
              <a:rPr sz="1500" b="0" dirty="0">
                <a:solidFill>
                  <a:srgbClr val="B9CFDE"/>
                </a:solidFill>
                <a:latin typeface="Calibri"/>
              </a:rPr>
              <a:t>Réunion de restitution · Étude 2000</a:t>
            </a:r>
            <a:r>
              <a:rPr lang="en-US" sz="1500" b="0" dirty="0">
                <a:solidFill>
                  <a:srgbClr val="B9CFDE"/>
                </a:solidFill>
                <a:latin typeface="Calibri"/>
              </a:rPr>
              <a:t> - </a:t>
            </a:r>
            <a:r>
              <a:rPr sz="1500" b="0" dirty="0">
                <a:solidFill>
                  <a:srgbClr val="B9CFDE"/>
                </a:solidFill>
                <a:latin typeface="Calibri"/>
              </a:rPr>
              <a:t>2018</a:t>
            </a:r>
          </a:p>
        </p:txBody>
      </p:sp>
      <p:sp>
        <p:nvSpPr>
          <p:cNvPr id="11" name="TextBox 10"/>
          <p:cNvSpPr txBox="1"/>
          <p:nvPr/>
        </p:nvSpPr>
        <p:spPr>
          <a:xfrm>
            <a:off x="868680" y="5989320"/>
            <a:ext cx="7680960" cy="215444"/>
          </a:xfrm>
          <a:prstGeom prst="rect">
            <a:avLst/>
          </a:prstGeom>
          <a:noFill/>
        </p:spPr>
        <p:txBody>
          <a:bodyPr wrap="square" lIns="0" tIns="0" rIns="0" bIns="0" anchor="t">
            <a:spAutoFit/>
          </a:bodyPr>
          <a:lstStyle/>
          <a:p>
            <a:pPr algn="l">
              <a:lnSpc>
                <a:spcPct val="100000"/>
              </a:lnSpc>
            </a:pPr>
            <a:r>
              <a:rPr sz="1400" b="0" dirty="0" err="1">
                <a:solidFill>
                  <a:srgbClr val="9FB6C6"/>
                </a:solidFill>
                <a:latin typeface="Calibri"/>
              </a:rPr>
              <a:t>Présenté</a:t>
            </a:r>
            <a:r>
              <a:rPr sz="1400" b="0" dirty="0">
                <a:solidFill>
                  <a:srgbClr val="9FB6C6"/>
                </a:solidFill>
                <a:latin typeface="Calibri"/>
              </a:rPr>
              <a:t> par : </a:t>
            </a:r>
            <a:r>
              <a:rPr lang="en-US" sz="1400" b="0" dirty="0">
                <a:solidFill>
                  <a:srgbClr val="9FB6C6"/>
                </a:solidFill>
                <a:latin typeface="Calibri"/>
              </a:rPr>
              <a:t>Corentin DERVOUT</a:t>
            </a:r>
            <a:endParaRPr sz="1400" b="0" dirty="0">
              <a:solidFill>
                <a:srgbClr val="9FB6C6"/>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280160" y="457200"/>
            <a:ext cx="10332720" cy="822960"/>
          </a:xfrm>
          <a:prstGeom prst="rect">
            <a:avLst/>
          </a:prstGeom>
          <a:noFill/>
        </p:spPr>
        <p:txBody>
          <a:bodyPr wrap="square" lIns="0" tIns="0" rIns="0" bIns="0" anchor="ctr">
            <a:spAutoFit/>
          </a:bodyPr>
          <a:lstStyle/>
          <a:p>
            <a:pPr algn="l">
              <a:lnSpc>
                <a:spcPct val="100000"/>
              </a:lnSpc>
            </a:pPr>
            <a:r>
              <a:rPr sz="3000" b="1">
                <a:solidFill>
                  <a:srgbClr val="0D2A43"/>
                </a:solidFill>
                <a:latin typeface="Cambria"/>
              </a:rPr>
              <a:t>Sommaire</a:t>
            </a:r>
          </a:p>
        </p:txBody>
      </p:sp>
      <p:sp>
        <p:nvSpPr>
          <p:cNvPr id="4" name="Oval 3"/>
          <p:cNvSpPr/>
          <p:nvPr/>
        </p:nvSpPr>
        <p:spPr>
          <a:xfrm>
            <a:off x="1280160" y="1737360"/>
            <a:ext cx="640080" cy="640080"/>
          </a:xfrm>
          <a:prstGeom prst="ellipse">
            <a:avLst/>
          </a:prstGeom>
          <a:solidFill>
            <a:srgbClr val="ECF4F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1A6B9A"/>
                </a:solidFill>
                <a:latin typeface="Cambria"/>
              </a:rPr>
              <a:t>1</a:t>
            </a:r>
          </a:p>
        </p:txBody>
      </p:sp>
      <p:sp>
        <p:nvSpPr>
          <p:cNvPr id="5" name="TextBox 4"/>
          <p:cNvSpPr txBox="1"/>
          <p:nvPr/>
        </p:nvSpPr>
        <p:spPr>
          <a:xfrm>
            <a:off x="2148839" y="1719072"/>
            <a:ext cx="4480560" cy="685800"/>
          </a:xfrm>
          <a:prstGeom prst="rect">
            <a:avLst/>
          </a:prstGeom>
          <a:noFill/>
        </p:spPr>
        <p:txBody>
          <a:bodyPr wrap="square" lIns="0" tIns="0" rIns="0" bIns="0" anchor="ctr">
            <a:spAutoFit/>
          </a:bodyPr>
          <a:lstStyle/>
          <a:p>
            <a:pPr algn="l">
              <a:lnSpc>
                <a:spcPct val="100000"/>
              </a:lnSpc>
            </a:pPr>
            <a:r>
              <a:rPr sz="1800" b="1">
                <a:solidFill>
                  <a:srgbClr val="1C2A30"/>
                </a:solidFill>
                <a:latin typeface="Calibri"/>
              </a:rPr>
              <a:t>Contexte &amp; objectifs</a:t>
            </a:r>
          </a:p>
        </p:txBody>
      </p:sp>
      <p:sp>
        <p:nvSpPr>
          <p:cNvPr id="6" name="Oval 5"/>
          <p:cNvSpPr/>
          <p:nvPr/>
        </p:nvSpPr>
        <p:spPr>
          <a:xfrm>
            <a:off x="7132320" y="1737360"/>
            <a:ext cx="640080" cy="640080"/>
          </a:xfrm>
          <a:prstGeom prst="ellipse">
            <a:avLst/>
          </a:prstGeom>
          <a:solidFill>
            <a:srgbClr val="ECF4F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1A6B9A"/>
                </a:solidFill>
                <a:latin typeface="Cambria"/>
              </a:rPr>
              <a:t>2</a:t>
            </a:r>
          </a:p>
        </p:txBody>
      </p:sp>
      <p:sp>
        <p:nvSpPr>
          <p:cNvPr id="7" name="TextBox 6"/>
          <p:cNvSpPr txBox="1"/>
          <p:nvPr/>
        </p:nvSpPr>
        <p:spPr>
          <a:xfrm>
            <a:off x="8001000" y="1719072"/>
            <a:ext cx="4480560" cy="685800"/>
          </a:xfrm>
          <a:prstGeom prst="rect">
            <a:avLst/>
          </a:prstGeom>
          <a:noFill/>
        </p:spPr>
        <p:txBody>
          <a:bodyPr wrap="square" lIns="0" tIns="0" rIns="0" bIns="0" anchor="ctr">
            <a:spAutoFit/>
          </a:bodyPr>
          <a:lstStyle/>
          <a:p>
            <a:pPr algn="l">
              <a:lnSpc>
                <a:spcPct val="100000"/>
              </a:lnSpc>
            </a:pPr>
            <a:r>
              <a:rPr sz="1800" b="1">
                <a:solidFill>
                  <a:srgbClr val="1C2A30"/>
                </a:solidFill>
                <a:latin typeface="Calibri"/>
              </a:rPr>
              <a:t>Les données sources</a:t>
            </a:r>
          </a:p>
        </p:txBody>
      </p:sp>
      <p:sp>
        <p:nvSpPr>
          <p:cNvPr id="8" name="Oval 7"/>
          <p:cNvSpPr/>
          <p:nvPr/>
        </p:nvSpPr>
        <p:spPr>
          <a:xfrm>
            <a:off x="1280160" y="2971800"/>
            <a:ext cx="640080" cy="640080"/>
          </a:xfrm>
          <a:prstGeom prst="ellipse">
            <a:avLst/>
          </a:prstGeom>
          <a:solidFill>
            <a:srgbClr val="ECF4F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1A6B9A"/>
                </a:solidFill>
                <a:latin typeface="Cambria"/>
              </a:rPr>
              <a:t>3</a:t>
            </a:r>
          </a:p>
        </p:txBody>
      </p:sp>
      <p:sp>
        <p:nvSpPr>
          <p:cNvPr id="9" name="TextBox 8"/>
          <p:cNvSpPr txBox="1"/>
          <p:nvPr/>
        </p:nvSpPr>
        <p:spPr>
          <a:xfrm>
            <a:off x="2148839" y="2953512"/>
            <a:ext cx="4480560" cy="685800"/>
          </a:xfrm>
          <a:prstGeom prst="rect">
            <a:avLst/>
          </a:prstGeom>
          <a:noFill/>
        </p:spPr>
        <p:txBody>
          <a:bodyPr wrap="square" lIns="0" tIns="0" rIns="0" bIns="0" anchor="ctr">
            <a:spAutoFit/>
          </a:bodyPr>
          <a:lstStyle/>
          <a:p>
            <a:pPr algn="l">
              <a:lnSpc>
                <a:spcPct val="100000"/>
              </a:lnSpc>
            </a:pPr>
            <a:r>
              <a:rPr sz="1800" b="1">
                <a:solidFill>
                  <a:srgbClr val="1C2A30"/>
                </a:solidFill>
                <a:latin typeface="Calibri"/>
              </a:rPr>
              <a:t>Prétraitement &amp; modélisation</a:t>
            </a:r>
          </a:p>
        </p:txBody>
      </p:sp>
      <p:sp>
        <p:nvSpPr>
          <p:cNvPr id="10" name="Oval 9"/>
          <p:cNvSpPr/>
          <p:nvPr/>
        </p:nvSpPr>
        <p:spPr>
          <a:xfrm>
            <a:off x="7132320" y="2971800"/>
            <a:ext cx="640080" cy="640080"/>
          </a:xfrm>
          <a:prstGeom prst="ellipse">
            <a:avLst/>
          </a:prstGeom>
          <a:solidFill>
            <a:srgbClr val="ECF4F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1A6B9A"/>
                </a:solidFill>
                <a:latin typeface="Cambria"/>
              </a:rPr>
              <a:t>4</a:t>
            </a:r>
          </a:p>
        </p:txBody>
      </p:sp>
      <p:sp>
        <p:nvSpPr>
          <p:cNvPr id="11" name="TextBox 10"/>
          <p:cNvSpPr txBox="1"/>
          <p:nvPr/>
        </p:nvSpPr>
        <p:spPr>
          <a:xfrm>
            <a:off x="8001000" y="2953512"/>
            <a:ext cx="4480560" cy="685800"/>
          </a:xfrm>
          <a:prstGeom prst="rect">
            <a:avLst/>
          </a:prstGeom>
          <a:noFill/>
        </p:spPr>
        <p:txBody>
          <a:bodyPr wrap="square" lIns="0" tIns="0" rIns="0" bIns="0" anchor="ctr">
            <a:spAutoFit/>
          </a:bodyPr>
          <a:lstStyle/>
          <a:p>
            <a:pPr algn="l">
              <a:lnSpc>
                <a:spcPct val="100000"/>
              </a:lnSpc>
            </a:pPr>
            <a:r>
              <a:rPr sz="1800" b="1">
                <a:solidFill>
                  <a:srgbClr val="1C2A30"/>
                </a:solidFill>
                <a:latin typeface="Calibri"/>
              </a:rPr>
              <a:t>Le blueprint</a:t>
            </a:r>
          </a:p>
        </p:txBody>
      </p:sp>
      <p:sp>
        <p:nvSpPr>
          <p:cNvPr id="12" name="Oval 11"/>
          <p:cNvSpPr/>
          <p:nvPr/>
        </p:nvSpPr>
        <p:spPr>
          <a:xfrm>
            <a:off x="1280160" y="4206240"/>
            <a:ext cx="640080" cy="640080"/>
          </a:xfrm>
          <a:prstGeom prst="ellipse">
            <a:avLst/>
          </a:prstGeom>
          <a:solidFill>
            <a:srgbClr val="ECF4F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1A6B9A"/>
                </a:solidFill>
                <a:latin typeface="Cambria"/>
              </a:rPr>
              <a:t>5</a:t>
            </a:r>
          </a:p>
        </p:txBody>
      </p:sp>
      <p:sp>
        <p:nvSpPr>
          <p:cNvPr id="13" name="TextBox 12"/>
          <p:cNvSpPr txBox="1"/>
          <p:nvPr/>
        </p:nvSpPr>
        <p:spPr>
          <a:xfrm>
            <a:off x="2148839" y="4187952"/>
            <a:ext cx="4480560" cy="685800"/>
          </a:xfrm>
          <a:prstGeom prst="rect">
            <a:avLst/>
          </a:prstGeom>
          <a:noFill/>
        </p:spPr>
        <p:txBody>
          <a:bodyPr wrap="square" lIns="0" tIns="0" rIns="0" bIns="0" anchor="ctr">
            <a:spAutoFit/>
          </a:bodyPr>
          <a:lstStyle/>
          <a:p>
            <a:pPr algn="l">
              <a:lnSpc>
                <a:spcPct val="100000"/>
              </a:lnSpc>
            </a:pPr>
            <a:r>
              <a:rPr sz="1800" b="1">
                <a:solidFill>
                  <a:srgbClr val="1C2A30"/>
                </a:solidFill>
                <a:latin typeface="Calibri"/>
              </a:rPr>
              <a:t>Choix de l’outil</a:t>
            </a:r>
          </a:p>
        </p:txBody>
      </p:sp>
      <p:sp>
        <p:nvSpPr>
          <p:cNvPr id="14" name="Oval 13"/>
          <p:cNvSpPr/>
          <p:nvPr/>
        </p:nvSpPr>
        <p:spPr>
          <a:xfrm>
            <a:off x="7132320" y="4206240"/>
            <a:ext cx="640080" cy="640080"/>
          </a:xfrm>
          <a:prstGeom prst="ellipse">
            <a:avLst/>
          </a:prstGeom>
          <a:solidFill>
            <a:srgbClr val="ECF4F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1A6B9A"/>
                </a:solidFill>
                <a:latin typeface="Cambria"/>
              </a:rPr>
              <a:t>6</a:t>
            </a:r>
          </a:p>
        </p:txBody>
      </p:sp>
      <p:sp>
        <p:nvSpPr>
          <p:cNvPr id="15" name="TextBox 14"/>
          <p:cNvSpPr txBox="1"/>
          <p:nvPr/>
        </p:nvSpPr>
        <p:spPr>
          <a:xfrm>
            <a:off x="8001000" y="4392352"/>
            <a:ext cx="4480560" cy="276999"/>
          </a:xfrm>
          <a:prstGeom prst="rect">
            <a:avLst/>
          </a:prstGeom>
          <a:noFill/>
        </p:spPr>
        <p:txBody>
          <a:bodyPr wrap="square" lIns="0" tIns="0" rIns="0" bIns="0" anchor="ctr">
            <a:spAutoFit/>
          </a:bodyPr>
          <a:lstStyle/>
          <a:p>
            <a:pPr algn="l">
              <a:lnSpc>
                <a:spcPct val="100000"/>
              </a:lnSpc>
            </a:pPr>
            <a:r>
              <a:rPr sz="1800" b="1" dirty="0" err="1">
                <a:solidFill>
                  <a:srgbClr val="1C2A30"/>
                </a:solidFill>
                <a:latin typeface="Calibri"/>
              </a:rPr>
              <a:t>Résultat</a:t>
            </a:r>
            <a:r>
              <a:rPr lang="en-US" sz="1800" b="1" dirty="0" err="1">
                <a:solidFill>
                  <a:srgbClr val="1C2A30"/>
                </a:solidFill>
                <a:latin typeface="Calibri"/>
              </a:rPr>
              <a:t>s</a:t>
            </a:r>
            <a:endParaRPr sz="1800" b="1" dirty="0">
              <a:solidFill>
                <a:srgbClr val="1C2A30"/>
              </a:solidFill>
              <a:latin typeface="Calibri"/>
            </a:endParaRPr>
          </a:p>
        </p:txBody>
      </p:sp>
      <p:sp>
        <p:nvSpPr>
          <p:cNvPr id="16" name="Oval 15"/>
          <p:cNvSpPr/>
          <p:nvPr/>
        </p:nvSpPr>
        <p:spPr>
          <a:xfrm>
            <a:off x="1280160" y="5440680"/>
            <a:ext cx="640080" cy="640080"/>
          </a:xfrm>
          <a:prstGeom prst="ellipse">
            <a:avLst/>
          </a:prstGeom>
          <a:solidFill>
            <a:srgbClr val="ECF4F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1A6B9A"/>
                </a:solidFill>
                <a:latin typeface="Cambria"/>
              </a:rPr>
              <a:t>7</a:t>
            </a:r>
          </a:p>
        </p:txBody>
      </p:sp>
      <p:sp>
        <p:nvSpPr>
          <p:cNvPr id="17" name="TextBox 16"/>
          <p:cNvSpPr txBox="1"/>
          <p:nvPr/>
        </p:nvSpPr>
        <p:spPr>
          <a:xfrm>
            <a:off x="2148839" y="5422392"/>
            <a:ext cx="4480560" cy="685800"/>
          </a:xfrm>
          <a:prstGeom prst="rect">
            <a:avLst/>
          </a:prstGeom>
          <a:noFill/>
        </p:spPr>
        <p:txBody>
          <a:bodyPr wrap="square" lIns="0" tIns="0" rIns="0" bIns="0" anchor="ctr">
            <a:spAutoFit/>
          </a:bodyPr>
          <a:lstStyle/>
          <a:p>
            <a:pPr algn="l">
              <a:lnSpc>
                <a:spcPct val="100000"/>
              </a:lnSpc>
            </a:pPr>
            <a:r>
              <a:rPr sz="1800" b="1">
                <a:solidFill>
                  <a:srgbClr val="1C2A30"/>
                </a:solidFill>
                <a:latin typeface="Calibri"/>
              </a:rPr>
              <a:t>Démonstration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48640" y="475488"/>
            <a:ext cx="566928" cy="566928"/>
          </a:xfrm>
          <a:prstGeom prst="ellipse">
            <a:avLst/>
          </a:prstGeom>
          <a:solidFill>
            <a:srgbClr val="1A6B9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mbria"/>
              </a:rPr>
              <a:t>1</a:t>
            </a:r>
          </a:p>
        </p:txBody>
      </p:sp>
      <p:sp>
        <p:nvSpPr>
          <p:cNvPr id="4" name="TextBox 3"/>
          <p:cNvSpPr txBox="1"/>
          <p:nvPr/>
        </p:nvSpPr>
        <p:spPr>
          <a:xfrm>
            <a:off x="1280160" y="457200"/>
            <a:ext cx="10332720" cy="822960"/>
          </a:xfrm>
          <a:prstGeom prst="rect">
            <a:avLst/>
          </a:prstGeom>
          <a:noFill/>
        </p:spPr>
        <p:txBody>
          <a:bodyPr wrap="square" lIns="0" tIns="0" rIns="0" bIns="0" anchor="ctr">
            <a:spAutoFit/>
          </a:bodyPr>
          <a:lstStyle/>
          <a:p>
            <a:pPr algn="l">
              <a:lnSpc>
                <a:spcPct val="100000"/>
              </a:lnSpc>
            </a:pPr>
            <a:r>
              <a:rPr sz="3000" b="1">
                <a:solidFill>
                  <a:srgbClr val="0D2A43"/>
                </a:solidFill>
                <a:latin typeface="Cambria"/>
              </a:rPr>
              <a:t>Contexte &amp; objectifs</a:t>
            </a:r>
          </a:p>
        </p:txBody>
      </p:sp>
      <p:sp>
        <p:nvSpPr>
          <p:cNvPr id="5" name="TextBox 4"/>
          <p:cNvSpPr txBox="1"/>
          <p:nvPr/>
        </p:nvSpPr>
        <p:spPr>
          <a:xfrm>
            <a:off x="548640" y="1691640"/>
            <a:ext cx="5394960" cy="4206240"/>
          </a:xfrm>
          <a:prstGeom prst="rect">
            <a:avLst/>
          </a:prstGeom>
          <a:noFill/>
        </p:spPr>
        <p:txBody>
          <a:bodyPr wrap="square" lIns="0" tIns="0" rIns="0" bIns="0" anchor="t">
            <a:spAutoFit/>
          </a:bodyPr>
          <a:lstStyle/>
          <a:p>
            <a:pPr algn="l">
              <a:lnSpc>
                <a:spcPct val="108000"/>
              </a:lnSpc>
            </a:pPr>
            <a:r>
              <a:rPr sz="1600" b="1">
                <a:solidFill>
                  <a:srgbClr val="1A6B9A"/>
                </a:solidFill>
                <a:latin typeface="Calibri"/>
              </a:rPr>
              <a:t>DWFA</a:t>
            </a:r>
            <a:r>
              <a:rPr sz="1600" b="0">
                <a:solidFill>
                  <a:srgbClr val="1C2A30"/>
                </a:solidFill>
                <a:latin typeface="Calibri"/>
              </a:rPr>
              <a:t> (« Drinking Water For All ») est une ONG qui accompagne les pays pour améliorer l’accès à l’eau potable.</a:t>
            </a:r>
          </a:p>
          <a:p>
            <a:pPr algn="l">
              <a:lnSpc>
                <a:spcPct val="108000"/>
              </a:lnSpc>
              <a:spcBef>
                <a:spcPts val="200"/>
              </a:spcBef>
            </a:pPr>
            <a:endParaRPr sz="1600" b="0">
              <a:solidFill>
                <a:srgbClr val="1C2A30"/>
              </a:solidFill>
              <a:latin typeface="Calibri"/>
            </a:endParaRPr>
          </a:p>
          <a:p>
            <a:pPr algn="l">
              <a:lnSpc>
                <a:spcPct val="108000"/>
              </a:lnSpc>
              <a:spcBef>
                <a:spcPts val="200"/>
              </a:spcBef>
            </a:pPr>
            <a:r>
              <a:rPr sz="1600" b="1">
                <a:solidFill>
                  <a:srgbClr val="1C2A30"/>
                </a:solidFill>
                <a:latin typeface="Calibri"/>
              </a:rPr>
              <a:t>Objectif du tableau de bord :</a:t>
            </a:r>
          </a:p>
          <a:p>
            <a:pPr algn="l">
              <a:lnSpc>
                <a:spcPct val="108000"/>
              </a:lnSpc>
              <a:spcBef>
                <a:spcPts val="200"/>
              </a:spcBef>
            </a:pPr>
            <a:r>
              <a:rPr sz="1600" b="0">
                <a:solidFill>
                  <a:srgbClr val="1C2A30"/>
                </a:solidFill>
                <a:latin typeface="Calibri"/>
              </a:rPr>
              <a:t>identifier les pays les plus en difficulté et prioriser les efforts sur les trois domaines d’expertise de l’ONG.</a:t>
            </a:r>
          </a:p>
          <a:p>
            <a:pPr algn="l">
              <a:lnSpc>
                <a:spcPct val="108000"/>
              </a:lnSpc>
              <a:spcBef>
                <a:spcPts val="200"/>
              </a:spcBef>
            </a:pPr>
            <a:endParaRPr sz="1600" b="0">
              <a:solidFill>
                <a:srgbClr val="1C2A30"/>
              </a:solidFill>
              <a:latin typeface="Calibri"/>
            </a:endParaRPr>
          </a:p>
          <a:p>
            <a:pPr algn="l">
              <a:lnSpc>
                <a:spcPct val="108000"/>
              </a:lnSpc>
              <a:spcBef>
                <a:spcPts val="200"/>
              </a:spcBef>
            </a:pPr>
            <a:r>
              <a:rPr sz="1600" b="1">
                <a:solidFill>
                  <a:srgbClr val="1C2A30"/>
                </a:solidFill>
                <a:latin typeface="Calibri"/>
              </a:rPr>
              <a:t>Trois vues : </a:t>
            </a:r>
            <a:r>
              <a:rPr sz="1600" b="0">
                <a:solidFill>
                  <a:srgbClr val="1C2A30"/>
                </a:solidFill>
                <a:latin typeface="Calibri"/>
              </a:rPr>
              <a:t>mondiale, continentale et nationale.</a:t>
            </a:r>
          </a:p>
        </p:txBody>
      </p:sp>
      <p:sp>
        <p:nvSpPr>
          <p:cNvPr id="6" name="Rounded Rectangle 5"/>
          <p:cNvSpPr/>
          <p:nvPr/>
        </p:nvSpPr>
        <p:spPr>
          <a:xfrm>
            <a:off x="6309360" y="1691640"/>
            <a:ext cx="5349240" cy="1234440"/>
          </a:xfrm>
          <a:prstGeom prst="roundRect">
            <a:avLst/>
          </a:prstGeom>
          <a:solidFill>
            <a:srgbClr val="EC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37960" y="1819656"/>
            <a:ext cx="4937760" cy="230832"/>
          </a:xfrm>
          <a:prstGeom prst="rect">
            <a:avLst/>
          </a:prstGeom>
          <a:noFill/>
        </p:spPr>
        <p:txBody>
          <a:bodyPr wrap="square" lIns="0" tIns="0" rIns="0" bIns="0" anchor="t">
            <a:spAutoFit/>
          </a:bodyPr>
          <a:lstStyle/>
          <a:p>
            <a:pPr algn="l">
              <a:lnSpc>
                <a:spcPct val="100000"/>
              </a:lnSpc>
            </a:pPr>
            <a:r>
              <a:rPr sz="1500" b="1" dirty="0">
                <a:solidFill>
                  <a:srgbClr val="1A6B9A"/>
                </a:solidFill>
                <a:latin typeface="Calibri"/>
              </a:rPr>
              <a:t>Domaine 1 </a:t>
            </a:r>
            <a:r>
              <a:rPr lang="en-US" sz="1500" b="1" dirty="0">
                <a:solidFill>
                  <a:srgbClr val="1A6B9A"/>
                </a:solidFill>
                <a:latin typeface="Calibri"/>
              </a:rPr>
              <a:t>:</a:t>
            </a:r>
            <a:r>
              <a:rPr sz="1500" b="1" dirty="0">
                <a:solidFill>
                  <a:srgbClr val="1A6B9A"/>
                </a:solidFill>
                <a:latin typeface="Calibri"/>
              </a:rPr>
              <a:t> </a:t>
            </a:r>
            <a:r>
              <a:rPr sz="1500" b="1" dirty="0" err="1">
                <a:solidFill>
                  <a:srgbClr val="1A6B9A"/>
                </a:solidFill>
                <a:latin typeface="Calibri"/>
              </a:rPr>
              <a:t>Création</a:t>
            </a:r>
            <a:r>
              <a:rPr sz="1500" b="1" dirty="0">
                <a:solidFill>
                  <a:srgbClr val="1A6B9A"/>
                </a:solidFill>
                <a:latin typeface="Calibri"/>
              </a:rPr>
              <a:t> de services</a:t>
            </a:r>
          </a:p>
        </p:txBody>
      </p:sp>
      <p:sp>
        <p:nvSpPr>
          <p:cNvPr id="8" name="TextBox 7"/>
          <p:cNvSpPr txBox="1"/>
          <p:nvPr/>
        </p:nvSpPr>
        <p:spPr>
          <a:xfrm>
            <a:off x="6537960" y="2258568"/>
            <a:ext cx="4937760" cy="594360"/>
          </a:xfrm>
          <a:prstGeom prst="rect">
            <a:avLst/>
          </a:prstGeom>
          <a:noFill/>
        </p:spPr>
        <p:txBody>
          <a:bodyPr wrap="square" lIns="0" tIns="0" rIns="0" bIns="0" anchor="t">
            <a:spAutoFit/>
          </a:bodyPr>
          <a:lstStyle/>
          <a:p>
            <a:pPr algn="l">
              <a:lnSpc>
                <a:spcPct val="102000"/>
              </a:lnSpc>
            </a:pPr>
            <a:r>
              <a:rPr sz="1300" b="0">
                <a:solidFill>
                  <a:srgbClr val="1C2A30"/>
                </a:solidFill>
                <a:latin typeface="Calibri"/>
              </a:rPr>
              <a:t>Développer de nouvelles infrastructures d’accès à l’eau.</a:t>
            </a:r>
          </a:p>
        </p:txBody>
      </p:sp>
      <p:sp>
        <p:nvSpPr>
          <p:cNvPr id="9" name="Rounded Rectangle 8"/>
          <p:cNvSpPr/>
          <p:nvPr/>
        </p:nvSpPr>
        <p:spPr>
          <a:xfrm>
            <a:off x="6309360" y="3108960"/>
            <a:ext cx="5349240" cy="1234440"/>
          </a:xfrm>
          <a:prstGeom prst="roundRect">
            <a:avLst/>
          </a:prstGeom>
          <a:solidFill>
            <a:srgbClr val="EC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37960" y="3236976"/>
            <a:ext cx="4937760" cy="230832"/>
          </a:xfrm>
          <a:prstGeom prst="rect">
            <a:avLst/>
          </a:prstGeom>
          <a:noFill/>
        </p:spPr>
        <p:txBody>
          <a:bodyPr wrap="square" lIns="0" tIns="0" rIns="0" bIns="0" anchor="t">
            <a:spAutoFit/>
          </a:bodyPr>
          <a:lstStyle/>
          <a:p>
            <a:pPr algn="l">
              <a:lnSpc>
                <a:spcPct val="100000"/>
              </a:lnSpc>
            </a:pPr>
            <a:r>
              <a:rPr sz="1500" b="1" dirty="0">
                <a:solidFill>
                  <a:srgbClr val="1A6B9A"/>
                </a:solidFill>
                <a:latin typeface="Calibri"/>
              </a:rPr>
              <a:t>Domaine 2 </a:t>
            </a:r>
            <a:r>
              <a:rPr lang="en-US" sz="1500" b="1" dirty="0">
                <a:solidFill>
                  <a:srgbClr val="1A6B9A"/>
                </a:solidFill>
                <a:latin typeface="Calibri"/>
              </a:rPr>
              <a:t>:</a:t>
            </a:r>
            <a:r>
              <a:rPr sz="1500" b="1" dirty="0">
                <a:solidFill>
                  <a:srgbClr val="1A6B9A"/>
                </a:solidFill>
                <a:latin typeface="Calibri"/>
              </a:rPr>
              <a:t> </a:t>
            </a:r>
            <a:r>
              <a:rPr sz="1500" b="1" dirty="0" err="1">
                <a:solidFill>
                  <a:srgbClr val="1A6B9A"/>
                </a:solidFill>
                <a:latin typeface="Calibri"/>
              </a:rPr>
              <a:t>Modernisation</a:t>
            </a:r>
            <a:endParaRPr sz="1500" b="1" dirty="0">
              <a:solidFill>
                <a:srgbClr val="1A6B9A"/>
              </a:solidFill>
              <a:latin typeface="Calibri"/>
            </a:endParaRPr>
          </a:p>
        </p:txBody>
      </p:sp>
      <p:sp>
        <p:nvSpPr>
          <p:cNvPr id="11" name="TextBox 10"/>
          <p:cNvSpPr txBox="1"/>
          <p:nvPr/>
        </p:nvSpPr>
        <p:spPr>
          <a:xfrm>
            <a:off x="6537960" y="3675888"/>
            <a:ext cx="4937760" cy="594360"/>
          </a:xfrm>
          <a:prstGeom prst="rect">
            <a:avLst/>
          </a:prstGeom>
          <a:noFill/>
        </p:spPr>
        <p:txBody>
          <a:bodyPr wrap="square" lIns="0" tIns="0" rIns="0" bIns="0" anchor="t">
            <a:spAutoFit/>
          </a:bodyPr>
          <a:lstStyle/>
          <a:p>
            <a:pPr algn="l">
              <a:lnSpc>
                <a:spcPct val="102000"/>
              </a:lnSpc>
            </a:pPr>
            <a:r>
              <a:rPr sz="1300" b="0">
                <a:solidFill>
                  <a:srgbClr val="1C2A30"/>
                </a:solidFill>
                <a:latin typeface="Calibri"/>
              </a:rPr>
              <a:t>Améliorer la qualité des services existants.</a:t>
            </a:r>
          </a:p>
        </p:txBody>
      </p:sp>
      <p:sp>
        <p:nvSpPr>
          <p:cNvPr id="12" name="Rounded Rectangle 11"/>
          <p:cNvSpPr/>
          <p:nvPr/>
        </p:nvSpPr>
        <p:spPr>
          <a:xfrm>
            <a:off x="6309360" y="4526280"/>
            <a:ext cx="5349240" cy="1234440"/>
          </a:xfrm>
          <a:prstGeom prst="roundRect">
            <a:avLst/>
          </a:prstGeom>
          <a:solidFill>
            <a:srgbClr val="EC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37960" y="4654296"/>
            <a:ext cx="4937760" cy="230832"/>
          </a:xfrm>
          <a:prstGeom prst="rect">
            <a:avLst/>
          </a:prstGeom>
          <a:noFill/>
        </p:spPr>
        <p:txBody>
          <a:bodyPr wrap="square" lIns="0" tIns="0" rIns="0" bIns="0" anchor="t">
            <a:spAutoFit/>
          </a:bodyPr>
          <a:lstStyle/>
          <a:p>
            <a:pPr algn="l">
              <a:lnSpc>
                <a:spcPct val="100000"/>
              </a:lnSpc>
            </a:pPr>
            <a:r>
              <a:rPr sz="1500" b="1" dirty="0">
                <a:solidFill>
                  <a:srgbClr val="1A6B9A"/>
                </a:solidFill>
                <a:latin typeface="Calibri"/>
              </a:rPr>
              <a:t>Domaine 3 </a:t>
            </a:r>
            <a:r>
              <a:rPr lang="en-US" sz="1500" b="1" dirty="0">
                <a:solidFill>
                  <a:srgbClr val="1A6B9A"/>
                </a:solidFill>
                <a:latin typeface="Calibri"/>
              </a:rPr>
              <a:t>:</a:t>
            </a:r>
            <a:r>
              <a:rPr sz="1500" b="1" dirty="0">
                <a:solidFill>
                  <a:srgbClr val="1A6B9A"/>
                </a:solidFill>
                <a:latin typeface="Calibri"/>
              </a:rPr>
              <a:t> Consulting</a:t>
            </a:r>
          </a:p>
        </p:txBody>
      </p:sp>
      <p:sp>
        <p:nvSpPr>
          <p:cNvPr id="14" name="TextBox 13"/>
          <p:cNvSpPr txBox="1"/>
          <p:nvPr/>
        </p:nvSpPr>
        <p:spPr>
          <a:xfrm>
            <a:off x="6537960" y="5093208"/>
            <a:ext cx="4937760" cy="594360"/>
          </a:xfrm>
          <a:prstGeom prst="rect">
            <a:avLst/>
          </a:prstGeom>
          <a:noFill/>
        </p:spPr>
        <p:txBody>
          <a:bodyPr wrap="square" lIns="0" tIns="0" rIns="0" bIns="0" anchor="t">
            <a:spAutoFit/>
          </a:bodyPr>
          <a:lstStyle/>
          <a:p>
            <a:pPr algn="l">
              <a:lnSpc>
                <a:spcPct val="102000"/>
              </a:lnSpc>
            </a:pPr>
            <a:r>
              <a:rPr sz="1300" b="0">
                <a:solidFill>
                  <a:srgbClr val="1C2A30"/>
                </a:solidFill>
                <a:latin typeface="Calibri"/>
              </a:rPr>
              <a:t>Accompagner les administrations publiques.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48640" y="475488"/>
            <a:ext cx="566928" cy="566928"/>
          </a:xfrm>
          <a:prstGeom prst="ellipse">
            <a:avLst/>
          </a:prstGeom>
          <a:solidFill>
            <a:srgbClr val="1A6B9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mbria"/>
              </a:rPr>
              <a:t>2</a:t>
            </a:r>
          </a:p>
        </p:txBody>
      </p:sp>
      <p:sp>
        <p:nvSpPr>
          <p:cNvPr id="4" name="TextBox 3"/>
          <p:cNvSpPr txBox="1"/>
          <p:nvPr/>
        </p:nvSpPr>
        <p:spPr>
          <a:xfrm>
            <a:off x="1280160" y="457200"/>
            <a:ext cx="10332720" cy="822960"/>
          </a:xfrm>
          <a:prstGeom prst="rect">
            <a:avLst/>
          </a:prstGeom>
          <a:noFill/>
        </p:spPr>
        <p:txBody>
          <a:bodyPr wrap="square" lIns="0" tIns="0" rIns="0" bIns="0" anchor="ctr">
            <a:spAutoFit/>
          </a:bodyPr>
          <a:lstStyle/>
          <a:p>
            <a:pPr algn="l">
              <a:lnSpc>
                <a:spcPct val="100000"/>
              </a:lnSpc>
            </a:pPr>
            <a:r>
              <a:rPr sz="3000" b="1">
                <a:solidFill>
                  <a:srgbClr val="0D2A43"/>
                </a:solidFill>
                <a:latin typeface="Cambria"/>
              </a:rPr>
              <a:t>Les données sources</a:t>
            </a:r>
          </a:p>
        </p:txBody>
      </p:sp>
      <p:sp>
        <p:nvSpPr>
          <p:cNvPr id="5" name="Rounded Rectangle 4"/>
          <p:cNvSpPr/>
          <p:nvPr/>
        </p:nvSpPr>
        <p:spPr>
          <a:xfrm>
            <a:off x="640080" y="1828800"/>
            <a:ext cx="2651760" cy="1874519"/>
          </a:xfrm>
          <a:prstGeom prst="roundRect">
            <a:avLst/>
          </a:prstGeom>
          <a:solidFill>
            <a:srgbClr val="EC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2148840"/>
            <a:ext cx="2651760" cy="868680"/>
          </a:xfrm>
          <a:prstGeom prst="rect">
            <a:avLst/>
          </a:prstGeom>
          <a:noFill/>
        </p:spPr>
        <p:txBody>
          <a:bodyPr wrap="square" lIns="0" tIns="0" rIns="0" bIns="0" anchor="ctr">
            <a:spAutoFit/>
          </a:bodyPr>
          <a:lstStyle/>
          <a:p>
            <a:pPr algn="ctr">
              <a:lnSpc>
                <a:spcPct val="100000"/>
              </a:lnSpc>
            </a:pPr>
            <a:r>
              <a:rPr sz="4000" b="1">
                <a:solidFill>
                  <a:srgbClr val="2196C4"/>
                </a:solidFill>
                <a:latin typeface="Cambria"/>
              </a:rPr>
              <a:t>5</a:t>
            </a:r>
          </a:p>
        </p:txBody>
      </p:sp>
      <p:sp>
        <p:nvSpPr>
          <p:cNvPr id="7" name="TextBox 6"/>
          <p:cNvSpPr txBox="1"/>
          <p:nvPr/>
        </p:nvSpPr>
        <p:spPr>
          <a:xfrm>
            <a:off x="640080" y="3063240"/>
            <a:ext cx="2651760" cy="457200"/>
          </a:xfrm>
          <a:prstGeom prst="rect">
            <a:avLst/>
          </a:prstGeom>
          <a:noFill/>
        </p:spPr>
        <p:txBody>
          <a:bodyPr wrap="square" lIns="0" tIns="0" rIns="0" bIns="0" anchor="t">
            <a:spAutoFit/>
          </a:bodyPr>
          <a:lstStyle/>
          <a:p>
            <a:pPr algn="ctr">
              <a:lnSpc>
                <a:spcPct val="100000"/>
              </a:lnSpc>
            </a:pPr>
            <a:r>
              <a:rPr sz="1500" b="0">
                <a:solidFill>
                  <a:srgbClr val="5F6B6D"/>
                </a:solidFill>
                <a:latin typeface="Calibri"/>
              </a:rPr>
              <a:t>fichiers CSV</a:t>
            </a:r>
          </a:p>
        </p:txBody>
      </p:sp>
      <p:sp>
        <p:nvSpPr>
          <p:cNvPr id="8" name="Rounded Rectangle 7"/>
          <p:cNvSpPr/>
          <p:nvPr/>
        </p:nvSpPr>
        <p:spPr>
          <a:xfrm>
            <a:off x="3502152" y="1828800"/>
            <a:ext cx="2651760" cy="1874519"/>
          </a:xfrm>
          <a:prstGeom prst="roundRect">
            <a:avLst/>
          </a:prstGeom>
          <a:solidFill>
            <a:srgbClr val="EC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502152" y="2148840"/>
            <a:ext cx="2651760" cy="868680"/>
          </a:xfrm>
          <a:prstGeom prst="rect">
            <a:avLst/>
          </a:prstGeom>
          <a:noFill/>
        </p:spPr>
        <p:txBody>
          <a:bodyPr wrap="square" lIns="0" tIns="0" rIns="0" bIns="0" anchor="ctr">
            <a:spAutoFit/>
          </a:bodyPr>
          <a:lstStyle/>
          <a:p>
            <a:pPr algn="ctr">
              <a:lnSpc>
                <a:spcPct val="100000"/>
              </a:lnSpc>
            </a:pPr>
            <a:r>
              <a:rPr sz="4000" b="1">
                <a:solidFill>
                  <a:srgbClr val="2196C4"/>
                </a:solidFill>
                <a:latin typeface="Cambria"/>
              </a:rPr>
              <a:t>194</a:t>
            </a:r>
          </a:p>
        </p:txBody>
      </p:sp>
      <p:sp>
        <p:nvSpPr>
          <p:cNvPr id="10" name="TextBox 9"/>
          <p:cNvSpPr txBox="1"/>
          <p:nvPr/>
        </p:nvSpPr>
        <p:spPr>
          <a:xfrm>
            <a:off x="3502152" y="3063240"/>
            <a:ext cx="2651760" cy="457200"/>
          </a:xfrm>
          <a:prstGeom prst="rect">
            <a:avLst/>
          </a:prstGeom>
          <a:noFill/>
        </p:spPr>
        <p:txBody>
          <a:bodyPr wrap="square" lIns="0" tIns="0" rIns="0" bIns="0" anchor="t">
            <a:spAutoFit/>
          </a:bodyPr>
          <a:lstStyle/>
          <a:p>
            <a:pPr algn="ctr">
              <a:lnSpc>
                <a:spcPct val="100000"/>
              </a:lnSpc>
            </a:pPr>
            <a:r>
              <a:rPr sz="1500" b="0">
                <a:solidFill>
                  <a:srgbClr val="5F6B6D"/>
                </a:solidFill>
                <a:latin typeface="Calibri"/>
              </a:rPr>
              <a:t>pays couverts</a:t>
            </a:r>
          </a:p>
        </p:txBody>
      </p:sp>
      <p:sp>
        <p:nvSpPr>
          <p:cNvPr id="11" name="Rounded Rectangle 10"/>
          <p:cNvSpPr/>
          <p:nvPr/>
        </p:nvSpPr>
        <p:spPr>
          <a:xfrm>
            <a:off x="6364224" y="1828800"/>
            <a:ext cx="2651760" cy="1874519"/>
          </a:xfrm>
          <a:prstGeom prst="roundRect">
            <a:avLst/>
          </a:prstGeom>
          <a:solidFill>
            <a:srgbClr val="EC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19381" y="2275403"/>
            <a:ext cx="2696603" cy="615553"/>
          </a:xfrm>
          <a:prstGeom prst="rect">
            <a:avLst/>
          </a:prstGeom>
          <a:noFill/>
        </p:spPr>
        <p:txBody>
          <a:bodyPr wrap="square" lIns="0" tIns="0" rIns="0" bIns="0" anchor="ctr">
            <a:spAutoFit/>
          </a:bodyPr>
          <a:lstStyle/>
          <a:p>
            <a:pPr algn="ctr">
              <a:lnSpc>
                <a:spcPct val="100000"/>
              </a:lnSpc>
            </a:pPr>
            <a:r>
              <a:rPr sz="4000" b="1" dirty="0">
                <a:solidFill>
                  <a:srgbClr val="2196C4"/>
                </a:solidFill>
                <a:latin typeface="Cambria"/>
              </a:rPr>
              <a:t>2000–2018</a:t>
            </a:r>
          </a:p>
        </p:txBody>
      </p:sp>
      <p:sp>
        <p:nvSpPr>
          <p:cNvPr id="13" name="TextBox 12"/>
          <p:cNvSpPr txBox="1"/>
          <p:nvPr/>
        </p:nvSpPr>
        <p:spPr>
          <a:xfrm>
            <a:off x="6364224" y="3063240"/>
            <a:ext cx="2651760" cy="457200"/>
          </a:xfrm>
          <a:prstGeom prst="rect">
            <a:avLst/>
          </a:prstGeom>
          <a:noFill/>
        </p:spPr>
        <p:txBody>
          <a:bodyPr wrap="square" lIns="0" tIns="0" rIns="0" bIns="0" anchor="t">
            <a:spAutoFit/>
          </a:bodyPr>
          <a:lstStyle/>
          <a:p>
            <a:pPr algn="ctr">
              <a:lnSpc>
                <a:spcPct val="100000"/>
              </a:lnSpc>
            </a:pPr>
            <a:r>
              <a:rPr sz="1500" b="0">
                <a:solidFill>
                  <a:srgbClr val="5F6B6D"/>
                </a:solidFill>
                <a:latin typeface="Calibri"/>
              </a:rPr>
              <a:t>période analysée</a:t>
            </a:r>
          </a:p>
        </p:txBody>
      </p:sp>
      <p:sp>
        <p:nvSpPr>
          <p:cNvPr id="14" name="Rounded Rectangle 13"/>
          <p:cNvSpPr/>
          <p:nvPr/>
        </p:nvSpPr>
        <p:spPr>
          <a:xfrm>
            <a:off x="9226296" y="1828800"/>
            <a:ext cx="2651760" cy="1874519"/>
          </a:xfrm>
          <a:prstGeom prst="roundRect">
            <a:avLst/>
          </a:prstGeom>
          <a:solidFill>
            <a:srgbClr val="EC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26296" y="2148840"/>
            <a:ext cx="2651760" cy="868680"/>
          </a:xfrm>
          <a:prstGeom prst="rect">
            <a:avLst/>
          </a:prstGeom>
          <a:noFill/>
        </p:spPr>
        <p:txBody>
          <a:bodyPr wrap="square" lIns="0" tIns="0" rIns="0" bIns="0" anchor="ctr">
            <a:spAutoFit/>
          </a:bodyPr>
          <a:lstStyle/>
          <a:p>
            <a:pPr algn="ctr">
              <a:lnSpc>
                <a:spcPct val="100000"/>
              </a:lnSpc>
            </a:pPr>
            <a:r>
              <a:rPr sz="4000" b="1">
                <a:solidFill>
                  <a:srgbClr val="2196C4"/>
                </a:solidFill>
                <a:latin typeface="Cambria"/>
              </a:rPr>
              <a:t>OMS · FAO</a:t>
            </a:r>
          </a:p>
        </p:txBody>
      </p:sp>
      <p:sp>
        <p:nvSpPr>
          <p:cNvPr id="16" name="TextBox 15"/>
          <p:cNvSpPr txBox="1"/>
          <p:nvPr/>
        </p:nvSpPr>
        <p:spPr>
          <a:xfrm>
            <a:off x="9226296" y="3063240"/>
            <a:ext cx="2651760" cy="457200"/>
          </a:xfrm>
          <a:prstGeom prst="rect">
            <a:avLst/>
          </a:prstGeom>
          <a:noFill/>
        </p:spPr>
        <p:txBody>
          <a:bodyPr wrap="square" lIns="0" tIns="0" rIns="0" bIns="0" anchor="t">
            <a:spAutoFit/>
          </a:bodyPr>
          <a:lstStyle/>
          <a:p>
            <a:pPr algn="ctr">
              <a:lnSpc>
                <a:spcPct val="100000"/>
              </a:lnSpc>
            </a:pPr>
            <a:r>
              <a:rPr sz="1500" b="0">
                <a:solidFill>
                  <a:srgbClr val="5F6B6D"/>
                </a:solidFill>
                <a:latin typeface="Calibri"/>
              </a:rPr>
              <a:t>sources</a:t>
            </a:r>
          </a:p>
        </p:txBody>
      </p:sp>
      <p:sp>
        <p:nvSpPr>
          <p:cNvPr id="17" name="TextBox 16"/>
          <p:cNvSpPr txBox="1"/>
          <p:nvPr/>
        </p:nvSpPr>
        <p:spPr>
          <a:xfrm>
            <a:off x="640080" y="4297680"/>
            <a:ext cx="10881360" cy="528093"/>
          </a:xfrm>
          <a:prstGeom prst="rect">
            <a:avLst/>
          </a:prstGeom>
          <a:noFill/>
        </p:spPr>
        <p:txBody>
          <a:bodyPr wrap="square" lIns="0" tIns="0" rIns="0" bIns="0" anchor="t">
            <a:spAutoFit/>
          </a:bodyPr>
          <a:lstStyle/>
          <a:p>
            <a:pPr algn="l">
              <a:lnSpc>
                <a:spcPct val="110000"/>
              </a:lnSpc>
            </a:pPr>
            <a:r>
              <a:rPr sz="1600" b="1" dirty="0" err="1">
                <a:solidFill>
                  <a:srgbClr val="1C2A30"/>
                </a:solidFill>
                <a:latin typeface="Calibri"/>
              </a:rPr>
              <a:t>Indicateurs</a:t>
            </a:r>
            <a:r>
              <a:rPr sz="1600" b="1" dirty="0">
                <a:solidFill>
                  <a:srgbClr val="1C2A30"/>
                </a:solidFill>
                <a:latin typeface="Calibri"/>
              </a:rPr>
              <a:t> </a:t>
            </a:r>
            <a:r>
              <a:rPr sz="1600" b="1" dirty="0" err="1">
                <a:solidFill>
                  <a:srgbClr val="1C2A30"/>
                </a:solidFill>
                <a:latin typeface="Calibri"/>
              </a:rPr>
              <a:t>mobilisés</a:t>
            </a:r>
            <a:r>
              <a:rPr sz="1600" b="1" dirty="0">
                <a:solidFill>
                  <a:srgbClr val="1C2A30"/>
                </a:solidFill>
                <a:latin typeface="Calibri"/>
              </a:rPr>
              <a:t> : </a:t>
            </a:r>
            <a:r>
              <a:rPr sz="1600" b="0" dirty="0" err="1">
                <a:solidFill>
                  <a:srgbClr val="1C2A30"/>
                </a:solidFill>
                <a:latin typeface="Calibri"/>
              </a:rPr>
              <a:t>accès</a:t>
            </a:r>
            <a:r>
              <a:rPr sz="1600" b="0" dirty="0">
                <a:solidFill>
                  <a:srgbClr val="1C2A30"/>
                </a:solidFill>
                <a:latin typeface="Calibri"/>
              </a:rPr>
              <a:t> à </a:t>
            </a:r>
            <a:r>
              <a:rPr sz="1600" b="0" dirty="0" err="1">
                <a:solidFill>
                  <a:srgbClr val="1C2A30"/>
                </a:solidFill>
                <a:latin typeface="Calibri"/>
              </a:rPr>
              <a:t>l’eau</a:t>
            </a:r>
            <a:r>
              <a:rPr sz="1600" b="0" dirty="0">
                <a:solidFill>
                  <a:srgbClr val="1C2A30"/>
                </a:solidFill>
                <a:latin typeface="Calibri"/>
              </a:rPr>
              <a:t> potable (de base et de haute </a:t>
            </a:r>
            <a:r>
              <a:rPr sz="1600" b="0" dirty="0" err="1">
                <a:solidFill>
                  <a:srgbClr val="1C2A30"/>
                </a:solidFill>
                <a:latin typeface="Calibri"/>
              </a:rPr>
              <a:t>qualité</a:t>
            </a:r>
            <a:r>
              <a:rPr sz="1600" b="0" dirty="0">
                <a:solidFill>
                  <a:srgbClr val="1C2A30"/>
                </a:solidFill>
                <a:latin typeface="Calibri"/>
              </a:rPr>
              <a:t>), </a:t>
            </a:r>
            <a:r>
              <a:rPr sz="1600" b="0" dirty="0" err="1">
                <a:solidFill>
                  <a:srgbClr val="1C2A30"/>
                </a:solidFill>
                <a:latin typeface="Calibri"/>
              </a:rPr>
              <a:t>mortalité</a:t>
            </a:r>
            <a:r>
              <a:rPr sz="1600" b="0" dirty="0">
                <a:solidFill>
                  <a:srgbClr val="1C2A30"/>
                </a:solidFill>
                <a:latin typeface="Calibri"/>
              </a:rPr>
              <a:t> </a:t>
            </a:r>
            <a:r>
              <a:rPr sz="1600" b="0" dirty="0" err="1">
                <a:solidFill>
                  <a:srgbClr val="1C2A30"/>
                </a:solidFill>
                <a:latin typeface="Calibri"/>
              </a:rPr>
              <a:t>liée</a:t>
            </a:r>
            <a:r>
              <a:rPr sz="1600" b="0" dirty="0">
                <a:solidFill>
                  <a:srgbClr val="1C2A30"/>
                </a:solidFill>
                <a:latin typeface="Calibri"/>
              </a:rPr>
              <a:t> à </a:t>
            </a:r>
            <a:r>
              <a:rPr sz="1600" b="0" dirty="0" err="1">
                <a:solidFill>
                  <a:srgbClr val="1C2A30"/>
                </a:solidFill>
                <a:latin typeface="Calibri"/>
              </a:rPr>
              <a:t>l’eau</a:t>
            </a:r>
            <a:r>
              <a:rPr sz="1600" b="0" dirty="0">
                <a:solidFill>
                  <a:srgbClr val="1C2A30"/>
                </a:solidFill>
                <a:latin typeface="Calibri"/>
              </a:rPr>
              <a:t> </a:t>
            </a:r>
            <a:r>
              <a:rPr sz="1600" b="0" dirty="0" err="1">
                <a:solidFill>
                  <a:srgbClr val="1C2A30"/>
                </a:solidFill>
                <a:latin typeface="Calibri"/>
              </a:rPr>
              <a:t>insalubre</a:t>
            </a:r>
            <a:r>
              <a:rPr sz="1600" b="0" dirty="0">
                <a:solidFill>
                  <a:srgbClr val="1C2A30"/>
                </a:solidFill>
                <a:latin typeface="Calibri"/>
              </a:rPr>
              <a:t>, population </a:t>
            </a:r>
            <a:r>
              <a:rPr sz="1600" b="0" dirty="0" err="1">
                <a:solidFill>
                  <a:srgbClr val="1C2A30"/>
                </a:solidFill>
                <a:latin typeface="Calibri"/>
              </a:rPr>
              <a:t>rurale</a:t>
            </a:r>
            <a:r>
              <a:rPr sz="1600" b="0" dirty="0">
                <a:solidFill>
                  <a:srgbClr val="1C2A30"/>
                </a:solidFill>
                <a:latin typeface="Calibri"/>
              </a:rPr>
              <a:t> et </a:t>
            </a:r>
            <a:r>
              <a:rPr sz="1600" b="0" dirty="0" err="1">
                <a:solidFill>
                  <a:srgbClr val="1C2A30"/>
                </a:solidFill>
                <a:latin typeface="Calibri"/>
              </a:rPr>
              <a:t>urbaine</a:t>
            </a:r>
            <a:r>
              <a:rPr sz="1600" b="0" dirty="0">
                <a:solidFill>
                  <a:srgbClr val="1C2A30"/>
                </a:solidFill>
                <a:latin typeface="Calibri"/>
              </a:rPr>
              <a:t>, </a:t>
            </a:r>
            <a:r>
              <a:rPr sz="1600" b="0" dirty="0" err="1">
                <a:solidFill>
                  <a:srgbClr val="1C2A30"/>
                </a:solidFill>
                <a:latin typeface="Calibri"/>
              </a:rPr>
              <a:t>stabilité</a:t>
            </a:r>
            <a:r>
              <a:rPr sz="1600" b="0" dirty="0">
                <a:solidFill>
                  <a:srgbClr val="1C2A30"/>
                </a:solidFill>
                <a:latin typeface="Calibri"/>
              </a:rPr>
              <a:t> politique </a:t>
            </a:r>
            <a:r>
              <a:rPr lang="en-US" sz="1600" b="0" dirty="0">
                <a:solidFill>
                  <a:srgbClr val="1C2A30"/>
                </a:solidFill>
                <a:latin typeface="Calibri"/>
              </a:rPr>
              <a:t>; </a:t>
            </a:r>
            <a:r>
              <a:rPr sz="1600" b="0" dirty="0">
                <a:solidFill>
                  <a:srgbClr val="1C2A30"/>
                </a:solidFill>
                <a:latin typeface="Calibri"/>
              </a:rPr>
              <a:t>chacun </a:t>
            </a:r>
            <a:r>
              <a:rPr sz="1600" b="0" dirty="0" err="1">
                <a:solidFill>
                  <a:srgbClr val="1C2A30"/>
                </a:solidFill>
                <a:latin typeface="Calibri"/>
              </a:rPr>
              <a:t>suivi</a:t>
            </a:r>
            <a:r>
              <a:rPr sz="1600" b="0" dirty="0">
                <a:solidFill>
                  <a:srgbClr val="1C2A30"/>
                </a:solidFill>
                <a:latin typeface="Calibri"/>
              </a:rPr>
              <a:t> </a:t>
            </a:r>
            <a:r>
              <a:rPr sz="1600" b="0" dirty="0" err="1">
                <a:solidFill>
                  <a:srgbClr val="1C2A30"/>
                </a:solidFill>
                <a:latin typeface="Calibri"/>
              </a:rPr>
              <a:t>année</a:t>
            </a:r>
            <a:r>
              <a:rPr sz="1600" b="0" dirty="0">
                <a:solidFill>
                  <a:srgbClr val="1C2A30"/>
                </a:solidFill>
                <a:latin typeface="Calibri"/>
              </a:rPr>
              <a:t> par </a:t>
            </a:r>
            <a:r>
              <a:rPr sz="1600" b="0" dirty="0" err="1">
                <a:solidFill>
                  <a:srgbClr val="1C2A30"/>
                </a:solidFill>
                <a:latin typeface="Calibri"/>
              </a:rPr>
              <a:t>année</a:t>
            </a:r>
            <a:r>
              <a:rPr sz="1600" b="0" dirty="0">
                <a:solidFill>
                  <a:srgbClr val="1C2A30"/>
                </a:solidFill>
                <a:latin typeface="Calibri"/>
              </a:rPr>
              <a:t>, de 2000 à 2018.</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48640" y="475488"/>
            <a:ext cx="566928" cy="566928"/>
          </a:xfrm>
          <a:prstGeom prst="ellipse">
            <a:avLst/>
          </a:prstGeom>
          <a:solidFill>
            <a:srgbClr val="1A6B9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mbria"/>
              </a:rPr>
              <a:t>3</a:t>
            </a:r>
          </a:p>
        </p:txBody>
      </p:sp>
      <p:sp>
        <p:nvSpPr>
          <p:cNvPr id="4" name="TextBox 3"/>
          <p:cNvSpPr txBox="1"/>
          <p:nvPr/>
        </p:nvSpPr>
        <p:spPr>
          <a:xfrm>
            <a:off x="1280160" y="457200"/>
            <a:ext cx="10332720" cy="822960"/>
          </a:xfrm>
          <a:prstGeom prst="rect">
            <a:avLst/>
          </a:prstGeom>
          <a:noFill/>
        </p:spPr>
        <p:txBody>
          <a:bodyPr wrap="square" lIns="0" tIns="0" rIns="0" bIns="0" anchor="ctr">
            <a:spAutoFit/>
          </a:bodyPr>
          <a:lstStyle/>
          <a:p>
            <a:pPr algn="l">
              <a:lnSpc>
                <a:spcPct val="100000"/>
              </a:lnSpc>
            </a:pPr>
            <a:r>
              <a:rPr sz="3000" b="1">
                <a:solidFill>
                  <a:srgbClr val="0D2A43"/>
                </a:solidFill>
                <a:latin typeface="Cambria"/>
              </a:rPr>
              <a:t>Prétraitement des données</a:t>
            </a:r>
          </a:p>
        </p:txBody>
      </p:sp>
      <p:sp>
        <p:nvSpPr>
          <p:cNvPr id="5" name="TextBox 4"/>
          <p:cNvSpPr txBox="1"/>
          <p:nvPr/>
        </p:nvSpPr>
        <p:spPr>
          <a:xfrm>
            <a:off x="1280160" y="1298448"/>
            <a:ext cx="10332720" cy="261610"/>
          </a:xfrm>
          <a:prstGeom prst="rect">
            <a:avLst/>
          </a:prstGeom>
          <a:noFill/>
        </p:spPr>
        <p:txBody>
          <a:bodyPr wrap="square" lIns="0" tIns="0" rIns="0" bIns="0" anchor="t">
            <a:spAutoFit/>
          </a:bodyPr>
          <a:lstStyle/>
          <a:p>
            <a:pPr algn="l">
              <a:lnSpc>
                <a:spcPct val="100000"/>
              </a:lnSpc>
            </a:pPr>
            <a:r>
              <a:rPr sz="1700" b="1" dirty="0" err="1">
                <a:solidFill>
                  <a:srgbClr val="1A6B9A"/>
                </a:solidFill>
                <a:latin typeface="Calibri"/>
              </a:rPr>
              <a:t>Nettoyage</a:t>
            </a:r>
            <a:r>
              <a:rPr sz="1700" b="1" dirty="0">
                <a:solidFill>
                  <a:srgbClr val="1A6B9A"/>
                </a:solidFill>
                <a:latin typeface="Calibri"/>
              </a:rPr>
              <a:t> &amp; transformations </a:t>
            </a:r>
            <a:r>
              <a:rPr sz="1700" b="1" dirty="0" err="1">
                <a:solidFill>
                  <a:srgbClr val="1A6B9A"/>
                </a:solidFill>
                <a:latin typeface="Calibri"/>
              </a:rPr>
              <a:t>entièrement</a:t>
            </a:r>
            <a:r>
              <a:rPr sz="1700" b="1" dirty="0">
                <a:solidFill>
                  <a:srgbClr val="1A6B9A"/>
                </a:solidFill>
                <a:latin typeface="Calibri"/>
              </a:rPr>
              <a:t> </a:t>
            </a:r>
            <a:r>
              <a:rPr sz="1700" b="1" dirty="0" err="1">
                <a:solidFill>
                  <a:srgbClr val="1A6B9A"/>
                </a:solidFill>
                <a:latin typeface="Calibri"/>
              </a:rPr>
              <a:t>réalisés</a:t>
            </a:r>
            <a:r>
              <a:rPr sz="1700" b="1" dirty="0">
                <a:solidFill>
                  <a:srgbClr val="1A6B9A"/>
                </a:solidFill>
                <a:latin typeface="Calibri"/>
              </a:rPr>
              <a:t> dans Power BI</a:t>
            </a:r>
          </a:p>
        </p:txBody>
      </p:sp>
      <p:sp>
        <p:nvSpPr>
          <p:cNvPr id="6" name="Oval 5"/>
          <p:cNvSpPr/>
          <p:nvPr/>
        </p:nvSpPr>
        <p:spPr>
          <a:xfrm>
            <a:off x="640080" y="1965960"/>
            <a:ext cx="457200" cy="457200"/>
          </a:xfrm>
          <a:prstGeom prst="ellipse">
            <a:avLst/>
          </a:prstGeom>
          <a:solidFill>
            <a:srgbClr val="1A6B9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mbria"/>
              </a:rPr>
              <a:t>1</a:t>
            </a:r>
          </a:p>
        </p:txBody>
      </p:sp>
      <p:sp>
        <p:nvSpPr>
          <p:cNvPr id="7" name="TextBox 6"/>
          <p:cNvSpPr txBox="1"/>
          <p:nvPr/>
        </p:nvSpPr>
        <p:spPr>
          <a:xfrm>
            <a:off x="1325880" y="1911095"/>
            <a:ext cx="10241280" cy="457200"/>
          </a:xfrm>
          <a:prstGeom prst="rect">
            <a:avLst/>
          </a:prstGeom>
          <a:noFill/>
        </p:spPr>
        <p:txBody>
          <a:bodyPr wrap="square" lIns="0" tIns="0" rIns="0" bIns="0" anchor="t">
            <a:spAutoFit/>
          </a:bodyPr>
          <a:lstStyle/>
          <a:p>
            <a:pPr algn="l">
              <a:lnSpc>
                <a:spcPct val="100000"/>
              </a:lnSpc>
            </a:pPr>
            <a:r>
              <a:rPr sz="1600" b="1">
                <a:solidFill>
                  <a:srgbClr val="1C2A30"/>
                </a:solidFill>
                <a:latin typeface="Calibri"/>
              </a:rPr>
              <a:t>Tout dans Power Query (langage M)</a:t>
            </a:r>
          </a:p>
        </p:txBody>
      </p:sp>
      <p:sp>
        <p:nvSpPr>
          <p:cNvPr id="8" name="TextBox 7"/>
          <p:cNvSpPr txBox="1"/>
          <p:nvPr/>
        </p:nvSpPr>
        <p:spPr>
          <a:xfrm>
            <a:off x="1325880" y="2331720"/>
            <a:ext cx="10241280" cy="640080"/>
          </a:xfrm>
          <a:prstGeom prst="rect">
            <a:avLst/>
          </a:prstGeom>
          <a:noFill/>
        </p:spPr>
        <p:txBody>
          <a:bodyPr wrap="square" lIns="0" tIns="0" rIns="0" bIns="0" anchor="t">
            <a:spAutoFit/>
          </a:bodyPr>
          <a:lstStyle/>
          <a:p>
            <a:pPr algn="l">
              <a:lnSpc>
                <a:spcPct val="103000"/>
              </a:lnSpc>
            </a:pPr>
            <a:r>
              <a:rPr sz="1400" b="0">
                <a:solidFill>
                  <a:srgbClr val="5F6B6D"/>
                </a:solidFill>
                <a:latin typeface="Calibri"/>
              </a:rPr>
              <a:t>L’ensemble du prétraitement est réalisé directement dans Power BI, sans outil externe : le fichier est autonome.</a:t>
            </a:r>
          </a:p>
        </p:txBody>
      </p:sp>
      <p:sp>
        <p:nvSpPr>
          <p:cNvPr id="9" name="Oval 8"/>
          <p:cNvSpPr/>
          <p:nvPr/>
        </p:nvSpPr>
        <p:spPr>
          <a:xfrm>
            <a:off x="640080" y="3044952"/>
            <a:ext cx="457200" cy="457200"/>
          </a:xfrm>
          <a:prstGeom prst="ellipse">
            <a:avLst/>
          </a:prstGeom>
          <a:solidFill>
            <a:srgbClr val="1A6B9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mbria"/>
              </a:rPr>
              <a:t>2</a:t>
            </a:r>
          </a:p>
        </p:txBody>
      </p:sp>
      <p:sp>
        <p:nvSpPr>
          <p:cNvPr id="10" name="TextBox 9"/>
          <p:cNvSpPr txBox="1"/>
          <p:nvPr/>
        </p:nvSpPr>
        <p:spPr>
          <a:xfrm>
            <a:off x="1325880" y="2990088"/>
            <a:ext cx="10241280" cy="457200"/>
          </a:xfrm>
          <a:prstGeom prst="rect">
            <a:avLst/>
          </a:prstGeom>
          <a:noFill/>
        </p:spPr>
        <p:txBody>
          <a:bodyPr wrap="square" lIns="0" tIns="0" rIns="0" bIns="0" anchor="t">
            <a:spAutoFit/>
          </a:bodyPr>
          <a:lstStyle/>
          <a:p>
            <a:pPr algn="l">
              <a:lnSpc>
                <a:spcPct val="100000"/>
              </a:lnSpc>
            </a:pPr>
            <a:r>
              <a:rPr sz="1600" b="1">
                <a:solidFill>
                  <a:srgbClr val="1C2A30"/>
                </a:solidFill>
                <a:latin typeface="Calibri"/>
              </a:rPr>
              <a:t>Transformations</a:t>
            </a:r>
          </a:p>
        </p:txBody>
      </p:sp>
      <p:sp>
        <p:nvSpPr>
          <p:cNvPr id="11" name="TextBox 10"/>
          <p:cNvSpPr txBox="1"/>
          <p:nvPr/>
        </p:nvSpPr>
        <p:spPr>
          <a:xfrm>
            <a:off x="1325880" y="3410712"/>
            <a:ext cx="10241280" cy="640080"/>
          </a:xfrm>
          <a:prstGeom prst="rect">
            <a:avLst/>
          </a:prstGeom>
          <a:noFill/>
        </p:spPr>
        <p:txBody>
          <a:bodyPr wrap="square" lIns="0" tIns="0" rIns="0" bIns="0" anchor="t">
            <a:spAutoFit/>
          </a:bodyPr>
          <a:lstStyle/>
          <a:p>
            <a:pPr algn="l">
              <a:lnSpc>
                <a:spcPct val="103000"/>
              </a:lnSpc>
            </a:pPr>
            <a:r>
              <a:rPr sz="1400" b="0">
                <a:solidFill>
                  <a:srgbClr val="5F6B6D"/>
                </a:solidFill>
                <a:latin typeface="Calibri"/>
              </a:rPr>
              <a:t>Pivots (les granularités passent en colonnes), jointures entre les cinq fichiers, typage et nettoyage.</a:t>
            </a:r>
          </a:p>
        </p:txBody>
      </p:sp>
      <p:sp>
        <p:nvSpPr>
          <p:cNvPr id="12" name="Oval 11"/>
          <p:cNvSpPr/>
          <p:nvPr/>
        </p:nvSpPr>
        <p:spPr>
          <a:xfrm>
            <a:off x="640080" y="4123944"/>
            <a:ext cx="457200" cy="457200"/>
          </a:xfrm>
          <a:prstGeom prst="ellipse">
            <a:avLst/>
          </a:prstGeom>
          <a:solidFill>
            <a:srgbClr val="1A6B9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mbria"/>
              </a:rPr>
              <a:t>3</a:t>
            </a:r>
          </a:p>
        </p:txBody>
      </p:sp>
      <p:sp>
        <p:nvSpPr>
          <p:cNvPr id="13" name="TextBox 12"/>
          <p:cNvSpPr txBox="1"/>
          <p:nvPr/>
        </p:nvSpPr>
        <p:spPr>
          <a:xfrm>
            <a:off x="1325880" y="4069080"/>
            <a:ext cx="10241280" cy="457200"/>
          </a:xfrm>
          <a:prstGeom prst="rect">
            <a:avLst/>
          </a:prstGeom>
          <a:noFill/>
        </p:spPr>
        <p:txBody>
          <a:bodyPr wrap="square" lIns="0" tIns="0" rIns="0" bIns="0" anchor="t">
            <a:spAutoFit/>
          </a:bodyPr>
          <a:lstStyle/>
          <a:p>
            <a:pPr algn="l">
              <a:lnSpc>
                <a:spcPct val="100000"/>
              </a:lnSpc>
            </a:pPr>
            <a:r>
              <a:rPr sz="1600" b="1">
                <a:solidFill>
                  <a:srgbClr val="1C2A30"/>
                </a:solidFill>
                <a:latin typeface="Calibri"/>
              </a:rPr>
              <a:t>Champs calculés</a:t>
            </a:r>
          </a:p>
        </p:txBody>
      </p:sp>
      <p:sp>
        <p:nvSpPr>
          <p:cNvPr id="14" name="TextBox 13"/>
          <p:cNvSpPr txBox="1"/>
          <p:nvPr/>
        </p:nvSpPr>
        <p:spPr>
          <a:xfrm>
            <a:off x="1325880" y="4489704"/>
            <a:ext cx="10241280" cy="640080"/>
          </a:xfrm>
          <a:prstGeom prst="rect">
            <a:avLst/>
          </a:prstGeom>
          <a:noFill/>
        </p:spPr>
        <p:txBody>
          <a:bodyPr wrap="square" lIns="0" tIns="0" rIns="0" bIns="0" anchor="t">
            <a:spAutoFit/>
          </a:bodyPr>
          <a:lstStyle/>
          <a:p>
            <a:pPr algn="l">
              <a:lnSpc>
                <a:spcPct val="103000"/>
              </a:lnSpc>
            </a:pPr>
            <a:r>
              <a:rPr sz="1400" b="0">
                <a:solidFill>
                  <a:srgbClr val="5F6B6D"/>
                </a:solidFill>
                <a:latin typeface="Calibri"/>
              </a:rPr>
              <a:t>Part de la population sans accès (complément à 100 %), part urbaine, stabilité moyenne par pays, indice d’efficacité de la politique publique.</a:t>
            </a:r>
          </a:p>
        </p:txBody>
      </p:sp>
      <p:sp>
        <p:nvSpPr>
          <p:cNvPr id="15" name="Oval 14"/>
          <p:cNvSpPr/>
          <p:nvPr/>
        </p:nvSpPr>
        <p:spPr>
          <a:xfrm>
            <a:off x="640080" y="5202936"/>
            <a:ext cx="457200" cy="457200"/>
          </a:xfrm>
          <a:prstGeom prst="ellipse">
            <a:avLst/>
          </a:prstGeom>
          <a:solidFill>
            <a:srgbClr val="1A6B9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mbria"/>
              </a:rPr>
              <a:t>4</a:t>
            </a:r>
          </a:p>
        </p:txBody>
      </p:sp>
      <p:sp>
        <p:nvSpPr>
          <p:cNvPr id="16" name="TextBox 15"/>
          <p:cNvSpPr txBox="1"/>
          <p:nvPr/>
        </p:nvSpPr>
        <p:spPr>
          <a:xfrm>
            <a:off x="1325880" y="5148072"/>
            <a:ext cx="10241280" cy="457200"/>
          </a:xfrm>
          <a:prstGeom prst="rect">
            <a:avLst/>
          </a:prstGeom>
          <a:noFill/>
        </p:spPr>
        <p:txBody>
          <a:bodyPr wrap="square" lIns="0" tIns="0" rIns="0" bIns="0" anchor="t">
            <a:spAutoFit/>
          </a:bodyPr>
          <a:lstStyle/>
          <a:p>
            <a:pPr algn="l">
              <a:lnSpc>
                <a:spcPct val="100000"/>
              </a:lnSpc>
            </a:pPr>
            <a:r>
              <a:rPr sz="1600" b="1">
                <a:solidFill>
                  <a:srgbClr val="1C2A30"/>
                </a:solidFill>
                <a:latin typeface="Calibri"/>
              </a:rPr>
              <a:t>Cas particuliers</a:t>
            </a:r>
          </a:p>
        </p:txBody>
      </p:sp>
      <p:sp>
        <p:nvSpPr>
          <p:cNvPr id="17" name="TextBox 16"/>
          <p:cNvSpPr txBox="1"/>
          <p:nvPr/>
        </p:nvSpPr>
        <p:spPr>
          <a:xfrm>
            <a:off x="1325880" y="5568696"/>
            <a:ext cx="10241280" cy="640080"/>
          </a:xfrm>
          <a:prstGeom prst="rect">
            <a:avLst/>
          </a:prstGeom>
          <a:noFill/>
        </p:spPr>
        <p:txBody>
          <a:bodyPr wrap="square" lIns="0" tIns="0" rIns="0" bIns="0" anchor="t">
            <a:spAutoFit/>
          </a:bodyPr>
          <a:lstStyle/>
          <a:p>
            <a:pPr algn="l">
              <a:lnSpc>
                <a:spcPct val="103000"/>
              </a:lnSpc>
            </a:pPr>
            <a:r>
              <a:rPr sz="1400" b="0">
                <a:solidFill>
                  <a:srgbClr val="5F6B6D"/>
                </a:solidFill>
                <a:latin typeface="Calibri"/>
              </a:rPr>
              <a:t>Mortalité disponible pour 2016 uniquement ; exclusion des territoires hors du périmètre des 194 pays.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Connector 21"/>
          <p:cNvCxnSpPr/>
          <p:nvPr/>
        </p:nvCxnSpPr>
        <p:spPr>
          <a:xfrm>
            <a:off x="7932420" y="2862072"/>
            <a:ext cx="2185416" cy="1207008"/>
          </a:xfrm>
          <a:prstGeom prst="line">
            <a:avLst/>
          </a:prstGeom>
          <a:ln w="9525">
            <a:solidFill>
              <a:srgbClr val="B6D2E2"/>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932420" y="2862072"/>
            <a:ext cx="187451" cy="1207008"/>
          </a:xfrm>
          <a:prstGeom prst="line">
            <a:avLst/>
          </a:prstGeom>
          <a:ln w="9525">
            <a:solidFill>
              <a:srgbClr val="B6D2E2"/>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6121908" y="2862072"/>
            <a:ext cx="1810512" cy="1207008"/>
          </a:xfrm>
          <a:prstGeom prst="line">
            <a:avLst/>
          </a:prstGeom>
          <a:ln w="9525">
            <a:solidFill>
              <a:srgbClr val="B6D2E2"/>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4123944" y="2862072"/>
            <a:ext cx="3808476" cy="1207008"/>
          </a:xfrm>
          <a:prstGeom prst="line">
            <a:avLst/>
          </a:prstGeom>
          <a:ln w="9525">
            <a:solidFill>
              <a:srgbClr val="B6D2E2"/>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2125980" y="2862072"/>
            <a:ext cx="5806440" cy="1207008"/>
          </a:xfrm>
          <a:prstGeom prst="line">
            <a:avLst/>
          </a:prstGeom>
          <a:ln w="9525">
            <a:solidFill>
              <a:srgbClr val="B6D2E2"/>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274820" y="2862072"/>
            <a:ext cx="5843016" cy="1207008"/>
          </a:xfrm>
          <a:prstGeom prst="line">
            <a:avLst/>
          </a:prstGeom>
          <a:ln w="9525">
            <a:solidFill>
              <a:srgbClr val="B6D2E2"/>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274820" y="2862072"/>
            <a:ext cx="3845051" cy="1207008"/>
          </a:xfrm>
          <a:prstGeom prst="line">
            <a:avLst/>
          </a:prstGeom>
          <a:ln w="9525">
            <a:solidFill>
              <a:srgbClr val="B6D2E2"/>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274820" y="2862072"/>
            <a:ext cx="1847088" cy="1207008"/>
          </a:xfrm>
          <a:prstGeom prst="line">
            <a:avLst/>
          </a:prstGeom>
          <a:ln w="9525">
            <a:solidFill>
              <a:srgbClr val="B6D2E2"/>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4123944" y="2862072"/>
            <a:ext cx="150876" cy="1207008"/>
          </a:xfrm>
          <a:prstGeom prst="line">
            <a:avLst/>
          </a:prstGeom>
          <a:ln w="9525">
            <a:solidFill>
              <a:srgbClr val="B6D2E2"/>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2125980" y="2862072"/>
            <a:ext cx="2148840" cy="1207008"/>
          </a:xfrm>
          <a:prstGeom prst="line">
            <a:avLst/>
          </a:prstGeom>
          <a:ln w="9525">
            <a:solidFill>
              <a:srgbClr val="B6D2E2"/>
            </a:solidFill>
          </a:ln>
          <a:effectLst/>
        </p:spPr>
        <p:style>
          <a:lnRef idx="2">
            <a:schemeClr val="accent1"/>
          </a:lnRef>
          <a:fillRef idx="0">
            <a:schemeClr val="accent1"/>
          </a:fillRef>
          <a:effectRef idx="1">
            <a:schemeClr val="accent1"/>
          </a:effectRef>
          <a:fontRef idx="minor">
            <a:schemeClr val="tx1"/>
          </a:fontRef>
        </p:style>
      </p:cxnSp>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48640" y="475488"/>
            <a:ext cx="566928" cy="566928"/>
          </a:xfrm>
          <a:prstGeom prst="ellipse">
            <a:avLst/>
          </a:prstGeom>
          <a:solidFill>
            <a:srgbClr val="1A6B9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mbria"/>
              </a:rPr>
              <a:t>3</a:t>
            </a:r>
          </a:p>
        </p:txBody>
      </p:sp>
      <p:sp>
        <p:nvSpPr>
          <p:cNvPr id="4" name="TextBox 3"/>
          <p:cNvSpPr txBox="1"/>
          <p:nvPr/>
        </p:nvSpPr>
        <p:spPr>
          <a:xfrm>
            <a:off x="1280160" y="637847"/>
            <a:ext cx="10332720" cy="461665"/>
          </a:xfrm>
          <a:prstGeom prst="rect">
            <a:avLst/>
          </a:prstGeom>
          <a:noFill/>
        </p:spPr>
        <p:txBody>
          <a:bodyPr wrap="square" lIns="0" tIns="0" rIns="0" bIns="0" anchor="ctr">
            <a:spAutoFit/>
          </a:bodyPr>
          <a:lstStyle/>
          <a:p>
            <a:pPr algn="l">
              <a:lnSpc>
                <a:spcPct val="100000"/>
              </a:lnSpc>
            </a:pPr>
            <a:r>
              <a:rPr sz="3000" b="1" dirty="0" err="1">
                <a:solidFill>
                  <a:srgbClr val="0D2A43"/>
                </a:solidFill>
                <a:latin typeface="Cambria"/>
              </a:rPr>
              <a:t>Prétraitement</a:t>
            </a:r>
            <a:r>
              <a:rPr sz="3000" b="1" dirty="0">
                <a:solidFill>
                  <a:srgbClr val="0D2A43"/>
                </a:solidFill>
                <a:latin typeface="Cambria"/>
              </a:rPr>
              <a:t> </a:t>
            </a:r>
            <a:r>
              <a:rPr lang="en-US" sz="3000" b="1" dirty="0">
                <a:solidFill>
                  <a:srgbClr val="0D2A43"/>
                </a:solidFill>
                <a:latin typeface="Cambria"/>
              </a:rPr>
              <a:t>:</a:t>
            </a:r>
            <a:r>
              <a:rPr sz="3000" b="1" dirty="0">
                <a:solidFill>
                  <a:srgbClr val="0D2A43"/>
                </a:solidFill>
                <a:latin typeface="Cambria"/>
              </a:rPr>
              <a:t> </a:t>
            </a:r>
            <a:r>
              <a:rPr sz="3000" b="1" dirty="0" err="1">
                <a:solidFill>
                  <a:srgbClr val="0D2A43"/>
                </a:solidFill>
                <a:latin typeface="Cambria"/>
              </a:rPr>
              <a:t>modélisation</a:t>
            </a:r>
            <a:endParaRPr sz="3000" b="1" dirty="0">
              <a:solidFill>
                <a:srgbClr val="0D2A43"/>
              </a:solidFill>
              <a:latin typeface="Cambria"/>
            </a:endParaRPr>
          </a:p>
        </p:txBody>
      </p:sp>
      <p:sp>
        <p:nvSpPr>
          <p:cNvPr id="5" name="TextBox 4"/>
          <p:cNvSpPr txBox="1"/>
          <p:nvPr/>
        </p:nvSpPr>
        <p:spPr>
          <a:xfrm>
            <a:off x="1280160" y="1298448"/>
            <a:ext cx="10332720" cy="457200"/>
          </a:xfrm>
          <a:prstGeom prst="rect">
            <a:avLst/>
          </a:prstGeom>
          <a:noFill/>
        </p:spPr>
        <p:txBody>
          <a:bodyPr wrap="square" lIns="0" tIns="0" rIns="0" bIns="0" anchor="t">
            <a:spAutoFit/>
          </a:bodyPr>
          <a:lstStyle/>
          <a:p>
            <a:pPr algn="l">
              <a:lnSpc>
                <a:spcPct val="100000"/>
              </a:lnSpc>
            </a:pPr>
            <a:r>
              <a:rPr sz="1700" b="1">
                <a:solidFill>
                  <a:srgbClr val="1A6B9A"/>
                </a:solidFill>
                <a:latin typeface="Calibri"/>
              </a:rPr>
              <a:t>Un modèle en étoile à dimensions conformes</a:t>
            </a:r>
          </a:p>
        </p:txBody>
      </p:sp>
      <p:sp>
        <p:nvSpPr>
          <p:cNvPr id="6" name="Rounded Rectangle 5"/>
          <p:cNvSpPr/>
          <p:nvPr/>
        </p:nvSpPr>
        <p:spPr>
          <a:xfrm>
            <a:off x="2880360" y="2148840"/>
            <a:ext cx="2788920" cy="713232"/>
          </a:xfrm>
          <a:prstGeom prst="roundRect">
            <a:avLst/>
          </a:prstGeom>
          <a:solidFill>
            <a:srgbClr val="1A6B9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300" b="1" dirty="0" err="1">
                <a:solidFill>
                  <a:srgbClr val="FFFFFF"/>
                </a:solidFill>
                <a:latin typeface="Calibri"/>
              </a:rPr>
              <a:t>Calendrier</a:t>
            </a:r>
            <a:r>
              <a:rPr sz="1300" b="1" dirty="0">
                <a:solidFill>
                  <a:srgbClr val="FFFFFF"/>
                </a:solidFill>
                <a:latin typeface="Calibri"/>
              </a:rPr>
              <a:t> (2000</a:t>
            </a:r>
            <a:r>
              <a:rPr lang="en-US" sz="1300" b="1" dirty="0">
                <a:solidFill>
                  <a:srgbClr val="FFFFFF"/>
                </a:solidFill>
                <a:latin typeface="Calibri"/>
              </a:rPr>
              <a:t>-</a:t>
            </a:r>
            <a:r>
              <a:rPr sz="1300" b="1" dirty="0">
                <a:solidFill>
                  <a:srgbClr val="FFFFFF"/>
                </a:solidFill>
                <a:latin typeface="Calibri"/>
              </a:rPr>
              <a:t>2018)</a:t>
            </a:r>
          </a:p>
        </p:txBody>
      </p:sp>
      <p:sp>
        <p:nvSpPr>
          <p:cNvPr id="7" name="Rounded Rectangle 6"/>
          <p:cNvSpPr/>
          <p:nvPr/>
        </p:nvSpPr>
        <p:spPr>
          <a:xfrm>
            <a:off x="6537960" y="2148840"/>
            <a:ext cx="2788920" cy="713232"/>
          </a:xfrm>
          <a:prstGeom prst="roundRect">
            <a:avLst/>
          </a:prstGeom>
          <a:solidFill>
            <a:srgbClr val="1A6B9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300" b="1">
                <a:solidFill>
                  <a:srgbClr val="FFFFFF"/>
                </a:solidFill>
                <a:latin typeface="Calibri"/>
              </a:rPr>
              <a:t>Région (pays · continent)</a:t>
            </a:r>
          </a:p>
        </p:txBody>
      </p:sp>
      <p:sp>
        <p:nvSpPr>
          <p:cNvPr id="8" name="Rounded Rectangle 7"/>
          <p:cNvSpPr/>
          <p:nvPr/>
        </p:nvSpPr>
        <p:spPr>
          <a:xfrm>
            <a:off x="1234440" y="4069080"/>
            <a:ext cx="1783080" cy="731520"/>
          </a:xfrm>
          <a:prstGeom prst="roundRect">
            <a:avLst/>
          </a:prstGeom>
          <a:solidFill>
            <a:srgbClr val="FFFFFF"/>
          </a:solidFill>
          <a:ln w="12700">
            <a:solidFill>
              <a:srgbClr val="B6D2E2"/>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100" b="1">
                <a:solidFill>
                  <a:srgbClr val="0D2A43"/>
                </a:solidFill>
                <a:latin typeface="Calibri"/>
              </a:rPr>
              <a:t>Accès à l’eau</a:t>
            </a:r>
          </a:p>
        </p:txBody>
      </p:sp>
      <p:sp>
        <p:nvSpPr>
          <p:cNvPr id="9" name="Rounded Rectangle 8"/>
          <p:cNvSpPr/>
          <p:nvPr/>
        </p:nvSpPr>
        <p:spPr>
          <a:xfrm>
            <a:off x="3232404" y="4069080"/>
            <a:ext cx="1783080" cy="731520"/>
          </a:xfrm>
          <a:prstGeom prst="roundRect">
            <a:avLst/>
          </a:prstGeom>
          <a:solidFill>
            <a:srgbClr val="FFFFFF"/>
          </a:solidFill>
          <a:ln w="12700">
            <a:solidFill>
              <a:srgbClr val="B6D2E2"/>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100" b="1">
                <a:solidFill>
                  <a:srgbClr val="0D2A43"/>
                </a:solidFill>
                <a:latin typeface="Calibri"/>
              </a:rPr>
              <a:t>Population</a:t>
            </a:r>
          </a:p>
        </p:txBody>
      </p:sp>
      <p:sp>
        <p:nvSpPr>
          <p:cNvPr id="10" name="Rounded Rectangle 9"/>
          <p:cNvSpPr/>
          <p:nvPr/>
        </p:nvSpPr>
        <p:spPr>
          <a:xfrm>
            <a:off x="5230368" y="4069080"/>
            <a:ext cx="1783080" cy="731520"/>
          </a:xfrm>
          <a:prstGeom prst="roundRect">
            <a:avLst/>
          </a:prstGeom>
          <a:solidFill>
            <a:srgbClr val="FFFFFF"/>
          </a:solidFill>
          <a:ln w="12700">
            <a:solidFill>
              <a:srgbClr val="B6D2E2"/>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100" b="1">
                <a:solidFill>
                  <a:srgbClr val="0D2A43"/>
                </a:solidFill>
                <a:latin typeface="Calibri"/>
              </a:rPr>
              <a:t>Mortalité (2016)</a:t>
            </a:r>
          </a:p>
        </p:txBody>
      </p:sp>
      <p:sp>
        <p:nvSpPr>
          <p:cNvPr id="11" name="Rounded Rectangle 10"/>
          <p:cNvSpPr/>
          <p:nvPr/>
        </p:nvSpPr>
        <p:spPr>
          <a:xfrm>
            <a:off x="7228331" y="4069080"/>
            <a:ext cx="1783080" cy="731520"/>
          </a:xfrm>
          <a:prstGeom prst="roundRect">
            <a:avLst/>
          </a:prstGeom>
          <a:solidFill>
            <a:srgbClr val="FFFFFF"/>
          </a:solidFill>
          <a:ln w="12700">
            <a:solidFill>
              <a:srgbClr val="B6D2E2"/>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100" b="1">
                <a:solidFill>
                  <a:srgbClr val="0D2A43"/>
                </a:solidFill>
                <a:latin typeface="Calibri"/>
              </a:rPr>
              <a:t>Stabilité politique</a:t>
            </a:r>
          </a:p>
        </p:txBody>
      </p:sp>
      <p:sp>
        <p:nvSpPr>
          <p:cNvPr id="12" name="Rounded Rectangle 11"/>
          <p:cNvSpPr/>
          <p:nvPr/>
        </p:nvSpPr>
        <p:spPr>
          <a:xfrm>
            <a:off x="9226296" y="4069080"/>
            <a:ext cx="1783080" cy="731520"/>
          </a:xfrm>
          <a:prstGeom prst="roundRect">
            <a:avLst/>
          </a:prstGeom>
          <a:solidFill>
            <a:srgbClr val="FFFFFF"/>
          </a:solidFill>
          <a:ln w="12700">
            <a:solidFill>
              <a:srgbClr val="B6D2E2"/>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100" b="1">
                <a:solidFill>
                  <a:srgbClr val="0D2A43"/>
                </a:solidFill>
                <a:latin typeface="Calibri"/>
              </a:rPr>
              <a:t>Efficacité gouv.</a:t>
            </a:r>
          </a:p>
        </p:txBody>
      </p:sp>
      <p:sp>
        <p:nvSpPr>
          <p:cNvPr id="23" name="TextBox 22"/>
          <p:cNvSpPr txBox="1"/>
          <p:nvPr/>
        </p:nvSpPr>
        <p:spPr>
          <a:xfrm>
            <a:off x="914400" y="5074920"/>
            <a:ext cx="10424160" cy="1188720"/>
          </a:xfrm>
          <a:prstGeom prst="rect">
            <a:avLst/>
          </a:prstGeom>
          <a:noFill/>
        </p:spPr>
        <p:txBody>
          <a:bodyPr wrap="square" lIns="0" tIns="0" rIns="0" bIns="0" anchor="t">
            <a:spAutoFit/>
          </a:bodyPr>
          <a:lstStyle/>
          <a:p>
            <a:pPr algn="ctr">
              <a:lnSpc>
                <a:spcPct val="108000"/>
              </a:lnSpc>
            </a:pPr>
            <a:r>
              <a:rPr sz="1500" b="1">
                <a:solidFill>
                  <a:srgbClr val="1C2A30"/>
                </a:solidFill>
                <a:latin typeface="Calibri"/>
              </a:rPr>
              <a:t>Deux dimensions partagées filtrent toutes les tables de faits : </a:t>
            </a:r>
            <a:r>
              <a:rPr sz="1500" b="0">
                <a:solidFill>
                  <a:srgbClr val="1C2A30"/>
                </a:solidFill>
                <a:latin typeface="Calibri"/>
              </a:rPr>
              <a:t>cohérence des trois vues, meilleures performances d’affichage, et gestion propre des couvertures temporelles différentes (la mortalité n’existe que pour 2016).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48640" y="475488"/>
            <a:ext cx="566928" cy="566928"/>
          </a:xfrm>
          <a:prstGeom prst="ellipse">
            <a:avLst/>
          </a:prstGeom>
          <a:solidFill>
            <a:srgbClr val="1A6B9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mbria"/>
              </a:rPr>
              <a:t>4</a:t>
            </a:r>
          </a:p>
        </p:txBody>
      </p:sp>
      <p:sp>
        <p:nvSpPr>
          <p:cNvPr id="4" name="TextBox 3"/>
          <p:cNvSpPr txBox="1"/>
          <p:nvPr/>
        </p:nvSpPr>
        <p:spPr>
          <a:xfrm>
            <a:off x="1280160" y="637847"/>
            <a:ext cx="10332720" cy="461665"/>
          </a:xfrm>
          <a:prstGeom prst="rect">
            <a:avLst/>
          </a:prstGeom>
          <a:noFill/>
        </p:spPr>
        <p:txBody>
          <a:bodyPr wrap="square" lIns="0" tIns="0" rIns="0" bIns="0" anchor="ctr">
            <a:spAutoFit/>
          </a:bodyPr>
          <a:lstStyle/>
          <a:p>
            <a:pPr algn="l">
              <a:lnSpc>
                <a:spcPct val="100000"/>
              </a:lnSpc>
            </a:pPr>
            <a:r>
              <a:rPr sz="3000" b="1" dirty="0">
                <a:solidFill>
                  <a:srgbClr val="0D2A43"/>
                </a:solidFill>
                <a:latin typeface="Cambria"/>
              </a:rPr>
              <a:t>Le blueprint </a:t>
            </a:r>
            <a:r>
              <a:rPr lang="en-US" sz="3000" b="1" dirty="0">
                <a:solidFill>
                  <a:srgbClr val="0D2A43"/>
                </a:solidFill>
                <a:latin typeface="Cambria"/>
              </a:rPr>
              <a:t>:</a:t>
            </a:r>
            <a:r>
              <a:rPr sz="3000" b="1" dirty="0">
                <a:solidFill>
                  <a:srgbClr val="0D2A43"/>
                </a:solidFill>
                <a:latin typeface="Cambria"/>
              </a:rPr>
              <a:t> </a:t>
            </a:r>
            <a:r>
              <a:rPr sz="3000" b="1" dirty="0" err="1">
                <a:solidFill>
                  <a:srgbClr val="0D2A43"/>
                </a:solidFill>
                <a:latin typeface="Cambria"/>
              </a:rPr>
              <a:t>synthèse</a:t>
            </a:r>
            <a:r>
              <a:rPr sz="3000" b="1" dirty="0">
                <a:solidFill>
                  <a:srgbClr val="0D2A43"/>
                </a:solidFill>
                <a:latin typeface="Cambria"/>
              </a:rPr>
              <a:t> des </a:t>
            </a:r>
            <a:r>
              <a:rPr sz="3000" b="1" dirty="0" err="1">
                <a:solidFill>
                  <a:srgbClr val="0D2A43"/>
                </a:solidFill>
                <a:latin typeface="Cambria"/>
              </a:rPr>
              <a:t>besoins</a:t>
            </a:r>
            <a:endParaRPr sz="3000" b="1" dirty="0">
              <a:solidFill>
                <a:srgbClr val="0D2A43"/>
              </a:solidFill>
              <a:latin typeface="Cambria"/>
            </a:endParaRPr>
          </a:p>
        </p:txBody>
      </p:sp>
      <p:pic>
        <p:nvPicPr>
          <p:cNvPr id="5" name="Picture 4" descr="bp-1.jpg"/>
          <p:cNvPicPr>
            <a:picLocks noChangeAspect="1"/>
          </p:cNvPicPr>
          <p:nvPr/>
        </p:nvPicPr>
        <p:blipFill>
          <a:blip r:embed="rId3"/>
          <a:stretch>
            <a:fillRect/>
          </a:stretch>
        </p:blipFill>
        <p:spPr>
          <a:xfrm>
            <a:off x="640080" y="1554480"/>
            <a:ext cx="3493592" cy="4937760"/>
          </a:xfrm>
          <a:prstGeom prst="rect">
            <a:avLst/>
          </a:prstGeom>
        </p:spPr>
      </p:pic>
      <p:sp>
        <p:nvSpPr>
          <p:cNvPr id="6" name="Rectangle 5"/>
          <p:cNvSpPr/>
          <p:nvPr/>
        </p:nvSpPr>
        <p:spPr>
          <a:xfrm>
            <a:off x="640080" y="1554480"/>
            <a:ext cx="3493592" cy="4937760"/>
          </a:xfrm>
          <a:prstGeom prst="rect">
            <a:avLst/>
          </a:prstGeom>
          <a:noFill/>
          <a:ln w="12700">
            <a:solidFill>
              <a:srgbClr val="B6D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617720" y="2194560"/>
            <a:ext cx="6949440" cy="3657600"/>
          </a:xfrm>
          <a:prstGeom prst="rect">
            <a:avLst/>
          </a:prstGeom>
          <a:noFill/>
        </p:spPr>
        <p:txBody>
          <a:bodyPr wrap="square" lIns="0" tIns="0" rIns="0" bIns="0" anchor="t">
            <a:spAutoFit/>
          </a:bodyPr>
          <a:lstStyle/>
          <a:p>
            <a:pPr algn="l">
              <a:lnSpc>
                <a:spcPct val="110000"/>
              </a:lnSpc>
            </a:pPr>
            <a:r>
              <a:rPr sz="1600" b="1">
                <a:solidFill>
                  <a:srgbClr val="1C2A30"/>
                </a:solidFill>
                <a:latin typeface="Calibri"/>
              </a:rPr>
              <a:t>Document de cadrage remis avant la réalisation.</a:t>
            </a:r>
          </a:p>
          <a:p>
            <a:pPr algn="l">
              <a:lnSpc>
                <a:spcPct val="110000"/>
              </a:lnSpc>
              <a:spcBef>
                <a:spcPts val="200"/>
              </a:spcBef>
            </a:pPr>
            <a:endParaRPr sz="1600" b="1">
              <a:solidFill>
                <a:srgbClr val="1C2A30"/>
              </a:solidFill>
              <a:latin typeface="Calibri"/>
            </a:endParaRPr>
          </a:p>
          <a:p>
            <a:pPr algn="l">
              <a:lnSpc>
                <a:spcPct val="110000"/>
              </a:lnSpc>
              <a:spcBef>
                <a:spcPts val="200"/>
              </a:spcBef>
            </a:pPr>
            <a:r>
              <a:rPr sz="1600" b="0">
                <a:solidFill>
                  <a:srgbClr val="1C2A30"/>
                </a:solidFill>
                <a:latin typeface="Calibri"/>
              </a:rPr>
              <a:t>Pour chacune des trois vues, il relie :</a:t>
            </a:r>
          </a:p>
          <a:p>
            <a:pPr algn="l">
              <a:lnSpc>
                <a:spcPct val="110000"/>
              </a:lnSpc>
              <a:spcBef>
                <a:spcPts val="200"/>
              </a:spcBef>
            </a:pPr>
            <a:r>
              <a:rPr sz="1600" b="1">
                <a:solidFill>
                  <a:srgbClr val="1A6B9A"/>
                </a:solidFill>
                <a:latin typeface="Calibri"/>
              </a:rPr>
              <a:t>le besoin utilisateur  →  les indicateurs  →  la visualisation retenue.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48640" y="475488"/>
            <a:ext cx="566928" cy="566928"/>
          </a:xfrm>
          <a:prstGeom prst="ellipse">
            <a:avLst/>
          </a:prstGeom>
          <a:solidFill>
            <a:srgbClr val="1A6B9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mbria"/>
              </a:rPr>
              <a:t>4</a:t>
            </a:r>
          </a:p>
        </p:txBody>
      </p:sp>
      <p:sp>
        <p:nvSpPr>
          <p:cNvPr id="4" name="TextBox 3"/>
          <p:cNvSpPr txBox="1"/>
          <p:nvPr/>
        </p:nvSpPr>
        <p:spPr>
          <a:xfrm>
            <a:off x="1280160" y="637847"/>
            <a:ext cx="10332720" cy="461665"/>
          </a:xfrm>
          <a:prstGeom prst="rect">
            <a:avLst/>
          </a:prstGeom>
          <a:noFill/>
        </p:spPr>
        <p:txBody>
          <a:bodyPr wrap="square" lIns="0" tIns="0" rIns="0" bIns="0" anchor="ctr">
            <a:spAutoFit/>
          </a:bodyPr>
          <a:lstStyle/>
          <a:p>
            <a:pPr algn="l">
              <a:lnSpc>
                <a:spcPct val="100000"/>
              </a:lnSpc>
            </a:pPr>
            <a:r>
              <a:rPr sz="3000" b="1" dirty="0">
                <a:solidFill>
                  <a:srgbClr val="0D2A43"/>
                </a:solidFill>
                <a:latin typeface="Cambria"/>
              </a:rPr>
              <a:t>Le blueprint </a:t>
            </a:r>
            <a:r>
              <a:rPr lang="en-US" sz="3000" b="1" dirty="0">
                <a:solidFill>
                  <a:srgbClr val="0D2A43"/>
                </a:solidFill>
                <a:latin typeface="Cambria"/>
              </a:rPr>
              <a:t>:</a:t>
            </a:r>
            <a:r>
              <a:rPr sz="3000" b="1" dirty="0">
                <a:solidFill>
                  <a:srgbClr val="0D2A43"/>
                </a:solidFill>
                <a:latin typeface="Cambria"/>
              </a:rPr>
              <a:t> </a:t>
            </a:r>
            <a:r>
              <a:rPr sz="3000" b="1" dirty="0" err="1">
                <a:solidFill>
                  <a:srgbClr val="0D2A43"/>
                </a:solidFill>
                <a:latin typeface="Cambria"/>
              </a:rPr>
              <a:t>détail</a:t>
            </a:r>
            <a:r>
              <a:rPr sz="3000" b="1" dirty="0">
                <a:solidFill>
                  <a:srgbClr val="0D2A43"/>
                </a:solidFill>
                <a:latin typeface="Cambria"/>
              </a:rPr>
              <a:t> des </a:t>
            </a:r>
            <a:r>
              <a:rPr sz="3000" b="1" dirty="0" err="1">
                <a:solidFill>
                  <a:srgbClr val="0D2A43"/>
                </a:solidFill>
                <a:latin typeface="Cambria"/>
              </a:rPr>
              <a:t>vues</a:t>
            </a:r>
            <a:endParaRPr sz="3000" b="1" dirty="0">
              <a:solidFill>
                <a:srgbClr val="0D2A43"/>
              </a:solidFill>
              <a:latin typeface="Cambria"/>
            </a:endParaRPr>
          </a:p>
        </p:txBody>
      </p:sp>
      <p:pic>
        <p:nvPicPr>
          <p:cNvPr id="5" name="Picture 4" descr="bp-2.jpg"/>
          <p:cNvPicPr>
            <a:picLocks noChangeAspect="1"/>
          </p:cNvPicPr>
          <p:nvPr/>
        </p:nvPicPr>
        <p:blipFill>
          <a:blip r:embed="rId3"/>
          <a:stretch>
            <a:fillRect/>
          </a:stretch>
        </p:blipFill>
        <p:spPr>
          <a:xfrm>
            <a:off x="1463040" y="1554480"/>
            <a:ext cx="3299503" cy="4663440"/>
          </a:xfrm>
          <a:prstGeom prst="rect">
            <a:avLst/>
          </a:prstGeom>
        </p:spPr>
      </p:pic>
      <p:sp>
        <p:nvSpPr>
          <p:cNvPr id="6" name="Rectangle 5"/>
          <p:cNvSpPr/>
          <p:nvPr/>
        </p:nvSpPr>
        <p:spPr>
          <a:xfrm>
            <a:off x="1463040" y="1554480"/>
            <a:ext cx="3299503" cy="4663440"/>
          </a:xfrm>
          <a:prstGeom prst="rect">
            <a:avLst/>
          </a:prstGeom>
          <a:noFill/>
          <a:ln w="12700">
            <a:solidFill>
              <a:srgbClr val="B6D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bp-3.jpg"/>
          <p:cNvPicPr>
            <a:picLocks noChangeAspect="1"/>
          </p:cNvPicPr>
          <p:nvPr/>
        </p:nvPicPr>
        <p:blipFill>
          <a:blip r:embed="rId4"/>
          <a:stretch>
            <a:fillRect/>
          </a:stretch>
        </p:blipFill>
        <p:spPr>
          <a:xfrm>
            <a:off x="6675120" y="1554480"/>
            <a:ext cx="3299503" cy="4663440"/>
          </a:xfrm>
          <a:prstGeom prst="rect">
            <a:avLst/>
          </a:prstGeom>
        </p:spPr>
      </p:pic>
      <p:sp>
        <p:nvSpPr>
          <p:cNvPr id="8" name="Rectangle 7"/>
          <p:cNvSpPr/>
          <p:nvPr/>
        </p:nvSpPr>
        <p:spPr>
          <a:xfrm>
            <a:off x="6675120" y="1554480"/>
            <a:ext cx="3299503" cy="4663440"/>
          </a:xfrm>
          <a:prstGeom prst="rect">
            <a:avLst/>
          </a:prstGeom>
          <a:noFill/>
          <a:ln w="12700">
            <a:solidFill>
              <a:srgbClr val="B6D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6355080"/>
            <a:ext cx="10881360" cy="411480"/>
          </a:xfrm>
          <a:prstGeom prst="rect">
            <a:avLst/>
          </a:prstGeom>
          <a:noFill/>
        </p:spPr>
        <p:txBody>
          <a:bodyPr wrap="square" lIns="0" tIns="0" rIns="0" bIns="0" anchor="t">
            <a:spAutoFit/>
          </a:bodyPr>
          <a:lstStyle/>
          <a:p>
            <a:pPr algn="ctr">
              <a:lnSpc>
                <a:spcPct val="100000"/>
              </a:lnSpc>
            </a:pPr>
            <a:r>
              <a:rPr sz="1200" b="0">
                <a:solidFill>
                  <a:srgbClr val="5F6B6D"/>
                </a:solidFill>
                <a:latin typeface="Calibri"/>
              </a:rPr>
              <a:t>Les douze besoins couvrent les vues Monde, Continent et Pays, avec les indicateurs des trois domaines.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48640" y="475488"/>
            <a:ext cx="566928" cy="566928"/>
          </a:xfrm>
          <a:prstGeom prst="ellipse">
            <a:avLst/>
          </a:prstGeom>
          <a:solidFill>
            <a:srgbClr val="1A6B9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mbria"/>
              </a:rPr>
              <a:t>5</a:t>
            </a:r>
          </a:p>
        </p:txBody>
      </p:sp>
      <p:sp>
        <p:nvSpPr>
          <p:cNvPr id="4" name="TextBox 3"/>
          <p:cNvSpPr txBox="1"/>
          <p:nvPr/>
        </p:nvSpPr>
        <p:spPr>
          <a:xfrm>
            <a:off x="1280160" y="457200"/>
            <a:ext cx="10332720" cy="822960"/>
          </a:xfrm>
          <a:prstGeom prst="rect">
            <a:avLst/>
          </a:prstGeom>
          <a:noFill/>
        </p:spPr>
        <p:txBody>
          <a:bodyPr wrap="square" lIns="0" tIns="0" rIns="0" bIns="0" anchor="ctr">
            <a:spAutoFit/>
          </a:bodyPr>
          <a:lstStyle/>
          <a:p>
            <a:pPr algn="l">
              <a:lnSpc>
                <a:spcPct val="100000"/>
              </a:lnSpc>
            </a:pPr>
            <a:r>
              <a:rPr sz="3000" b="1">
                <a:solidFill>
                  <a:srgbClr val="0D2A43"/>
                </a:solidFill>
                <a:latin typeface="Cambria"/>
              </a:rPr>
              <a:t>Pourquoi Power BI plutôt que Tableau ?</a:t>
            </a:r>
          </a:p>
        </p:txBody>
      </p:sp>
      <p:sp>
        <p:nvSpPr>
          <p:cNvPr id="5" name="Rounded Rectangle 4"/>
          <p:cNvSpPr/>
          <p:nvPr/>
        </p:nvSpPr>
        <p:spPr>
          <a:xfrm>
            <a:off x="640080" y="1554480"/>
            <a:ext cx="10972800" cy="1371600"/>
          </a:xfrm>
          <a:prstGeom prst="roundRect">
            <a:avLst/>
          </a:prstGeom>
          <a:solidFill>
            <a:srgbClr val="EC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700784"/>
            <a:ext cx="10424160" cy="1097280"/>
          </a:xfrm>
          <a:prstGeom prst="rect">
            <a:avLst/>
          </a:prstGeom>
          <a:noFill/>
        </p:spPr>
        <p:txBody>
          <a:bodyPr wrap="square" lIns="0" tIns="0" rIns="0" bIns="0" anchor="ctr">
            <a:spAutoFit/>
          </a:bodyPr>
          <a:lstStyle/>
          <a:p>
            <a:pPr algn="l">
              <a:lnSpc>
                <a:spcPct val="108000"/>
              </a:lnSpc>
            </a:pPr>
            <a:r>
              <a:rPr sz="1700" b="1">
                <a:solidFill>
                  <a:srgbClr val="1A6B9A"/>
                </a:solidFill>
                <a:latin typeface="Calibri"/>
              </a:rPr>
              <a:t>Une compétence déjà acquise. </a:t>
            </a:r>
            <a:r>
              <a:rPr sz="1700" b="0">
                <a:solidFill>
                  <a:srgbClr val="1C2A30"/>
                </a:solidFill>
                <a:latin typeface="Calibri"/>
              </a:rPr>
              <a:t>Ayant utilisé Power BI sur un projet précédent, réutiliser ce savoir-faire a permis de livrer plus vite et avec moins de risque. Tableau aurait imposé l’apprentissage d’un nouvel outil, ralentissant le projet.</a:t>
            </a:r>
          </a:p>
        </p:txBody>
      </p:sp>
      <p:sp>
        <p:nvSpPr>
          <p:cNvPr id="7" name="Rounded Rectangle 6"/>
          <p:cNvSpPr/>
          <p:nvPr/>
        </p:nvSpPr>
        <p:spPr>
          <a:xfrm>
            <a:off x="640080" y="3200400"/>
            <a:ext cx="5349240" cy="3108960"/>
          </a:xfrm>
          <a:prstGeom prst="roundRect">
            <a:avLst/>
          </a:prstGeom>
          <a:solidFill>
            <a:srgbClr val="FFFFFF"/>
          </a:solidFill>
          <a:ln w="12700">
            <a:solidFill>
              <a:srgbClr val="B6D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3364992"/>
            <a:ext cx="4846320" cy="246221"/>
          </a:xfrm>
          <a:prstGeom prst="rect">
            <a:avLst/>
          </a:prstGeom>
          <a:noFill/>
        </p:spPr>
        <p:txBody>
          <a:bodyPr wrap="square" lIns="0" tIns="0" rIns="0" bIns="0" anchor="t">
            <a:spAutoFit/>
          </a:bodyPr>
          <a:lstStyle/>
          <a:p>
            <a:pPr algn="l">
              <a:lnSpc>
                <a:spcPct val="100000"/>
              </a:lnSpc>
            </a:pPr>
            <a:r>
              <a:rPr sz="1600" b="1" dirty="0">
                <a:solidFill>
                  <a:srgbClr val="1A6B9A"/>
                </a:solidFill>
                <a:latin typeface="Calibri"/>
              </a:rPr>
              <a:t>Power BI </a:t>
            </a:r>
            <a:r>
              <a:rPr lang="en-US" sz="1600" b="1" dirty="0" err="1">
                <a:solidFill>
                  <a:srgbClr val="1A6B9A"/>
                </a:solidFill>
                <a:latin typeface="Calibri"/>
              </a:rPr>
              <a:t>est</a:t>
            </a:r>
            <a:r>
              <a:rPr sz="1600" b="1" dirty="0">
                <a:solidFill>
                  <a:srgbClr val="1A6B9A"/>
                </a:solidFill>
                <a:latin typeface="Calibri"/>
              </a:rPr>
              <a:t> </a:t>
            </a:r>
            <a:r>
              <a:rPr sz="1600" b="1" dirty="0" err="1">
                <a:solidFill>
                  <a:srgbClr val="1A6B9A"/>
                </a:solidFill>
                <a:latin typeface="Calibri"/>
              </a:rPr>
              <a:t>retenu</a:t>
            </a:r>
            <a:endParaRPr sz="1600" b="1" dirty="0">
              <a:solidFill>
                <a:srgbClr val="1A6B9A"/>
              </a:solidFill>
              <a:latin typeface="Calibri"/>
            </a:endParaRPr>
          </a:p>
        </p:txBody>
      </p:sp>
      <p:sp>
        <p:nvSpPr>
          <p:cNvPr id="9" name="TextBox 8"/>
          <p:cNvSpPr txBox="1"/>
          <p:nvPr/>
        </p:nvSpPr>
        <p:spPr>
          <a:xfrm>
            <a:off x="914400" y="3886200"/>
            <a:ext cx="4846320" cy="2286000"/>
          </a:xfrm>
          <a:prstGeom prst="rect">
            <a:avLst/>
          </a:prstGeom>
          <a:noFill/>
        </p:spPr>
        <p:txBody>
          <a:bodyPr wrap="square" lIns="0" tIns="0" rIns="0" bIns="0" anchor="t">
            <a:spAutoFit/>
          </a:bodyPr>
          <a:lstStyle/>
          <a:p>
            <a:pPr algn="l">
              <a:lnSpc>
                <a:spcPct val="115000"/>
              </a:lnSpc>
            </a:pPr>
            <a:r>
              <a:rPr sz="1400" b="0">
                <a:solidFill>
                  <a:srgbClr val="1C2A30"/>
                </a:solidFill>
                <a:latin typeface="Calibri"/>
              </a:rPr>
              <a:t>•  Compétence existante → opérationnel immédiatement</a:t>
            </a:r>
          </a:p>
          <a:p>
            <a:pPr algn="l">
              <a:lnSpc>
                <a:spcPct val="115000"/>
              </a:lnSpc>
              <a:spcBef>
                <a:spcPts val="200"/>
              </a:spcBef>
            </a:pPr>
            <a:r>
              <a:rPr sz="1400" b="0">
                <a:solidFill>
                  <a:srgbClr val="1C2A30"/>
                </a:solidFill>
                <a:latin typeface="Calibri"/>
              </a:rPr>
              <a:t>•  Power Query (M) : tout le prétraitement dans l’outil</a:t>
            </a:r>
          </a:p>
          <a:p>
            <a:pPr algn="l">
              <a:lnSpc>
                <a:spcPct val="115000"/>
              </a:lnSpc>
              <a:spcBef>
                <a:spcPts val="200"/>
              </a:spcBef>
            </a:pPr>
            <a:r>
              <a:rPr sz="1400" b="0">
                <a:solidFill>
                  <a:srgbClr val="1C2A30"/>
                </a:solidFill>
                <a:latin typeface="Calibri"/>
              </a:rPr>
              <a:t>•  Modélisation en étoile et mesures DAX</a:t>
            </a:r>
          </a:p>
          <a:p>
            <a:pPr algn="l">
              <a:lnSpc>
                <a:spcPct val="115000"/>
              </a:lnSpc>
              <a:spcBef>
                <a:spcPts val="200"/>
              </a:spcBef>
            </a:pPr>
            <a:r>
              <a:rPr sz="1400" b="0">
                <a:solidFill>
                  <a:srgbClr val="1C2A30"/>
                </a:solidFill>
                <a:latin typeface="Calibri"/>
              </a:rPr>
              <a:t>•  Power BI Desktop gratuit</a:t>
            </a:r>
          </a:p>
        </p:txBody>
      </p:sp>
      <p:sp>
        <p:nvSpPr>
          <p:cNvPr id="10" name="Rounded Rectangle 9"/>
          <p:cNvSpPr/>
          <p:nvPr/>
        </p:nvSpPr>
        <p:spPr>
          <a:xfrm>
            <a:off x="6309360" y="3200400"/>
            <a:ext cx="5349240" cy="3108960"/>
          </a:xfrm>
          <a:prstGeom prst="roundRect">
            <a:avLst/>
          </a:prstGeom>
          <a:solidFill>
            <a:srgbClr val="FFFFFF"/>
          </a:solidFill>
          <a:ln w="12700">
            <a:solidFill>
              <a:srgbClr val="B6D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0" y="3364992"/>
            <a:ext cx="4846320" cy="246221"/>
          </a:xfrm>
          <a:prstGeom prst="rect">
            <a:avLst/>
          </a:prstGeom>
          <a:noFill/>
        </p:spPr>
        <p:txBody>
          <a:bodyPr wrap="square" lIns="0" tIns="0" rIns="0" bIns="0" anchor="t">
            <a:spAutoFit/>
          </a:bodyPr>
          <a:lstStyle/>
          <a:p>
            <a:pPr algn="l">
              <a:lnSpc>
                <a:spcPct val="100000"/>
              </a:lnSpc>
            </a:pPr>
            <a:r>
              <a:rPr sz="1600" b="1" dirty="0">
                <a:solidFill>
                  <a:srgbClr val="5F6B6D"/>
                </a:solidFill>
                <a:latin typeface="Calibri"/>
              </a:rPr>
              <a:t>Tableau </a:t>
            </a:r>
            <a:r>
              <a:rPr lang="en-US" sz="1600" b="1" dirty="0" err="1">
                <a:solidFill>
                  <a:srgbClr val="5F6B6D"/>
                </a:solidFill>
                <a:latin typeface="Calibri"/>
              </a:rPr>
              <a:t>est</a:t>
            </a:r>
            <a:r>
              <a:rPr sz="1600" b="1" dirty="0">
                <a:solidFill>
                  <a:srgbClr val="5F6B6D"/>
                </a:solidFill>
                <a:latin typeface="Calibri"/>
              </a:rPr>
              <a:t> écarté pour </a:t>
            </a:r>
            <a:r>
              <a:rPr sz="1600" b="1" dirty="0" err="1">
                <a:solidFill>
                  <a:srgbClr val="5F6B6D"/>
                </a:solidFill>
                <a:latin typeface="Calibri"/>
              </a:rPr>
              <a:t>ce</a:t>
            </a:r>
            <a:r>
              <a:rPr sz="1600" b="1" dirty="0">
                <a:solidFill>
                  <a:srgbClr val="5F6B6D"/>
                </a:solidFill>
                <a:latin typeface="Calibri"/>
              </a:rPr>
              <a:t> </a:t>
            </a:r>
            <a:r>
              <a:rPr sz="1600" b="1" dirty="0" err="1">
                <a:solidFill>
                  <a:srgbClr val="5F6B6D"/>
                </a:solidFill>
                <a:latin typeface="Calibri"/>
              </a:rPr>
              <a:t>projet</a:t>
            </a:r>
            <a:endParaRPr sz="1600" b="1" dirty="0">
              <a:solidFill>
                <a:srgbClr val="5F6B6D"/>
              </a:solidFill>
              <a:latin typeface="Calibri"/>
            </a:endParaRPr>
          </a:p>
        </p:txBody>
      </p:sp>
      <p:sp>
        <p:nvSpPr>
          <p:cNvPr id="12" name="TextBox 11"/>
          <p:cNvSpPr txBox="1"/>
          <p:nvPr/>
        </p:nvSpPr>
        <p:spPr>
          <a:xfrm>
            <a:off x="6583680" y="3886200"/>
            <a:ext cx="4846320" cy="2286000"/>
          </a:xfrm>
          <a:prstGeom prst="rect">
            <a:avLst/>
          </a:prstGeom>
          <a:noFill/>
        </p:spPr>
        <p:txBody>
          <a:bodyPr wrap="square" lIns="0" tIns="0" rIns="0" bIns="0" anchor="t">
            <a:spAutoFit/>
          </a:bodyPr>
          <a:lstStyle/>
          <a:p>
            <a:pPr algn="l">
              <a:lnSpc>
                <a:spcPct val="115000"/>
              </a:lnSpc>
            </a:pPr>
            <a:r>
              <a:rPr sz="1400" b="0">
                <a:solidFill>
                  <a:srgbClr val="1C2A30"/>
                </a:solidFill>
                <a:latin typeface="Calibri"/>
              </a:rPr>
              <a:t>•  Outil non maîtrisé → temps d’apprentissage</a:t>
            </a:r>
          </a:p>
          <a:p>
            <a:pPr algn="l">
              <a:lnSpc>
                <a:spcPct val="115000"/>
              </a:lnSpc>
              <a:spcBef>
                <a:spcPts val="200"/>
              </a:spcBef>
            </a:pPr>
            <a:r>
              <a:rPr sz="1400" b="0">
                <a:solidFill>
                  <a:srgbClr val="1C2A30"/>
                </a:solidFill>
                <a:latin typeface="Calibri"/>
              </a:rPr>
              <a:t>•  Aurait ralenti la livraison</a:t>
            </a:r>
          </a:p>
          <a:p>
            <a:pPr algn="l">
              <a:lnSpc>
                <a:spcPct val="115000"/>
              </a:lnSpc>
              <a:spcBef>
                <a:spcPts val="200"/>
              </a:spcBef>
            </a:pPr>
            <a:r>
              <a:rPr sz="1400" b="0">
                <a:solidFill>
                  <a:srgbClr val="1C2A30"/>
                </a:solidFill>
                <a:latin typeface="Calibri"/>
              </a:rPr>
              <a:t>•  Résultat équivalent possible, mais moins efficace ici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48640" y="475488"/>
            <a:ext cx="566928" cy="566928"/>
          </a:xfrm>
          <a:prstGeom prst="ellipse">
            <a:avLst/>
          </a:prstGeom>
          <a:solidFill>
            <a:srgbClr val="1A6B9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mbria"/>
              </a:rPr>
              <a:t>6</a:t>
            </a:r>
          </a:p>
        </p:txBody>
      </p:sp>
      <p:sp>
        <p:nvSpPr>
          <p:cNvPr id="4" name="TextBox 3"/>
          <p:cNvSpPr txBox="1"/>
          <p:nvPr/>
        </p:nvSpPr>
        <p:spPr>
          <a:xfrm>
            <a:off x="1280160" y="637847"/>
            <a:ext cx="10332720" cy="461665"/>
          </a:xfrm>
          <a:prstGeom prst="rect">
            <a:avLst/>
          </a:prstGeom>
          <a:noFill/>
        </p:spPr>
        <p:txBody>
          <a:bodyPr wrap="square" lIns="0" tIns="0" rIns="0" bIns="0" anchor="ctr">
            <a:spAutoFit/>
          </a:bodyPr>
          <a:lstStyle/>
          <a:p>
            <a:pPr algn="l">
              <a:lnSpc>
                <a:spcPct val="100000"/>
              </a:lnSpc>
            </a:pPr>
            <a:r>
              <a:rPr sz="3000" b="1" dirty="0" err="1">
                <a:solidFill>
                  <a:srgbClr val="0D2A43"/>
                </a:solidFill>
                <a:latin typeface="Cambria"/>
              </a:rPr>
              <a:t>Résultats</a:t>
            </a:r>
            <a:r>
              <a:rPr sz="3000" b="1" dirty="0">
                <a:solidFill>
                  <a:srgbClr val="0D2A43"/>
                </a:solidFill>
                <a:latin typeface="Cambria"/>
              </a:rPr>
              <a:t> </a:t>
            </a:r>
            <a:r>
              <a:rPr lang="en-US" sz="3000" b="1" dirty="0">
                <a:solidFill>
                  <a:srgbClr val="0D2A43"/>
                </a:solidFill>
                <a:latin typeface="Cambria"/>
              </a:rPr>
              <a:t>:</a:t>
            </a:r>
            <a:r>
              <a:rPr sz="3000" b="1" dirty="0">
                <a:solidFill>
                  <a:srgbClr val="0D2A43"/>
                </a:solidFill>
                <a:latin typeface="Cambria"/>
              </a:rPr>
              <a:t> les pays à </a:t>
            </a:r>
            <a:r>
              <a:rPr sz="3000" b="1" dirty="0" err="1">
                <a:solidFill>
                  <a:srgbClr val="0D2A43"/>
                </a:solidFill>
                <a:latin typeface="Cambria"/>
              </a:rPr>
              <a:t>cibler</a:t>
            </a:r>
            <a:endParaRPr sz="3000" b="1" dirty="0">
              <a:solidFill>
                <a:srgbClr val="0D2A43"/>
              </a:solidFill>
              <a:latin typeface="Cambria"/>
            </a:endParaRPr>
          </a:p>
        </p:txBody>
      </p:sp>
      <p:sp>
        <p:nvSpPr>
          <p:cNvPr id="5" name="TextBox 4"/>
          <p:cNvSpPr txBox="1"/>
          <p:nvPr/>
        </p:nvSpPr>
        <p:spPr>
          <a:xfrm>
            <a:off x="1280160" y="1298448"/>
            <a:ext cx="10332720" cy="457200"/>
          </a:xfrm>
          <a:prstGeom prst="rect">
            <a:avLst/>
          </a:prstGeom>
          <a:noFill/>
        </p:spPr>
        <p:txBody>
          <a:bodyPr wrap="square" lIns="0" tIns="0" rIns="0" bIns="0" anchor="t">
            <a:spAutoFit/>
          </a:bodyPr>
          <a:lstStyle/>
          <a:p>
            <a:pPr algn="l">
              <a:lnSpc>
                <a:spcPct val="100000"/>
              </a:lnSpc>
            </a:pPr>
            <a:r>
              <a:rPr sz="1700" b="1">
                <a:solidFill>
                  <a:srgbClr val="1A6B9A"/>
                </a:solidFill>
                <a:latin typeface="Calibri"/>
              </a:rPr>
              <a:t>Recommandations issues de l’analyse, par domaine d’expertise</a:t>
            </a:r>
          </a:p>
        </p:txBody>
      </p:sp>
      <p:sp>
        <p:nvSpPr>
          <p:cNvPr id="6" name="Rounded Rectangle 5"/>
          <p:cNvSpPr/>
          <p:nvPr/>
        </p:nvSpPr>
        <p:spPr>
          <a:xfrm>
            <a:off x="640080" y="1920240"/>
            <a:ext cx="3520440" cy="3977639"/>
          </a:xfrm>
          <a:prstGeom prst="roundRect">
            <a:avLst/>
          </a:prstGeom>
          <a:solidFill>
            <a:srgbClr val="EC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920240"/>
            <a:ext cx="3520440" cy="3977639"/>
          </a:xfrm>
          <a:prstGeom prst="rect">
            <a:avLst/>
          </a:prstGeom>
          <a:noFill/>
        </p:spPr>
        <p:txBody>
          <a:bodyPr wrap="square" lIns="201168" tIns="182880" rIns="201168" bIns="182880" anchor="t">
            <a:spAutoFit/>
          </a:bodyPr>
          <a:lstStyle/>
          <a:p>
            <a:pPr algn="l">
              <a:lnSpc>
                <a:spcPct val="114000"/>
              </a:lnSpc>
            </a:pPr>
            <a:r>
              <a:rPr sz="1200" b="1">
                <a:solidFill>
                  <a:srgbClr val="1A6B9A"/>
                </a:solidFill>
                <a:latin typeface="Calibri"/>
              </a:rPr>
              <a:t>DOMAINE 1</a:t>
            </a:r>
          </a:p>
          <a:p>
            <a:pPr algn="l">
              <a:lnSpc>
                <a:spcPct val="114000"/>
              </a:lnSpc>
              <a:spcBef>
                <a:spcPts val="200"/>
              </a:spcBef>
            </a:pPr>
            <a:r>
              <a:rPr sz="1600" b="1">
                <a:solidFill>
                  <a:srgbClr val="1C2A30"/>
                </a:solidFill>
                <a:latin typeface="Calibri"/>
              </a:rPr>
              <a:t>Création de services</a:t>
            </a:r>
          </a:p>
          <a:p>
            <a:pPr algn="l">
              <a:lnSpc>
                <a:spcPct val="114000"/>
              </a:lnSpc>
              <a:spcBef>
                <a:spcPts val="200"/>
              </a:spcBef>
            </a:pPr>
            <a:endParaRPr sz="1600" b="1">
              <a:solidFill>
                <a:srgbClr val="1C2A30"/>
              </a:solidFill>
              <a:latin typeface="Calibri"/>
            </a:endParaRPr>
          </a:p>
          <a:p>
            <a:pPr algn="l">
              <a:lnSpc>
                <a:spcPct val="114000"/>
              </a:lnSpc>
              <a:spcBef>
                <a:spcPts val="200"/>
              </a:spcBef>
            </a:pPr>
            <a:r>
              <a:rPr sz="1200" b="0">
                <a:solidFill>
                  <a:srgbClr val="5F6B6D"/>
                </a:solidFill>
                <a:latin typeface="Calibri"/>
              </a:rPr>
              <a:t>Critère : accès à l’eau le plus faible</a:t>
            </a:r>
          </a:p>
          <a:p>
            <a:pPr algn="l">
              <a:lnSpc>
                <a:spcPct val="114000"/>
              </a:lnSpc>
              <a:spcBef>
                <a:spcPts val="200"/>
              </a:spcBef>
            </a:pPr>
            <a:endParaRPr sz="1200" b="0">
              <a:solidFill>
                <a:srgbClr val="5F6B6D"/>
              </a:solidFill>
              <a:latin typeface="Calibri"/>
            </a:endParaRPr>
          </a:p>
          <a:p>
            <a:pPr algn="l">
              <a:lnSpc>
                <a:spcPct val="114000"/>
              </a:lnSpc>
              <a:spcBef>
                <a:spcPts val="200"/>
              </a:spcBef>
            </a:pPr>
            <a:r>
              <a:rPr sz="1350" b="1">
                <a:solidFill>
                  <a:srgbClr val="2196C4"/>
                </a:solidFill>
                <a:latin typeface="Calibri"/>
              </a:rPr>
              <a:t>•  </a:t>
            </a:r>
            <a:r>
              <a:rPr sz="1350" b="0">
                <a:solidFill>
                  <a:srgbClr val="1C2A30"/>
                </a:solidFill>
                <a:latin typeface="Calibri"/>
              </a:rPr>
              <a:t>Tchad — 39 %</a:t>
            </a:r>
          </a:p>
          <a:p>
            <a:pPr algn="l">
              <a:lnSpc>
                <a:spcPct val="114000"/>
              </a:lnSpc>
              <a:spcBef>
                <a:spcPts val="200"/>
              </a:spcBef>
            </a:pPr>
            <a:r>
              <a:rPr sz="1350" b="1">
                <a:solidFill>
                  <a:srgbClr val="2196C4"/>
                </a:solidFill>
                <a:latin typeface="Calibri"/>
              </a:rPr>
              <a:t>•  </a:t>
            </a:r>
            <a:r>
              <a:rPr sz="1350" b="0">
                <a:solidFill>
                  <a:srgbClr val="1C2A30"/>
                </a:solidFill>
                <a:latin typeface="Calibri"/>
              </a:rPr>
              <a:t>Soudan du Sud — 41 %</a:t>
            </a:r>
          </a:p>
          <a:p>
            <a:pPr algn="l">
              <a:lnSpc>
                <a:spcPct val="114000"/>
              </a:lnSpc>
              <a:spcBef>
                <a:spcPts val="200"/>
              </a:spcBef>
            </a:pPr>
            <a:r>
              <a:rPr sz="1350" b="1">
                <a:solidFill>
                  <a:srgbClr val="2196C4"/>
                </a:solidFill>
                <a:latin typeface="Calibri"/>
              </a:rPr>
              <a:t>•  </a:t>
            </a:r>
            <a:r>
              <a:rPr sz="1350" b="0">
                <a:solidFill>
                  <a:srgbClr val="1C2A30"/>
                </a:solidFill>
                <a:latin typeface="Calibri"/>
              </a:rPr>
              <a:t>Éthiopie — 41 %</a:t>
            </a:r>
          </a:p>
          <a:p>
            <a:pPr algn="l">
              <a:lnSpc>
                <a:spcPct val="114000"/>
              </a:lnSpc>
              <a:spcBef>
                <a:spcPts val="200"/>
              </a:spcBef>
            </a:pPr>
            <a:r>
              <a:rPr sz="1350" b="1">
                <a:solidFill>
                  <a:srgbClr val="2196C4"/>
                </a:solidFill>
                <a:latin typeface="Calibri"/>
              </a:rPr>
              <a:t>•  </a:t>
            </a:r>
            <a:r>
              <a:rPr sz="1350" b="0">
                <a:solidFill>
                  <a:srgbClr val="1C2A30"/>
                </a:solidFill>
                <a:latin typeface="Calibri"/>
              </a:rPr>
              <a:t>RD Congo — 43 %</a:t>
            </a:r>
          </a:p>
          <a:p>
            <a:pPr algn="l">
              <a:lnSpc>
                <a:spcPct val="114000"/>
              </a:lnSpc>
              <a:spcBef>
                <a:spcPts val="200"/>
              </a:spcBef>
            </a:pPr>
            <a:r>
              <a:rPr sz="1350" b="1">
                <a:solidFill>
                  <a:srgbClr val="2196C4"/>
                </a:solidFill>
                <a:latin typeface="Calibri"/>
              </a:rPr>
              <a:t>•  </a:t>
            </a:r>
            <a:r>
              <a:rPr sz="1350" b="0">
                <a:solidFill>
                  <a:srgbClr val="1C2A30"/>
                </a:solidFill>
                <a:latin typeface="Calibri"/>
              </a:rPr>
              <a:t>Niger — 50 %</a:t>
            </a:r>
          </a:p>
        </p:txBody>
      </p:sp>
      <p:sp>
        <p:nvSpPr>
          <p:cNvPr id="8" name="Rounded Rectangle 7"/>
          <p:cNvSpPr/>
          <p:nvPr/>
        </p:nvSpPr>
        <p:spPr>
          <a:xfrm>
            <a:off x="4334256" y="1920240"/>
            <a:ext cx="3520440" cy="3977639"/>
          </a:xfrm>
          <a:prstGeom prst="roundRect">
            <a:avLst/>
          </a:prstGeom>
          <a:solidFill>
            <a:srgbClr val="EC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334256" y="1920240"/>
            <a:ext cx="3520440" cy="3977639"/>
          </a:xfrm>
          <a:prstGeom prst="rect">
            <a:avLst/>
          </a:prstGeom>
          <a:noFill/>
        </p:spPr>
        <p:txBody>
          <a:bodyPr wrap="square" lIns="201168" tIns="182880" rIns="201168" bIns="182880" anchor="t">
            <a:spAutoFit/>
          </a:bodyPr>
          <a:lstStyle/>
          <a:p>
            <a:pPr algn="l">
              <a:lnSpc>
                <a:spcPct val="114000"/>
              </a:lnSpc>
            </a:pPr>
            <a:r>
              <a:rPr sz="1200" b="1">
                <a:solidFill>
                  <a:srgbClr val="1A6B9A"/>
                </a:solidFill>
                <a:latin typeface="Calibri"/>
              </a:rPr>
              <a:t>DOMAINE 2</a:t>
            </a:r>
          </a:p>
          <a:p>
            <a:pPr algn="l">
              <a:lnSpc>
                <a:spcPct val="114000"/>
              </a:lnSpc>
              <a:spcBef>
                <a:spcPts val="200"/>
              </a:spcBef>
            </a:pPr>
            <a:r>
              <a:rPr sz="1600" b="1">
                <a:solidFill>
                  <a:srgbClr val="1C2A30"/>
                </a:solidFill>
                <a:latin typeface="Calibri"/>
              </a:rPr>
              <a:t>Modernisation</a:t>
            </a:r>
          </a:p>
          <a:p>
            <a:pPr algn="l">
              <a:lnSpc>
                <a:spcPct val="114000"/>
              </a:lnSpc>
              <a:spcBef>
                <a:spcPts val="200"/>
              </a:spcBef>
            </a:pPr>
            <a:endParaRPr sz="1600" b="1">
              <a:solidFill>
                <a:srgbClr val="1C2A30"/>
              </a:solidFill>
              <a:latin typeface="Calibri"/>
            </a:endParaRPr>
          </a:p>
          <a:p>
            <a:pPr algn="l">
              <a:lnSpc>
                <a:spcPct val="114000"/>
              </a:lnSpc>
              <a:spcBef>
                <a:spcPts val="200"/>
              </a:spcBef>
            </a:pPr>
            <a:r>
              <a:rPr sz="1200" b="0">
                <a:solidFill>
                  <a:srgbClr val="5F6B6D"/>
                </a:solidFill>
                <a:latin typeface="Calibri"/>
              </a:rPr>
              <a:t>Critère : bon accès de base, faible qualité (base / qualité)</a:t>
            </a:r>
          </a:p>
          <a:p>
            <a:pPr algn="l">
              <a:lnSpc>
                <a:spcPct val="114000"/>
              </a:lnSpc>
              <a:spcBef>
                <a:spcPts val="200"/>
              </a:spcBef>
            </a:pPr>
            <a:endParaRPr sz="1200" b="0">
              <a:solidFill>
                <a:srgbClr val="5F6B6D"/>
              </a:solidFill>
              <a:latin typeface="Calibri"/>
            </a:endParaRPr>
          </a:p>
          <a:p>
            <a:pPr algn="l">
              <a:lnSpc>
                <a:spcPct val="114000"/>
              </a:lnSpc>
              <a:spcBef>
                <a:spcPts val="200"/>
              </a:spcBef>
            </a:pPr>
            <a:r>
              <a:rPr sz="1350" b="1">
                <a:solidFill>
                  <a:srgbClr val="2196C4"/>
                </a:solidFill>
                <a:latin typeface="Calibri"/>
              </a:rPr>
              <a:t>•  </a:t>
            </a:r>
            <a:r>
              <a:rPr sz="1350" b="0">
                <a:solidFill>
                  <a:srgbClr val="1C2A30"/>
                </a:solidFill>
                <a:latin typeface="Calibri"/>
              </a:rPr>
              <a:t>Laos — 82 / 16 %</a:t>
            </a:r>
          </a:p>
          <a:p>
            <a:pPr algn="l">
              <a:lnSpc>
                <a:spcPct val="114000"/>
              </a:lnSpc>
              <a:spcBef>
                <a:spcPts val="200"/>
              </a:spcBef>
            </a:pPr>
            <a:r>
              <a:rPr sz="1350" b="1">
                <a:solidFill>
                  <a:srgbClr val="2196C4"/>
                </a:solidFill>
                <a:latin typeface="Calibri"/>
              </a:rPr>
              <a:t>•  </a:t>
            </a:r>
            <a:r>
              <a:rPr sz="1350" b="0">
                <a:solidFill>
                  <a:srgbClr val="1C2A30"/>
                </a:solidFill>
                <a:latin typeface="Calibri"/>
              </a:rPr>
              <a:t>Népal — 89 / 27 %</a:t>
            </a:r>
          </a:p>
          <a:p>
            <a:pPr algn="l">
              <a:lnSpc>
                <a:spcPct val="114000"/>
              </a:lnSpc>
              <a:spcBef>
                <a:spcPts val="200"/>
              </a:spcBef>
            </a:pPr>
            <a:r>
              <a:rPr sz="1350" b="1">
                <a:solidFill>
                  <a:srgbClr val="2196C4"/>
                </a:solidFill>
                <a:latin typeface="Calibri"/>
              </a:rPr>
              <a:t>•  </a:t>
            </a:r>
            <a:r>
              <a:rPr sz="1350" b="0">
                <a:solidFill>
                  <a:srgbClr val="1C2A30"/>
                </a:solidFill>
                <a:latin typeface="Calibri"/>
              </a:rPr>
              <a:t>Bhoutan — 97 / 36 %</a:t>
            </a:r>
          </a:p>
          <a:p>
            <a:pPr algn="l">
              <a:lnSpc>
                <a:spcPct val="114000"/>
              </a:lnSpc>
              <a:spcBef>
                <a:spcPts val="200"/>
              </a:spcBef>
            </a:pPr>
            <a:r>
              <a:rPr sz="1350" b="1">
                <a:solidFill>
                  <a:srgbClr val="2196C4"/>
                </a:solidFill>
                <a:latin typeface="Calibri"/>
              </a:rPr>
              <a:t>•  </a:t>
            </a:r>
            <a:r>
              <a:rPr sz="1350" b="0">
                <a:solidFill>
                  <a:srgbClr val="1C2A30"/>
                </a:solidFill>
                <a:latin typeface="Calibri"/>
              </a:rPr>
              <a:t>Mongolie — 83 / 24 %</a:t>
            </a:r>
          </a:p>
          <a:p>
            <a:pPr algn="l">
              <a:lnSpc>
                <a:spcPct val="114000"/>
              </a:lnSpc>
              <a:spcBef>
                <a:spcPts val="200"/>
              </a:spcBef>
            </a:pPr>
            <a:r>
              <a:rPr sz="1350" b="1">
                <a:solidFill>
                  <a:srgbClr val="2196C4"/>
                </a:solidFill>
                <a:latin typeface="Calibri"/>
              </a:rPr>
              <a:t>•  </a:t>
            </a:r>
            <a:r>
              <a:rPr sz="1350" b="0">
                <a:solidFill>
                  <a:srgbClr val="1C2A30"/>
                </a:solidFill>
                <a:latin typeface="Calibri"/>
              </a:rPr>
              <a:t>Mexique — 99 / 43 %</a:t>
            </a:r>
          </a:p>
        </p:txBody>
      </p:sp>
      <p:sp>
        <p:nvSpPr>
          <p:cNvPr id="10" name="Rounded Rectangle 9"/>
          <p:cNvSpPr/>
          <p:nvPr/>
        </p:nvSpPr>
        <p:spPr>
          <a:xfrm>
            <a:off x="8028431" y="1920240"/>
            <a:ext cx="3520440" cy="3977639"/>
          </a:xfrm>
          <a:prstGeom prst="roundRect">
            <a:avLst/>
          </a:prstGeom>
          <a:solidFill>
            <a:srgbClr val="EC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28431" y="1920240"/>
            <a:ext cx="3520440" cy="3977639"/>
          </a:xfrm>
          <a:prstGeom prst="rect">
            <a:avLst/>
          </a:prstGeom>
          <a:noFill/>
        </p:spPr>
        <p:txBody>
          <a:bodyPr wrap="square" lIns="201168" tIns="182880" rIns="201168" bIns="182880" anchor="t">
            <a:spAutoFit/>
          </a:bodyPr>
          <a:lstStyle/>
          <a:p>
            <a:pPr algn="l">
              <a:lnSpc>
                <a:spcPct val="114000"/>
              </a:lnSpc>
            </a:pPr>
            <a:r>
              <a:rPr sz="1200" b="1">
                <a:solidFill>
                  <a:srgbClr val="1A6B9A"/>
                </a:solidFill>
                <a:latin typeface="Calibri"/>
              </a:rPr>
              <a:t>DOMAINE 3</a:t>
            </a:r>
          </a:p>
          <a:p>
            <a:pPr algn="l">
              <a:lnSpc>
                <a:spcPct val="114000"/>
              </a:lnSpc>
              <a:spcBef>
                <a:spcPts val="200"/>
              </a:spcBef>
            </a:pPr>
            <a:r>
              <a:rPr sz="1600" b="1">
                <a:solidFill>
                  <a:srgbClr val="1C2A30"/>
                </a:solidFill>
                <a:latin typeface="Calibri"/>
              </a:rPr>
              <a:t>Consulting</a:t>
            </a:r>
          </a:p>
          <a:p>
            <a:pPr algn="l">
              <a:lnSpc>
                <a:spcPct val="114000"/>
              </a:lnSpc>
              <a:spcBef>
                <a:spcPts val="200"/>
              </a:spcBef>
            </a:pPr>
            <a:endParaRPr sz="1600" b="1">
              <a:solidFill>
                <a:srgbClr val="1C2A30"/>
              </a:solidFill>
              <a:latin typeface="Calibri"/>
            </a:endParaRPr>
          </a:p>
          <a:p>
            <a:pPr algn="l">
              <a:lnSpc>
                <a:spcPct val="114000"/>
              </a:lnSpc>
              <a:spcBef>
                <a:spcPts val="200"/>
              </a:spcBef>
            </a:pPr>
            <a:r>
              <a:rPr sz="1200" b="0">
                <a:solidFill>
                  <a:srgbClr val="5F6B6D"/>
                </a:solidFill>
                <a:latin typeface="Calibri"/>
              </a:rPr>
              <a:t>Critère : administration stable, politique perfectible</a:t>
            </a:r>
          </a:p>
          <a:p>
            <a:pPr algn="l">
              <a:lnSpc>
                <a:spcPct val="114000"/>
              </a:lnSpc>
              <a:spcBef>
                <a:spcPts val="200"/>
              </a:spcBef>
            </a:pPr>
            <a:endParaRPr sz="1200" b="0">
              <a:solidFill>
                <a:srgbClr val="5F6B6D"/>
              </a:solidFill>
              <a:latin typeface="Calibri"/>
            </a:endParaRPr>
          </a:p>
          <a:p>
            <a:pPr algn="l">
              <a:lnSpc>
                <a:spcPct val="114000"/>
              </a:lnSpc>
              <a:spcBef>
                <a:spcPts val="200"/>
              </a:spcBef>
            </a:pPr>
            <a:r>
              <a:rPr sz="1350" b="1">
                <a:solidFill>
                  <a:srgbClr val="2196C4"/>
                </a:solidFill>
                <a:latin typeface="Calibri"/>
              </a:rPr>
              <a:t>•  </a:t>
            </a:r>
            <a:r>
              <a:rPr sz="1350" b="0">
                <a:solidFill>
                  <a:srgbClr val="1C2A30"/>
                </a:solidFill>
                <a:latin typeface="Calibri"/>
              </a:rPr>
              <a:t>Bénin</a:t>
            </a:r>
          </a:p>
          <a:p>
            <a:pPr algn="l">
              <a:lnSpc>
                <a:spcPct val="114000"/>
              </a:lnSpc>
              <a:spcBef>
                <a:spcPts val="200"/>
              </a:spcBef>
            </a:pPr>
            <a:r>
              <a:rPr sz="1350" b="1">
                <a:solidFill>
                  <a:srgbClr val="2196C4"/>
                </a:solidFill>
                <a:latin typeface="Calibri"/>
              </a:rPr>
              <a:t>•  </a:t>
            </a:r>
            <a:r>
              <a:rPr sz="1350" b="0">
                <a:solidFill>
                  <a:srgbClr val="1C2A30"/>
                </a:solidFill>
                <a:latin typeface="Calibri"/>
              </a:rPr>
              <a:t>Zambie</a:t>
            </a:r>
          </a:p>
          <a:p>
            <a:pPr algn="l">
              <a:lnSpc>
                <a:spcPct val="114000"/>
              </a:lnSpc>
              <a:spcBef>
                <a:spcPts val="200"/>
              </a:spcBef>
            </a:pPr>
            <a:r>
              <a:rPr sz="1350" b="1">
                <a:solidFill>
                  <a:srgbClr val="2196C4"/>
                </a:solidFill>
                <a:latin typeface="Calibri"/>
              </a:rPr>
              <a:t>•  </a:t>
            </a:r>
            <a:r>
              <a:rPr sz="1350" b="0">
                <a:solidFill>
                  <a:srgbClr val="1C2A30"/>
                </a:solidFill>
                <a:latin typeface="Calibri"/>
              </a:rPr>
              <a:t>Lesotho</a:t>
            </a:r>
          </a:p>
          <a:p>
            <a:pPr algn="l">
              <a:lnSpc>
                <a:spcPct val="114000"/>
              </a:lnSpc>
              <a:spcBef>
                <a:spcPts val="200"/>
              </a:spcBef>
            </a:pPr>
            <a:r>
              <a:rPr sz="1350" b="1">
                <a:solidFill>
                  <a:srgbClr val="2196C4"/>
                </a:solidFill>
                <a:latin typeface="Calibri"/>
              </a:rPr>
              <a:t>•  </a:t>
            </a:r>
            <a:r>
              <a:rPr sz="1350" b="0">
                <a:solidFill>
                  <a:srgbClr val="1C2A30"/>
                </a:solidFill>
                <a:latin typeface="Calibri"/>
              </a:rPr>
              <a:t>Mozambique</a:t>
            </a:r>
          </a:p>
          <a:p>
            <a:pPr algn="l">
              <a:lnSpc>
                <a:spcPct val="114000"/>
              </a:lnSpc>
              <a:spcBef>
                <a:spcPts val="200"/>
              </a:spcBef>
            </a:pPr>
            <a:r>
              <a:rPr sz="1350" b="1">
                <a:solidFill>
                  <a:srgbClr val="2196C4"/>
                </a:solidFill>
                <a:latin typeface="Calibri"/>
              </a:rPr>
              <a:t>•  </a:t>
            </a:r>
            <a:r>
              <a:rPr sz="1350" b="0">
                <a:solidFill>
                  <a:srgbClr val="1C2A30"/>
                </a:solidFill>
                <a:latin typeface="Calibri"/>
              </a:rPr>
              <a:t>Malawi</a:t>
            </a:r>
          </a:p>
        </p:txBody>
      </p:sp>
      <p:sp>
        <p:nvSpPr>
          <p:cNvPr id="12" name="TextBox 11"/>
          <p:cNvSpPr txBox="1"/>
          <p:nvPr/>
        </p:nvSpPr>
        <p:spPr>
          <a:xfrm>
            <a:off x="640080" y="6035040"/>
            <a:ext cx="10881360" cy="411480"/>
          </a:xfrm>
          <a:prstGeom prst="rect">
            <a:avLst/>
          </a:prstGeom>
          <a:noFill/>
        </p:spPr>
        <p:txBody>
          <a:bodyPr wrap="square" lIns="0" tIns="0" rIns="0" bIns="0" anchor="t">
            <a:spAutoFit/>
          </a:bodyPr>
          <a:lstStyle/>
          <a:p>
            <a:pPr algn="ctr">
              <a:lnSpc>
                <a:spcPct val="100000"/>
              </a:lnSpc>
            </a:pPr>
            <a:r>
              <a:rPr sz="1200" b="0">
                <a:solidFill>
                  <a:srgbClr val="5F6B6D"/>
                </a:solidFill>
                <a:latin typeface="Calibri"/>
              </a:rPr>
              <a:t>Liste indicative issue de l’analyse (2016–2017), à affiner avec les équipes terrain.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2" name="Group 11">
            <a:extLst>
              <a:ext uri="{FF2B5EF4-FFF2-40B4-BE49-F238E27FC236}">
                <a16:creationId xmlns:a16="http://schemas.microsoft.com/office/drawing/2014/main" id="{C41737C4-6B9C-68A1-3970-D2CF70295327}"/>
              </a:ext>
            </a:extLst>
          </p:cNvPr>
          <p:cNvGrpSpPr/>
          <p:nvPr/>
        </p:nvGrpSpPr>
        <p:grpSpPr>
          <a:xfrm>
            <a:off x="7232529" y="1188719"/>
            <a:ext cx="4937760" cy="4937760"/>
            <a:chOff x="7589520" y="1188719"/>
            <a:chExt cx="4937760" cy="4937760"/>
          </a:xfrm>
        </p:grpSpPr>
        <p:sp>
          <p:nvSpPr>
            <p:cNvPr id="3" name="Oval 2"/>
            <p:cNvSpPr/>
            <p:nvPr/>
          </p:nvSpPr>
          <p:spPr>
            <a:xfrm>
              <a:off x="7589520" y="1188719"/>
              <a:ext cx="4937760" cy="4937760"/>
            </a:xfrm>
            <a:prstGeom prst="ellipse">
              <a:avLst/>
            </a:prstGeom>
            <a:noFill/>
            <a:ln w="19050">
              <a:solidFill>
                <a:srgbClr val="1A6B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183879" y="1783080"/>
              <a:ext cx="3749039" cy="3749039"/>
            </a:xfrm>
            <a:prstGeom prst="ellipse">
              <a:avLst/>
            </a:prstGeom>
            <a:noFill/>
            <a:ln w="19050">
              <a:solidFill>
                <a:srgbClr val="2196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778240" y="2377440"/>
              <a:ext cx="2560320" cy="2560320"/>
            </a:xfrm>
            <a:prstGeom prst="ellipse">
              <a:avLst/>
            </a:prstGeom>
            <a:noFill/>
            <a:ln w="19050">
              <a:solidFill>
                <a:srgbClr val="89CD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345168" y="2944368"/>
              <a:ext cx="1426464" cy="1426464"/>
            </a:xfrm>
            <a:prstGeom prst="ellipse">
              <a:avLst/>
            </a:prstGeom>
            <a:noFill/>
            <a:ln w="19050">
              <a:solidFill>
                <a:srgbClr val="89CD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9802368" y="3401568"/>
              <a:ext cx="512064" cy="512064"/>
            </a:xfrm>
            <a:prstGeom prst="ellipse">
              <a:avLst/>
            </a:prstGeom>
            <a:solidFill>
              <a:srgbClr val="89CD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8" name="TextBox 7"/>
          <p:cNvSpPr txBox="1"/>
          <p:nvPr/>
        </p:nvSpPr>
        <p:spPr>
          <a:xfrm>
            <a:off x="822960" y="914400"/>
            <a:ext cx="8229600" cy="914400"/>
          </a:xfrm>
          <a:prstGeom prst="rect">
            <a:avLst/>
          </a:prstGeom>
          <a:noFill/>
        </p:spPr>
        <p:txBody>
          <a:bodyPr wrap="square" lIns="0" tIns="0" rIns="0" bIns="0" anchor="t">
            <a:spAutoFit/>
          </a:bodyPr>
          <a:lstStyle/>
          <a:p>
            <a:pPr algn="l">
              <a:lnSpc>
                <a:spcPct val="100000"/>
              </a:lnSpc>
            </a:pPr>
            <a:r>
              <a:rPr sz="4000" b="1">
                <a:solidFill>
                  <a:srgbClr val="FFFFFF"/>
                </a:solidFill>
                <a:latin typeface="Cambria"/>
              </a:rPr>
              <a:t>Démonstration</a:t>
            </a:r>
          </a:p>
        </p:txBody>
      </p:sp>
      <p:sp>
        <p:nvSpPr>
          <p:cNvPr id="9" name="TextBox 8"/>
          <p:cNvSpPr txBox="1"/>
          <p:nvPr/>
        </p:nvSpPr>
        <p:spPr>
          <a:xfrm>
            <a:off x="868680" y="2194560"/>
            <a:ext cx="7863840" cy="2194560"/>
          </a:xfrm>
          <a:prstGeom prst="rect">
            <a:avLst/>
          </a:prstGeom>
          <a:noFill/>
        </p:spPr>
        <p:txBody>
          <a:bodyPr wrap="square" lIns="0" tIns="0" rIns="0" bIns="0" anchor="t">
            <a:spAutoFit/>
          </a:bodyPr>
          <a:lstStyle/>
          <a:p>
            <a:pPr algn="l">
              <a:lnSpc>
                <a:spcPct val="135000"/>
              </a:lnSpc>
            </a:pPr>
            <a:r>
              <a:rPr sz="1800" b="0">
                <a:solidFill>
                  <a:srgbClr val="89CDE0"/>
                </a:solidFill>
                <a:latin typeface="Calibri"/>
              </a:rPr>
              <a:t>•  Parcours des trois vues : mondiale → continentale → nationale</a:t>
            </a:r>
          </a:p>
          <a:p>
            <a:pPr algn="l">
              <a:lnSpc>
                <a:spcPct val="135000"/>
              </a:lnSpc>
              <a:spcBef>
                <a:spcPts val="200"/>
              </a:spcBef>
            </a:pPr>
            <a:r>
              <a:rPr sz="1800" b="0">
                <a:solidFill>
                  <a:srgbClr val="89CDE0"/>
                </a:solidFill>
                <a:latin typeface="Calibri"/>
              </a:rPr>
              <a:t>•  Filtres interactifs : continent, pays, année, stabilité politique</a:t>
            </a:r>
          </a:p>
          <a:p>
            <a:pPr algn="l">
              <a:lnSpc>
                <a:spcPct val="135000"/>
              </a:lnSpc>
              <a:spcBef>
                <a:spcPts val="200"/>
              </a:spcBef>
            </a:pPr>
            <a:r>
              <a:rPr sz="1800" b="0">
                <a:solidFill>
                  <a:srgbClr val="89CDE0"/>
                </a:solidFill>
                <a:latin typeface="Calibri"/>
              </a:rPr>
              <a:t>•  Cas d’usage : repérer les pays prioritaires, domaine par domaine</a:t>
            </a:r>
          </a:p>
        </p:txBody>
      </p:sp>
      <p:sp>
        <p:nvSpPr>
          <p:cNvPr id="10" name="TextBox 9"/>
          <p:cNvSpPr txBox="1"/>
          <p:nvPr/>
        </p:nvSpPr>
        <p:spPr>
          <a:xfrm>
            <a:off x="868680" y="4709160"/>
            <a:ext cx="8229600" cy="914400"/>
          </a:xfrm>
          <a:prstGeom prst="rect">
            <a:avLst/>
          </a:prstGeom>
          <a:noFill/>
        </p:spPr>
        <p:txBody>
          <a:bodyPr wrap="square" lIns="0" tIns="0" rIns="0" bIns="0" anchor="t">
            <a:spAutoFit/>
          </a:bodyPr>
          <a:lstStyle/>
          <a:p>
            <a:pPr algn="l">
              <a:lnSpc>
                <a:spcPct val="110000"/>
              </a:lnSpc>
            </a:pPr>
            <a:r>
              <a:rPr sz="1600" b="1">
                <a:solidFill>
                  <a:srgbClr val="FFFFFF"/>
                </a:solidFill>
                <a:latin typeface="Calibri"/>
              </a:rPr>
              <a:t>Prochaines étapes : </a:t>
            </a:r>
            <a:r>
              <a:rPr sz="1600" b="0">
                <a:solidFill>
                  <a:srgbClr val="C9DDEA"/>
                </a:solidFill>
                <a:latin typeface="Calibri"/>
              </a:rPr>
              <a:t>finalisation de l’accessibilité (textes alternatifs, ordre de tabulation) et publication.</a:t>
            </a:r>
          </a:p>
        </p:txBody>
      </p:sp>
      <p:sp>
        <p:nvSpPr>
          <p:cNvPr id="11" name="TextBox 10"/>
          <p:cNvSpPr txBox="1"/>
          <p:nvPr/>
        </p:nvSpPr>
        <p:spPr>
          <a:xfrm>
            <a:off x="868680" y="5943600"/>
            <a:ext cx="8229600" cy="548640"/>
          </a:xfrm>
          <a:prstGeom prst="rect">
            <a:avLst/>
          </a:prstGeom>
          <a:noFill/>
        </p:spPr>
        <p:txBody>
          <a:bodyPr wrap="square" lIns="0" tIns="0" rIns="0" bIns="0" anchor="t">
            <a:spAutoFit/>
          </a:bodyPr>
          <a:lstStyle/>
          <a:p>
            <a:pPr algn="l">
              <a:lnSpc>
                <a:spcPct val="100000"/>
              </a:lnSpc>
            </a:pPr>
            <a:r>
              <a:rPr sz="2000" b="1">
                <a:solidFill>
                  <a:srgbClr val="FFFFFF"/>
                </a:solidFill>
                <a:latin typeface="Cambria"/>
              </a:rPr>
              <a:t>Merci de votre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TotalTime>
  <Words>1671</Words>
  <Application>Microsoft Office PowerPoint</Application>
  <PresentationFormat>Widescreen</PresentationFormat>
  <Paragraphs>143</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Corentin DERVOUT</cp:lastModifiedBy>
  <cp:revision>3</cp:revision>
  <dcterms:created xsi:type="dcterms:W3CDTF">2013-01-27T09:14:16Z</dcterms:created>
  <dcterms:modified xsi:type="dcterms:W3CDTF">2026-07-05T17:15:29Z</dcterms:modified>
  <cp:category/>
</cp:coreProperties>
</file>