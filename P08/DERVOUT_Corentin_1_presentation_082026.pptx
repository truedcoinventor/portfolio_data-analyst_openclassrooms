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1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Inscriptions</c:v>
                </c:pt>
              </c:strCache>
            </c:strRef>
          </c:tx>
          <c:spPr>
            <a:ln w="38100" cap="flat">
              <a:solidFill>
                <a:srgbClr val="0B3D2E"/>
              </a:solidFill>
              <a:prstDash val="solid"/>
              <a:round/>
            </a:ln>
            <a:effectLst/>
          </c:spPr>
          <c:marker>
            <c:symbol val="circle"/>
            <c:size val="9"/>
            <c:spPr>
              <a:solidFill>
                <a:srgbClr val="0B3D2E"/>
              </a:solidFill>
              <a:ln w="9525" cap="flat">
                <a:solidFill>
                  <a:srgbClr val="0B3D2E"/>
                </a:solidFill>
                <a:prstDash val="solid"/>
                <a:round/>
              </a:ln>
              <a:effectLst/>
            </c:spPr>
          </c:marker>
          <c:dLbls>
            <c:numFmt formatCode="#,##0" sourceLinked="0"/>
            <c:spPr>
              <a:noFill/>
              <a:ln>
                <a:noFill/>
              </a:ln>
              <a:effectLst/>
            </c:spPr>
            <c:txPr>
              <a:bodyPr/>
              <a:lstStyle/>
              <a:p>
                <a:pPr>
                  <a:defRPr sz="1300" b="1" i="0" u="none" strike="noStrike">
                    <a:solidFill>
                      <a:srgbClr val="223029"/>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1696</c:v>
                </c:pt>
                <c:pt idx="1">
                  <c:v>1150</c:v>
                </c:pt>
                <c:pt idx="2">
                  <c:v>850</c:v>
                </c:pt>
                <c:pt idx="3">
                  <c:v>951</c:v>
                </c:pt>
              </c:numCache>
            </c:numRef>
          </c:val>
          <c:smooth val="0"/>
          <c:extLst>
            <c:ext xmlns:c16="http://schemas.microsoft.com/office/drawing/2014/chart" uri="{C3380CC4-5D6E-409C-BE32-E72D297353CC}">
              <c16:uniqueId val="{00000000-1147-433D-9BB1-F4538728B98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max val="2000"/>
          <c:min val="600"/>
        </c:scaling>
        <c:delete val="0"/>
        <c:axPos val="l"/>
        <c:majorGridlines>
          <c:spPr>
            <a:ln w="12700" cap="flat">
              <a:solidFill>
                <a:srgbClr val="E2E6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570"/>
                </a:solidFill>
                <a:latin typeface="Calibri"/>
              </a:defRPr>
            </a:pPr>
            <a:endParaRPr lang="en-US"/>
          </a:p>
        </c:txPr>
        <c:crossAx val="2094734554"/>
        <c:crosses val="autoZero"/>
        <c:crossBetween val="between"/>
        <c:majorUnit val="4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percentStacked"/>
        <c:varyColors val="0"/>
        <c:ser>
          <c:idx val="0"/>
          <c:order val="0"/>
          <c:tx>
            <c:strRef>
              <c:f>Sheet1!$B$1</c:f>
              <c:strCache>
                <c:ptCount val="1"/>
                <c:pt idx="0">
                  <c:v>Femmes</c:v>
                </c:pt>
              </c:strCache>
            </c:strRef>
          </c:tx>
          <c:spPr>
            <a:solidFill>
              <a:srgbClr val="D14D57">
                <a:alpha val="100000"/>
              </a:srgbClr>
            </a:solidFill>
            <a:effectLst/>
          </c:spPr>
          <c:invertIfNegative val="0"/>
          <c:cat>
            <c:strRef>
              <c:f>Sheet1!$A$2:$A$5</c:f>
              <c:strCache>
                <c:ptCount val="4"/>
                <c:pt idx="0">
                  <c:v>2022</c:v>
                </c:pt>
                <c:pt idx="1">
                  <c:v>2023</c:v>
                </c:pt>
                <c:pt idx="2">
                  <c:v>2024</c:v>
                </c:pt>
                <c:pt idx="3">
                  <c:v>2025</c:v>
                </c:pt>
              </c:strCache>
            </c:strRef>
          </c:cat>
          <c:val>
            <c:numRef>
              <c:f>Sheet1!$B$2:$B$5</c:f>
              <c:numCache>
                <c:formatCode>General</c:formatCode>
                <c:ptCount val="4"/>
                <c:pt idx="0">
                  <c:v>17.8</c:v>
                </c:pt>
                <c:pt idx="1">
                  <c:v>21.5</c:v>
                </c:pt>
                <c:pt idx="2">
                  <c:v>25.5</c:v>
                </c:pt>
                <c:pt idx="3">
                  <c:v>30.6</c:v>
                </c:pt>
              </c:numCache>
            </c:numRef>
          </c:val>
          <c:extLst>
            <c:ext xmlns:c16="http://schemas.microsoft.com/office/drawing/2014/chart" uri="{C3380CC4-5D6E-409C-BE32-E72D297353CC}">
              <c16:uniqueId val="{00000000-6CA0-4C7D-B118-ABD7E2470D28}"/>
            </c:ext>
          </c:extLst>
        </c:ser>
        <c:ser>
          <c:idx val="1"/>
          <c:order val="1"/>
          <c:tx>
            <c:strRef>
              <c:f>Sheet1!$C$1</c:f>
              <c:strCache>
                <c:ptCount val="1"/>
                <c:pt idx="0">
                  <c:v>Hommes</c:v>
                </c:pt>
              </c:strCache>
            </c:strRef>
          </c:tx>
          <c:spPr>
            <a:solidFill>
              <a:srgbClr val="2E6E8E">
                <a:alpha val="100000"/>
              </a:srgbClr>
            </a:solidFill>
            <a:effectLst/>
          </c:spPr>
          <c:invertIfNegative val="0"/>
          <c:cat>
            <c:strRef>
              <c:f>Sheet1!$A$2:$A$5</c:f>
              <c:strCache>
                <c:ptCount val="4"/>
                <c:pt idx="0">
                  <c:v>2022</c:v>
                </c:pt>
                <c:pt idx="1">
                  <c:v>2023</c:v>
                </c:pt>
                <c:pt idx="2">
                  <c:v>2024</c:v>
                </c:pt>
                <c:pt idx="3">
                  <c:v>2025</c:v>
                </c:pt>
              </c:strCache>
            </c:strRef>
          </c:cat>
          <c:val>
            <c:numRef>
              <c:f>Sheet1!$C$2:$C$5</c:f>
              <c:numCache>
                <c:formatCode>General</c:formatCode>
                <c:ptCount val="4"/>
                <c:pt idx="0">
                  <c:v>40.6</c:v>
                </c:pt>
                <c:pt idx="1">
                  <c:v>44.6</c:v>
                </c:pt>
                <c:pt idx="2">
                  <c:v>64.400000000000006</c:v>
                </c:pt>
                <c:pt idx="3">
                  <c:v>62.7</c:v>
                </c:pt>
              </c:numCache>
            </c:numRef>
          </c:val>
          <c:extLst>
            <c:ext xmlns:c16="http://schemas.microsoft.com/office/drawing/2014/chart" uri="{C3380CC4-5D6E-409C-BE32-E72D297353CC}">
              <c16:uniqueId val="{00000001-6CA0-4C7D-B118-ABD7E2470D28}"/>
            </c:ext>
          </c:extLst>
        </c:ser>
        <c:ser>
          <c:idx val="2"/>
          <c:order val="2"/>
          <c:tx>
            <c:strRef>
              <c:f>Sheet1!$D$1</c:f>
              <c:strCache>
                <c:ptCount val="1"/>
                <c:pt idx="0">
                  <c:v>Non renseigné</c:v>
                </c:pt>
              </c:strCache>
            </c:strRef>
          </c:tx>
          <c:spPr>
            <a:solidFill>
              <a:srgbClr val="AAB0AC">
                <a:alpha val="100000"/>
              </a:srgbClr>
            </a:solidFill>
            <a:effectLst/>
          </c:spPr>
          <c:invertIfNegative val="0"/>
          <c:cat>
            <c:strRef>
              <c:f>Sheet1!$A$2:$A$5</c:f>
              <c:strCache>
                <c:ptCount val="4"/>
                <c:pt idx="0">
                  <c:v>2022</c:v>
                </c:pt>
                <c:pt idx="1">
                  <c:v>2023</c:v>
                </c:pt>
                <c:pt idx="2">
                  <c:v>2024</c:v>
                </c:pt>
                <c:pt idx="3">
                  <c:v>2025</c:v>
                </c:pt>
              </c:strCache>
            </c:strRef>
          </c:cat>
          <c:val>
            <c:numRef>
              <c:f>Sheet1!$D$2:$D$5</c:f>
              <c:numCache>
                <c:formatCode>General</c:formatCode>
                <c:ptCount val="4"/>
                <c:pt idx="0">
                  <c:v>41.6</c:v>
                </c:pt>
                <c:pt idx="1">
                  <c:v>33.9</c:v>
                </c:pt>
                <c:pt idx="2">
                  <c:v>10.1</c:v>
                </c:pt>
                <c:pt idx="3">
                  <c:v>6.7</c:v>
                </c:pt>
              </c:numCache>
            </c:numRef>
          </c:val>
          <c:extLst>
            <c:ext xmlns:c16="http://schemas.microsoft.com/office/drawing/2014/chart" uri="{C3380CC4-5D6E-409C-BE32-E72D297353CC}">
              <c16:uniqueId val="{00000002-6CA0-4C7D-B118-ABD7E2470D28}"/>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6B7570"/>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Hommes</c:v>
                </c:pt>
              </c:strCache>
            </c:strRef>
          </c:tx>
          <c:spPr>
            <a:ln w="38100" cap="flat">
              <a:solidFill>
                <a:srgbClr val="2E6E8E"/>
              </a:solidFill>
              <a:prstDash val="solid"/>
              <a:round/>
            </a:ln>
            <a:effectLst/>
          </c:spPr>
          <c:marker>
            <c:symbol val="circle"/>
            <c:size val="8"/>
            <c:spPr>
              <a:solidFill>
                <a:srgbClr val="2E6E8E"/>
              </a:solidFill>
              <a:ln w="9525" cap="flat">
                <a:solidFill>
                  <a:srgbClr val="2E6E8E"/>
                </a:solidFill>
                <a:prstDash val="solid"/>
                <a:round/>
              </a:ln>
              <a:effectLst/>
            </c:spPr>
          </c:marker>
          <c:dLbls>
            <c:numFmt formatCode="0.0&quot;%&quot;" sourceLinked="0"/>
            <c:spPr>
              <a:noFill/>
              <a:ln>
                <a:noFill/>
              </a:ln>
              <a:effectLst/>
            </c:spPr>
            <c:txPr>
              <a:bodyPr/>
              <a:lstStyle/>
              <a:p>
                <a:pPr>
                  <a:defRPr sz="1100" b="1" i="0" u="none" strike="noStrike">
                    <a:solidFill>
                      <a:srgbClr val="223029"/>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69.5</c:v>
                </c:pt>
                <c:pt idx="1">
                  <c:v>67.5</c:v>
                </c:pt>
                <c:pt idx="2">
                  <c:v>71.599999999999994</c:v>
                </c:pt>
                <c:pt idx="3">
                  <c:v>67.2</c:v>
                </c:pt>
              </c:numCache>
            </c:numRef>
          </c:val>
          <c:smooth val="0"/>
          <c:extLst>
            <c:ext xmlns:c16="http://schemas.microsoft.com/office/drawing/2014/chart" uri="{C3380CC4-5D6E-409C-BE32-E72D297353CC}">
              <c16:uniqueId val="{00000000-1EC4-4D27-A183-1098E75A95E3}"/>
            </c:ext>
          </c:extLst>
        </c:ser>
        <c:ser>
          <c:idx val="1"/>
          <c:order val="1"/>
          <c:tx>
            <c:strRef>
              <c:f>Sheet1!$C$1</c:f>
              <c:strCache>
                <c:ptCount val="1"/>
                <c:pt idx="0">
                  <c:v>Femmes</c:v>
                </c:pt>
              </c:strCache>
            </c:strRef>
          </c:tx>
          <c:spPr>
            <a:ln w="38100" cap="flat">
              <a:solidFill>
                <a:srgbClr val="D14D57"/>
              </a:solidFill>
              <a:prstDash val="solid"/>
              <a:round/>
            </a:ln>
            <a:effectLst/>
          </c:spPr>
          <c:marker>
            <c:symbol val="circle"/>
            <c:size val="8"/>
            <c:spPr>
              <a:solidFill>
                <a:srgbClr val="D14D57"/>
              </a:solidFill>
              <a:ln w="9525" cap="flat">
                <a:solidFill>
                  <a:srgbClr val="D14D57"/>
                </a:solidFill>
                <a:prstDash val="solid"/>
                <a:round/>
              </a:ln>
              <a:effectLst/>
            </c:spPr>
          </c:marker>
          <c:dLbls>
            <c:numFmt formatCode="0.0&quot;%&quot;" sourceLinked="0"/>
            <c:spPr>
              <a:noFill/>
              <a:ln>
                <a:noFill/>
              </a:ln>
              <a:effectLst/>
            </c:spPr>
            <c:txPr>
              <a:bodyPr/>
              <a:lstStyle/>
              <a:p>
                <a:pPr>
                  <a:defRPr sz="1100" b="1" i="0" u="none" strike="noStrike">
                    <a:solidFill>
                      <a:srgbClr val="223029"/>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Sheet1!$C$2:$C$5</c:f>
              <c:numCache>
                <c:formatCode>General</c:formatCode>
                <c:ptCount val="4"/>
                <c:pt idx="0">
                  <c:v>30.5</c:v>
                </c:pt>
                <c:pt idx="1">
                  <c:v>32.5</c:v>
                </c:pt>
                <c:pt idx="2">
                  <c:v>28.4</c:v>
                </c:pt>
                <c:pt idx="3">
                  <c:v>32.799999999999997</c:v>
                </c:pt>
              </c:numCache>
            </c:numRef>
          </c:val>
          <c:smooth val="0"/>
          <c:extLst>
            <c:ext xmlns:c16="http://schemas.microsoft.com/office/drawing/2014/chart" uri="{C3380CC4-5D6E-409C-BE32-E72D297353CC}">
              <c16:uniqueId val="{00000001-1EC4-4D27-A183-1098E75A95E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2E6E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570"/>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6B7570"/>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20-24 ans</c:v>
                </c:pt>
              </c:strCache>
            </c:strRef>
          </c:tx>
          <c:spPr>
            <a:ln w="34925" cap="flat">
              <a:solidFill>
                <a:srgbClr val="B23A2E"/>
              </a:solidFill>
              <a:prstDash val="solid"/>
              <a:round/>
            </a:ln>
            <a:effectLst/>
          </c:spPr>
          <c:marker>
            <c:symbol val="circle"/>
            <c:size val="6"/>
            <c:spPr>
              <a:solidFill>
                <a:srgbClr val="B23A2E"/>
              </a:solidFill>
              <a:ln w="9525" cap="flat">
                <a:solidFill>
                  <a:srgbClr val="B23A2E"/>
                </a:solidFill>
                <a:prstDash val="solid"/>
                <a:round/>
              </a:ln>
              <a:effectLst/>
            </c:spPr>
          </c:marker>
          <c:cat>
            <c:strRef>
              <c:f>Sheet1!$A$2:$A$5</c:f>
              <c:strCache>
                <c:ptCount val="4"/>
                <c:pt idx="0">
                  <c:v>2022</c:v>
                </c:pt>
                <c:pt idx="1">
                  <c:v>2023</c:v>
                </c:pt>
                <c:pt idx="2">
                  <c:v>2024</c:v>
                </c:pt>
                <c:pt idx="3">
                  <c:v>2025</c:v>
                </c:pt>
              </c:strCache>
            </c:strRef>
          </c:cat>
          <c:val>
            <c:numRef>
              <c:f>Sheet1!$B$2:$B$5</c:f>
              <c:numCache>
                <c:formatCode>General</c:formatCode>
                <c:ptCount val="4"/>
                <c:pt idx="0">
                  <c:v>1.2</c:v>
                </c:pt>
                <c:pt idx="1">
                  <c:v>2.4</c:v>
                </c:pt>
                <c:pt idx="2">
                  <c:v>7.1</c:v>
                </c:pt>
                <c:pt idx="3">
                  <c:v>8.5</c:v>
                </c:pt>
              </c:numCache>
            </c:numRef>
          </c:val>
          <c:smooth val="0"/>
          <c:extLst>
            <c:ext xmlns:c16="http://schemas.microsoft.com/office/drawing/2014/chart" uri="{C3380CC4-5D6E-409C-BE32-E72D297353CC}">
              <c16:uniqueId val="{00000000-0907-4E17-8A79-AC861F8AF982}"/>
            </c:ext>
          </c:extLst>
        </c:ser>
        <c:ser>
          <c:idx val="1"/>
          <c:order val="1"/>
          <c:tx>
            <c:strRef>
              <c:f>Sheet1!$C$1</c:f>
              <c:strCache>
                <c:ptCount val="1"/>
                <c:pt idx="0">
                  <c:v>25-29 ans</c:v>
                </c:pt>
              </c:strCache>
            </c:strRef>
          </c:tx>
          <c:spPr>
            <a:ln w="34925" cap="flat">
              <a:solidFill>
                <a:srgbClr val="C9A227"/>
              </a:solidFill>
              <a:prstDash val="solid"/>
              <a:round/>
            </a:ln>
            <a:effectLst/>
          </c:spPr>
          <c:marker>
            <c:symbol val="circle"/>
            <c:size val="6"/>
            <c:spPr>
              <a:solidFill>
                <a:srgbClr val="C9A227"/>
              </a:solidFill>
              <a:ln w="9525" cap="flat">
                <a:solidFill>
                  <a:srgbClr val="C9A227"/>
                </a:solidFill>
                <a:prstDash val="solid"/>
                <a:round/>
              </a:ln>
              <a:effectLst/>
            </c:spPr>
          </c:marker>
          <c:cat>
            <c:strRef>
              <c:f>Sheet1!$A$2:$A$5</c:f>
              <c:strCache>
                <c:ptCount val="4"/>
                <c:pt idx="0">
                  <c:v>2022</c:v>
                </c:pt>
                <c:pt idx="1">
                  <c:v>2023</c:v>
                </c:pt>
                <c:pt idx="2">
                  <c:v>2024</c:v>
                </c:pt>
                <c:pt idx="3">
                  <c:v>2025</c:v>
                </c:pt>
              </c:strCache>
            </c:strRef>
          </c:cat>
          <c:val>
            <c:numRef>
              <c:f>Sheet1!$C$2:$C$5</c:f>
              <c:numCache>
                <c:formatCode>General</c:formatCode>
                <c:ptCount val="4"/>
                <c:pt idx="0">
                  <c:v>14.7</c:v>
                </c:pt>
                <c:pt idx="1">
                  <c:v>21.5</c:v>
                </c:pt>
                <c:pt idx="2">
                  <c:v>25.1</c:v>
                </c:pt>
                <c:pt idx="3">
                  <c:v>21.2</c:v>
                </c:pt>
              </c:numCache>
            </c:numRef>
          </c:val>
          <c:smooth val="0"/>
          <c:extLst>
            <c:ext xmlns:c16="http://schemas.microsoft.com/office/drawing/2014/chart" uri="{C3380CC4-5D6E-409C-BE32-E72D297353CC}">
              <c16:uniqueId val="{00000001-0907-4E17-8A79-AC861F8AF982}"/>
            </c:ext>
          </c:extLst>
        </c:ser>
        <c:ser>
          <c:idx val="2"/>
          <c:order val="2"/>
          <c:tx>
            <c:strRef>
              <c:f>Sheet1!$D$1</c:f>
              <c:strCache>
                <c:ptCount val="1"/>
                <c:pt idx="0">
                  <c:v>30-34 ans</c:v>
                </c:pt>
              </c:strCache>
            </c:strRef>
          </c:tx>
          <c:spPr>
            <a:ln w="34925" cap="flat">
              <a:solidFill>
                <a:srgbClr val="0B3D2E"/>
              </a:solidFill>
              <a:prstDash val="solid"/>
              <a:round/>
            </a:ln>
            <a:effectLst/>
          </c:spPr>
          <c:marker>
            <c:symbol val="circle"/>
            <c:size val="6"/>
            <c:spPr>
              <a:solidFill>
                <a:srgbClr val="0B3D2E"/>
              </a:solidFill>
              <a:ln w="9525" cap="flat">
                <a:solidFill>
                  <a:srgbClr val="0B3D2E"/>
                </a:solidFill>
                <a:prstDash val="solid"/>
                <a:round/>
              </a:ln>
              <a:effectLst/>
            </c:spPr>
          </c:marker>
          <c:cat>
            <c:strRef>
              <c:f>Sheet1!$A$2:$A$5</c:f>
              <c:strCache>
                <c:ptCount val="4"/>
                <c:pt idx="0">
                  <c:v>2022</c:v>
                </c:pt>
                <c:pt idx="1">
                  <c:v>2023</c:v>
                </c:pt>
                <c:pt idx="2">
                  <c:v>2024</c:v>
                </c:pt>
                <c:pt idx="3">
                  <c:v>2025</c:v>
                </c:pt>
              </c:strCache>
            </c:strRef>
          </c:cat>
          <c:val>
            <c:numRef>
              <c:f>Sheet1!$D$2:$D$5</c:f>
              <c:numCache>
                <c:formatCode>General</c:formatCode>
                <c:ptCount val="4"/>
                <c:pt idx="0">
                  <c:v>27.1</c:v>
                </c:pt>
                <c:pt idx="1">
                  <c:v>27.6</c:v>
                </c:pt>
                <c:pt idx="2">
                  <c:v>22</c:v>
                </c:pt>
                <c:pt idx="3">
                  <c:v>23.3</c:v>
                </c:pt>
              </c:numCache>
            </c:numRef>
          </c:val>
          <c:smooth val="0"/>
          <c:extLst>
            <c:ext xmlns:c16="http://schemas.microsoft.com/office/drawing/2014/chart" uri="{C3380CC4-5D6E-409C-BE32-E72D297353CC}">
              <c16:uniqueId val="{00000002-0907-4E17-8A79-AC861F8AF982}"/>
            </c:ext>
          </c:extLst>
        </c:ser>
        <c:ser>
          <c:idx val="3"/>
          <c:order val="3"/>
          <c:tx>
            <c:strRef>
              <c:f>Sheet1!$E$1</c:f>
              <c:strCache>
                <c:ptCount val="1"/>
                <c:pt idx="0">
                  <c:v>40-44 ans</c:v>
                </c:pt>
              </c:strCache>
            </c:strRef>
          </c:tx>
          <c:spPr>
            <a:ln w="34925" cap="flat">
              <a:solidFill>
                <a:srgbClr val="2E6E8E"/>
              </a:solidFill>
              <a:prstDash val="solid"/>
              <a:round/>
            </a:ln>
            <a:effectLst/>
          </c:spPr>
          <c:marker>
            <c:symbol val="circle"/>
            <c:size val="6"/>
            <c:spPr>
              <a:solidFill>
                <a:srgbClr val="2E6E8E"/>
              </a:solidFill>
              <a:ln w="9525" cap="flat">
                <a:solidFill>
                  <a:srgbClr val="2E6E8E"/>
                </a:solidFill>
                <a:prstDash val="solid"/>
                <a:round/>
              </a:ln>
              <a:effectLst/>
            </c:spPr>
          </c:marker>
          <c:cat>
            <c:strRef>
              <c:f>Sheet1!$A$2:$A$5</c:f>
              <c:strCache>
                <c:ptCount val="4"/>
                <c:pt idx="0">
                  <c:v>2022</c:v>
                </c:pt>
                <c:pt idx="1">
                  <c:v>2023</c:v>
                </c:pt>
                <c:pt idx="2">
                  <c:v>2024</c:v>
                </c:pt>
                <c:pt idx="3">
                  <c:v>2025</c:v>
                </c:pt>
              </c:strCache>
            </c:strRef>
          </c:cat>
          <c:val>
            <c:numRef>
              <c:f>Sheet1!$E$2:$E$5</c:f>
              <c:numCache>
                <c:formatCode>General</c:formatCode>
                <c:ptCount val="4"/>
                <c:pt idx="0">
                  <c:v>15.8</c:v>
                </c:pt>
                <c:pt idx="1">
                  <c:v>13</c:v>
                </c:pt>
                <c:pt idx="2">
                  <c:v>11.2</c:v>
                </c:pt>
                <c:pt idx="3">
                  <c:v>10.199999999999999</c:v>
                </c:pt>
              </c:numCache>
            </c:numRef>
          </c:val>
          <c:smooth val="0"/>
          <c:extLst>
            <c:ext xmlns:c16="http://schemas.microsoft.com/office/drawing/2014/chart" uri="{C3380CC4-5D6E-409C-BE32-E72D297353CC}">
              <c16:uniqueId val="{00000003-0907-4E17-8A79-AC861F8AF98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12700" cap="flat">
              <a:solidFill>
                <a:srgbClr val="E2E6E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B7570"/>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6B7570"/>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Part</c:v>
                </c:pt>
              </c:strCache>
            </c:strRef>
          </c:tx>
          <c:spPr>
            <a:solidFill>
              <a:srgbClr val="1B6B4C">
                <a:alpha val="100000"/>
              </a:srgbClr>
            </a:solidFill>
            <a:effectLst/>
          </c:spPr>
          <c:invertIfNegative val="0"/>
          <c:dLbls>
            <c:numFmt formatCode="0.0&quot;%&quot;" sourceLinked="0"/>
            <c:spPr>
              <a:noFill/>
              <a:ln>
                <a:noFill/>
              </a:ln>
              <a:effectLst/>
            </c:spPr>
            <c:txPr>
              <a:bodyPr/>
              <a:lstStyle/>
              <a:p>
                <a:pPr>
                  <a:defRPr sz="950" b="0" i="0" u="none" strike="noStrike">
                    <a:solidFill>
                      <a:srgbClr val="22302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20-24 ans</c:v>
                </c:pt>
                <c:pt idx="1">
                  <c:v>25-29 ans</c:v>
                </c:pt>
                <c:pt idx="2">
                  <c:v>30-34 ans</c:v>
                </c:pt>
                <c:pt idx="3">
                  <c:v>35-39 ans</c:v>
                </c:pt>
                <c:pt idx="4">
                  <c:v>40-44 ans</c:v>
                </c:pt>
                <c:pt idx="5">
                  <c:v>45-49 ans</c:v>
                </c:pt>
                <c:pt idx="6">
                  <c:v>50-54 ans</c:v>
                </c:pt>
                <c:pt idx="7">
                  <c:v>55-59 ans</c:v>
                </c:pt>
                <c:pt idx="8">
                  <c:v>60 ans ou plus</c:v>
                </c:pt>
              </c:strCache>
            </c:strRef>
          </c:cat>
          <c:val>
            <c:numRef>
              <c:f>Sheet1!$B$2:$B$10</c:f>
              <c:numCache>
                <c:formatCode>General</c:formatCode>
                <c:ptCount val="9"/>
                <c:pt idx="0">
                  <c:v>4.0999999999999996</c:v>
                </c:pt>
                <c:pt idx="1">
                  <c:v>19.600000000000001</c:v>
                </c:pt>
                <c:pt idx="2">
                  <c:v>25.5</c:v>
                </c:pt>
                <c:pt idx="3">
                  <c:v>18.600000000000001</c:v>
                </c:pt>
                <c:pt idx="4">
                  <c:v>13.1</c:v>
                </c:pt>
                <c:pt idx="5">
                  <c:v>8.5</c:v>
                </c:pt>
                <c:pt idx="6">
                  <c:v>5.7</c:v>
                </c:pt>
                <c:pt idx="7">
                  <c:v>3.3</c:v>
                </c:pt>
                <c:pt idx="8">
                  <c:v>1.6</c:v>
                </c:pt>
              </c:numCache>
            </c:numRef>
          </c:val>
          <c:extLst>
            <c:ext xmlns:c16="http://schemas.microsoft.com/office/drawing/2014/chart" uri="{C3380CC4-5D6E-409C-BE32-E72D297353CC}">
              <c16:uniqueId val="{00000000-0638-40A8-92AD-53453D4CEF0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Inscrits / 100k</c:v>
                </c:pt>
              </c:strCache>
            </c:strRef>
          </c:tx>
          <c:spPr>
            <a:solidFill>
              <a:srgbClr val="0B3D2E">
                <a:alpha val="100000"/>
              </a:srgbClr>
            </a:solidFill>
            <a:effectLst/>
          </c:spPr>
          <c:invertIfNegative val="0"/>
          <c:dLbls>
            <c:numFmt formatCode="0.0" sourceLinked="0"/>
            <c:spPr>
              <a:noFill/>
              <a:ln>
                <a:noFill/>
              </a:ln>
              <a:effectLst/>
            </c:spPr>
            <c:txPr>
              <a:bodyPr/>
              <a:lstStyle/>
              <a:p>
                <a:pPr>
                  <a:defRPr sz="950" b="0" i="0" u="none" strike="noStrike">
                    <a:solidFill>
                      <a:srgbClr val="22302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DROM</c:v>
                </c:pt>
                <c:pt idx="1">
                  <c:v>Bourgogne-Franche-Comté</c:v>
                </c:pt>
                <c:pt idx="2">
                  <c:v>Normandie</c:v>
                </c:pt>
                <c:pt idx="3">
                  <c:v>Pays de la Loire</c:v>
                </c:pt>
                <c:pt idx="4">
                  <c:v>Bretagne</c:v>
                </c:pt>
                <c:pt idx="5">
                  <c:v>Grand Est</c:v>
                </c:pt>
                <c:pt idx="6">
                  <c:v>Occitanie</c:v>
                </c:pt>
                <c:pt idx="7">
                  <c:v>Centre-Val de Loire</c:v>
                </c:pt>
                <c:pt idx="8">
                  <c:v>Nouvelle-Aquitaine</c:v>
                </c:pt>
                <c:pt idx="9">
                  <c:v>Hauts-de-France</c:v>
                </c:pt>
                <c:pt idx="10">
                  <c:v>Auvergne-Rhône-Alpes</c:v>
                </c:pt>
                <c:pt idx="11">
                  <c:v>Provence-Alpes-Côte d'Azur</c:v>
                </c:pt>
                <c:pt idx="12">
                  <c:v>Île-de-France</c:v>
                </c:pt>
              </c:strCache>
            </c:strRef>
          </c:cat>
          <c:val>
            <c:numRef>
              <c:f>Sheet1!$B$2:$B$14</c:f>
              <c:numCache>
                <c:formatCode>General</c:formatCode>
                <c:ptCount val="13"/>
                <c:pt idx="0">
                  <c:v>2.1</c:v>
                </c:pt>
                <c:pt idx="1">
                  <c:v>2.8</c:v>
                </c:pt>
                <c:pt idx="2">
                  <c:v>3.4</c:v>
                </c:pt>
                <c:pt idx="3">
                  <c:v>4.0999999999999996</c:v>
                </c:pt>
                <c:pt idx="4">
                  <c:v>4.0999999999999996</c:v>
                </c:pt>
                <c:pt idx="5">
                  <c:v>4.5999999999999996</c:v>
                </c:pt>
                <c:pt idx="6">
                  <c:v>4.7</c:v>
                </c:pt>
                <c:pt idx="7">
                  <c:v>4.7</c:v>
                </c:pt>
                <c:pt idx="8">
                  <c:v>4.8</c:v>
                </c:pt>
                <c:pt idx="9">
                  <c:v>5</c:v>
                </c:pt>
                <c:pt idx="10">
                  <c:v>5.3</c:v>
                </c:pt>
                <c:pt idx="11">
                  <c:v>5.7</c:v>
                </c:pt>
                <c:pt idx="12">
                  <c:v>17.100000000000001</c:v>
                </c:pt>
              </c:numCache>
            </c:numRef>
          </c:val>
          <c:extLst>
            <c:ext xmlns:c16="http://schemas.microsoft.com/office/drawing/2014/chart" uri="{C3380CC4-5D6E-409C-BE32-E72D297353CC}">
              <c16:uniqueId val="{00000000-8086-4DE6-8EEA-EB50A89ED04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Inscrits/100k</c:v>
                </c:pt>
              </c:strCache>
            </c:strRef>
          </c:tx>
          <c:spPr>
            <a:ln>
              <a:noFill/>
            </a:ln>
            <a:effectLst/>
          </c:spPr>
          <c:marker>
            <c:symbol val="circle"/>
            <c:size val="9"/>
            <c:spPr>
              <a:solidFill>
                <a:srgbClr val="0B3D2E"/>
              </a:solidFill>
              <a:ln w="9525" cap="flat">
                <a:solidFill>
                  <a:srgbClr val="0B3D2E"/>
                </a:solidFill>
                <a:prstDash val="solid"/>
                <a:round/>
              </a:ln>
              <a:effectLst/>
            </c:spPr>
          </c:marker>
          <c:xVal>
            <c:numRef>
              <c:f>Sheet1!$A$2:$A$13</c:f>
              <c:numCache>
                <c:formatCode>General</c:formatCode>
                <c:ptCount val="12"/>
                <c:pt idx="0">
                  <c:v>6.6</c:v>
                </c:pt>
                <c:pt idx="1">
                  <c:v>7.1</c:v>
                </c:pt>
                <c:pt idx="2">
                  <c:v>5.9</c:v>
                </c:pt>
                <c:pt idx="3">
                  <c:v>6</c:v>
                </c:pt>
                <c:pt idx="4">
                  <c:v>7.3</c:v>
                </c:pt>
                <c:pt idx="5">
                  <c:v>8.8000000000000007</c:v>
                </c:pt>
                <c:pt idx="6">
                  <c:v>6.9</c:v>
                </c:pt>
                <c:pt idx="7">
                  <c:v>6.6</c:v>
                </c:pt>
                <c:pt idx="8">
                  <c:v>9</c:v>
                </c:pt>
                <c:pt idx="9">
                  <c:v>6.4</c:v>
                </c:pt>
                <c:pt idx="10">
                  <c:v>7.8</c:v>
                </c:pt>
                <c:pt idx="11">
                  <c:v>7</c:v>
                </c:pt>
              </c:numCache>
            </c:numRef>
          </c:xVal>
          <c:yVal>
            <c:numRef>
              <c:f>Sheet1!$B$2:$B$13</c:f>
              <c:numCache>
                <c:formatCode>General</c:formatCode>
                <c:ptCount val="12"/>
                <c:pt idx="0">
                  <c:v>2.8</c:v>
                </c:pt>
                <c:pt idx="1">
                  <c:v>3.4</c:v>
                </c:pt>
                <c:pt idx="2">
                  <c:v>4.0999999999999996</c:v>
                </c:pt>
                <c:pt idx="3">
                  <c:v>4.0999999999999996</c:v>
                </c:pt>
                <c:pt idx="4">
                  <c:v>4.5999999999999996</c:v>
                </c:pt>
                <c:pt idx="5">
                  <c:v>4.7</c:v>
                </c:pt>
                <c:pt idx="6">
                  <c:v>4.7</c:v>
                </c:pt>
                <c:pt idx="7">
                  <c:v>4.8</c:v>
                </c:pt>
                <c:pt idx="8">
                  <c:v>5</c:v>
                </c:pt>
                <c:pt idx="9">
                  <c:v>5.3</c:v>
                </c:pt>
                <c:pt idx="10">
                  <c:v>5.7</c:v>
                </c:pt>
                <c:pt idx="11">
                  <c:v>17.100000000000001</c:v>
                </c:pt>
              </c:numCache>
            </c:numRef>
          </c:yVal>
          <c:smooth val="0"/>
          <c:extLst>
            <c:ext xmlns:c16="http://schemas.microsoft.com/office/drawing/2014/chart" uri="{C3380CC4-5D6E-409C-BE32-E72D297353CC}">
              <c16:uniqueId val="{00000000-AB13-4206-94F1-CBF23B135CE6}"/>
            </c:ext>
          </c:extLst>
        </c:ser>
        <c:dLbls>
          <c:showLegendKey val="0"/>
          <c:showVal val="0"/>
          <c:showCatName val="0"/>
          <c:showSerName val="0"/>
          <c:showPercent val="0"/>
          <c:showBubbleSize val="0"/>
        </c:dLbls>
        <c:axId val="2094734554"/>
        <c:axId val="2094734552"/>
      </c:scatterChart>
      <c:valAx>
        <c:axId val="2094734554"/>
        <c:scaling>
          <c:orientation val="minMax"/>
          <c:max val="10"/>
          <c:min val="5"/>
        </c:scaling>
        <c:delete val="0"/>
        <c:axPos val="b"/>
        <c:title>
          <c:tx>
            <c:rich>
              <a:bodyPr/>
              <a:lstStyle/>
              <a:p>
                <a:pPr>
                  <a:defRPr sz="1000" b="0" i="0" u="none" strike="noStrike">
                    <a:solidFill>
                      <a:srgbClr val="6B7570"/>
                    </a:solidFill>
                    <a:latin typeface="Arial"/>
                  </a:defRPr>
                </a:pPr>
                <a:r>
                  <a:rPr lang="en-US" sz="1000" b="0" i="0" u="none" strike="noStrike">
                    <a:solidFill>
                      <a:srgbClr val="6B7570"/>
                    </a:solidFill>
                    <a:latin typeface="Arial"/>
                  </a:rPr>
                  <a:t>Taux de chômage (%)</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crossBetween val="midCat"/>
      </c:valAx>
      <c:valAx>
        <c:axId val="2094734552"/>
        <c:scaling>
          <c:orientation val="minMax"/>
          <c:max val="20"/>
          <c:min val="0"/>
        </c:scaling>
        <c:delete val="0"/>
        <c:axPos val="l"/>
        <c:majorGridlines>
          <c:spPr>
            <a:ln w="12700" cap="flat">
              <a:solidFill>
                <a:srgbClr val="E2E6E3"/>
              </a:solidFill>
              <a:prstDash val="solid"/>
              <a:round/>
            </a:ln>
          </c:spPr>
        </c:majorGridlines>
        <c:title>
          <c:tx>
            <c:rich>
              <a:bodyPr/>
              <a:lstStyle/>
              <a:p>
                <a:pPr>
                  <a:defRPr sz="1000" b="0" i="0" u="none" strike="noStrike">
                    <a:solidFill>
                      <a:srgbClr val="6B7570"/>
                    </a:solidFill>
                    <a:latin typeface="Arial"/>
                  </a:defRPr>
                </a:pPr>
                <a:r>
                  <a:rPr lang="en-US" sz="1000" b="0" i="0" u="none" strike="noStrike">
                    <a:solidFill>
                      <a:srgbClr val="6B7570"/>
                    </a:solidFill>
                    <a:latin typeface="Arial"/>
                  </a:rPr>
                  <a:t>Inscrits / 100k</a:t>
                </a:r>
              </a:p>
            </c:rich>
          </c:tx>
          <c:overlay val="0"/>
        </c:title>
        <c:numFmt formatCode="General" sourceLinked="0"/>
        <c:majorTickMark val="none"/>
        <c:minorTickMark val="none"/>
        <c:tickLblPos val="nextTo"/>
        <c:spPr>
          <a:ln w="12700" cap="flat">
            <a:noFill/>
            <a:prstDash val="solid"/>
            <a:round/>
          </a:ln>
        </c:spPr>
        <c:txPr>
          <a:bodyPr/>
          <a:lstStyle/>
          <a:p>
            <a:pPr>
              <a:defRPr sz="1000" b="0" i="0" u="none" strike="noStrike">
                <a:solidFill>
                  <a:srgbClr val="6B7570"/>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Inscriptions</c:v>
                </c:pt>
              </c:strCache>
            </c:strRef>
          </c:tx>
          <c:spPr>
            <a:solidFill>
              <a:srgbClr val="2E6E8E">
                <a:alpha val="100000"/>
              </a:srgbClr>
            </a:solidFill>
            <a:effectLst/>
          </c:spPr>
          <c:invertIfNegative val="0"/>
          <c:dLbls>
            <c:numFmt formatCode="#,##0" sourceLinked="0"/>
            <c:spPr>
              <a:noFill/>
              <a:ln>
                <a:noFill/>
              </a:ln>
              <a:effectLst/>
            </c:spPr>
            <c:txPr>
              <a:bodyPr/>
              <a:lstStyle/>
              <a:p>
                <a:pPr>
                  <a:defRPr sz="1000" b="1" i="0" u="none" strike="noStrike">
                    <a:solidFill>
                      <a:srgbClr val="22302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 · 30-34 ans · Île-de-France</c:v>
                </c:pt>
                <c:pt idx="1">
                  <c:v>M · 25-29 ans · Île-de-France</c:v>
                </c:pt>
                <c:pt idx="2">
                  <c:v>M · 35-39 ans · Île-de-France</c:v>
                </c:pt>
                <c:pt idx="3">
                  <c:v>F · 30-34 ans · Île-de-France</c:v>
                </c:pt>
                <c:pt idx="4">
                  <c:v>M · 40-44 ans · Île-de-France</c:v>
                </c:pt>
                <c:pt idx="5">
                  <c:v>F · 35-39 ans · Île-de-France</c:v>
                </c:pt>
                <c:pt idx="6">
                  <c:v>F · 25-29 ans · Île-de-France</c:v>
                </c:pt>
                <c:pt idx="7">
                  <c:v>F · 40-44 ans · Île-de-France</c:v>
                </c:pt>
              </c:strCache>
            </c:strRef>
          </c:cat>
          <c:val>
            <c:numRef>
              <c:f>Sheet1!$B$2:$B$9</c:f>
              <c:numCache>
                <c:formatCode>General</c:formatCode>
                <c:ptCount val="8"/>
                <c:pt idx="0">
                  <c:v>224</c:v>
                </c:pt>
                <c:pt idx="1">
                  <c:v>209</c:v>
                </c:pt>
                <c:pt idx="2">
                  <c:v>174</c:v>
                </c:pt>
                <c:pt idx="3">
                  <c:v>152</c:v>
                </c:pt>
                <c:pt idx="4">
                  <c:v>121</c:v>
                </c:pt>
                <c:pt idx="5">
                  <c:v>117</c:v>
                </c:pt>
                <c:pt idx="6">
                  <c:v>104</c:v>
                </c:pt>
                <c:pt idx="7">
                  <c:v>79</c:v>
                </c:pt>
              </c:numCache>
            </c:numRef>
          </c:val>
          <c:extLst>
            <c:ext xmlns:c16="http://schemas.microsoft.com/office/drawing/2014/chart" uri="{C3380CC4-5D6E-409C-BE32-E72D297353CC}">
              <c16:uniqueId val="{00000000-1F6B-477A-A17B-C4F0D131995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Part F</c:v>
                </c:pt>
              </c:strCache>
            </c:strRef>
          </c:tx>
          <c:spPr>
            <a:solidFill>
              <a:srgbClr val="AAB0AC">
                <a:alpha val="100000"/>
              </a:srgbClr>
            </a:solidFill>
            <a:effectLst/>
          </c:spPr>
          <c:invertIfNegative val="0"/>
          <c:dPt>
            <c:idx val="0"/>
            <c:invertIfNegative val="0"/>
            <c:bubble3D val="0"/>
            <c:spPr>
              <a:solidFill>
                <a:srgbClr val="AAB0AC"/>
              </a:solidFill>
              <a:effectLst/>
            </c:spPr>
            <c:extLst>
              <c:ext xmlns:c16="http://schemas.microsoft.com/office/drawing/2014/chart" uri="{C3380CC4-5D6E-409C-BE32-E72D297353CC}">
                <c16:uniqueId val="{00000001-8192-447F-8498-5E03C4AD072C}"/>
              </c:ext>
            </c:extLst>
          </c:dPt>
          <c:dPt>
            <c:idx val="1"/>
            <c:invertIfNegative val="0"/>
            <c:bubble3D val="0"/>
            <c:spPr>
              <a:solidFill>
                <a:srgbClr val="D14D57"/>
              </a:solidFill>
              <a:effectLst/>
            </c:spPr>
            <c:extLst>
              <c:ext xmlns:c16="http://schemas.microsoft.com/office/drawing/2014/chart" uri="{C3380CC4-5D6E-409C-BE32-E72D297353CC}">
                <c16:uniqueId val="{00000003-8192-447F-8498-5E03C4AD072C}"/>
              </c:ext>
            </c:extLst>
          </c:dPt>
          <c:dPt>
            <c:idx val="2"/>
            <c:invertIfNegative val="0"/>
            <c:bubble3D val="0"/>
            <c:spPr>
              <a:solidFill>
                <a:srgbClr val="6FAE8F"/>
              </a:solidFill>
              <a:effectLst/>
            </c:spPr>
            <c:extLst>
              <c:ext xmlns:c16="http://schemas.microsoft.com/office/drawing/2014/chart" uri="{C3380CC4-5D6E-409C-BE32-E72D297353CC}">
                <c16:uniqueId val="{00000005-8192-447F-8498-5E03C4AD072C}"/>
              </c:ext>
            </c:extLst>
          </c:dPt>
          <c:dLbls>
            <c:numFmt formatCode="0&quot;%&quot;" sourceLinked="0"/>
            <c:spPr>
              <a:noFill/>
              <a:ln>
                <a:noFill/>
              </a:ln>
              <a:effectLst/>
            </c:spPr>
            <c:txPr>
              <a:bodyPr/>
              <a:lstStyle/>
              <a:p>
                <a:pPr>
                  <a:defRPr sz="1300" b="1" i="0" u="none" strike="noStrike">
                    <a:solidFill>
                      <a:srgbClr val="22302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Population FR*</c:v>
                </c:pt>
                <c:pt idx="1">
                  <c:v>Inscrits OC
(hors NR)</c:v>
                </c:pt>
                <c:pt idx="2">
                  <c:v>Métiers du
numérique*</c:v>
                </c:pt>
              </c:strCache>
            </c:strRef>
          </c:cat>
          <c:val>
            <c:numRef>
              <c:f>Sheet1!$B$2:$B$4</c:f>
              <c:numCache>
                <c:formatCode>General</c:formatCode>
                <c:ptCount val="3"/>
                <c:pt idx="0">
                  <c:v>51</c:v>
                </c:pt>
                <c:pt idx="1">
                  <c:v>31</c:v>
                </c:pt>
                <c:pt idx="2">
                  <c:v>29</c:v>
                </c:pt>
              </c:numCache>
            </c:numRef>
          </c:val>
          <c:extLst>
            <c:ext xmlns:c16="http://schemas.microsoft.com/office/drawing/2014/chart" uri="{C3380CC4-5D6E-409C-BE32-E72D297353CC}">
              <c16:uniqueId val="{00000006-8192-447F-8498-5E03C4AD072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570"/>
                </a:solidFill>
                <a:latin typeface="Calibri"/>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12700" cap="flat">
              <a:solidFill>
                <a:srgbClr val="E2E6E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6B7570"/>
                </a:solidFill>
                <a:latin typeface="Calibri"/>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786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présente l'analyse rétrospective du profil sociodémographique des étudiants du parcours Data d'OpenClassrooms, sur quatre ans, de 2022 à 2025. L'objectif est d'objectiver les tendances d'âge, de genre et de région, à partir d'un pipeline DBT fiabilisé, conforme au RGPD et enrichi de données publiques INSEE. Je vais dérouler la méthode, les résultats, puis les recommandations.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conducteur. Je commence par le contexte et les objectifs, puis la méthodologie et le pipeline DBT, les sources et le volet RGPD. Viennent ensuite les quatre analyses — volume, genre, âge et géographie — et je termine par les enseignements et les recommandations. Comptez une quinzaine de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besoin vient de la direction pédagogique : mieux comprendre qui sont nos étudiants Data et comment leur profil évolue, pour éclairer les décisions sur l'accessibilité et l'égalité des chances. Point important sur ma démarche : je compare systématiquement notre profil à la population française via l'INSEE, pour distinguer ce qui est propre à OC de ce qui reflète simplement le secteur du numérique.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suit une architecture en trois couches. Bronze : les données brutes OC dans Snowflake, plus les référentiels INSEE. Silver : le nettoyage, l'harmonisation des libellés et l'enrichissement. Gold : les tables agrégées, prêtes pour l'analyse et pour l'export CSV. Tout est en DBT, versionné, avec une trentaine de tests et une macro d'harmonisation des régions. Le pipeline est reproductible : un dbt run rejoue exactement les mêmes résultats.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les données : 4 647 inscriptions, correspondant à 4 010 étudiants </a:t>
            </a:r>
            <a:r>
              <a:rPr lang="en-US" dirty="0" err="1"/>
              <a:t>distincts</a:t>
            </a:r>
            <a:r>
              <a:rPr lang="en-US" dirty="0"/>
              <a:t> : 14 pour cent se réinscrivent sur plusieurs années, donc mon grain d'analyse est l'inscription, pas l'individu. Côté qualité : le genre manquant est transformé en catégorie Non renseigné plutôt que supprimé, les régions sont harmonisées, et une trentaine de tests tournent, dont un test de réconciliation qui vérifie qu'aucune ligne n'est perdue. Côté RGPD : minimisation, pseudonymization, </a:t>
            </a:r>
            <a:r>
              <a:rPr lang="en-US" dirty="0" err="1"/>
              <a:t>aucune</a:t>
            </a:r>
            <a:r>
              <a:rPr lang="en-US" dirty="0"/>
              <a:t> donnée nominative, et tables finales agrégées, donc aucune ligne réidentifiable, avec une vigilance sur les petits effectifs comme les DROM.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résultat : le volume chute de 50 pour cent entre 2022 et 2024, passant de près de 1 700 à 850 inscriptions, avant un rebond de 12 pour cent en 2025. C'est un signal à surveiller ; il faudrait le croiser avec l'évolution de l'offre de parcours et le contexte marché sur la période.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la plus importante, et un piège classique à éviter. À gauche, la composition brute suggère une forte féminisation : la part des femmes passe de 18 à 31 pour cent. Mais regardez la part de Non renseigné : elle s'effondre de 42 à 7 pour cent. Autrement dit, on a surtout mieux collecté le genre au fil du temps. À droite, quand j'isole les genres réellement déclarés, la part des femmes est stable, autour de 30 à 33 pour cent, avec seulement 2,3 points de hausse. La vraie conclusion : il n'y a pas de féminisation marquée, l'effet apparent est un artefact de collecte. C'est typiquement la nuance qui change une recommandation.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rajeunissement, lui, est réel et </a:t>
            </a:r>
            <a:r>
              <a:rPr lang="en-US" dirty="0" err="1"/>
              <a:t>robuste</a:t>
            </a:r>
            <a:r>
              <a:rPr lang="en-US" dirty="0"/>
              <a:t>, et il ne dépend pas du genre. La part des 20-24 ans progresse de plus de 7 points, celle des 25-29 ans de 6,5 points, pendant que les 40 ans et plus reculent. Le cœur de cible reste les 30-44 ans, mais l'audience se déplace clairement vers les plus jeunes.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Très forte concentration géographique. L'Île-de-France pèse à elle seule 46 pour cent des inscrits. Rapporté à la population, l'indicateur inscrits pour 100 000 habitants, calculé grâce à </a:t>
            </a:r>
            <a:r>
              <a:rPr lang="en-US" dirty="0" err="1"/>
              <a:t>l'INSEE</a:t>
            </a:r>
            <a:r>
              <a:rPr lang="en-US" dirty="0"/>
              <a:t>, l'Île-de-France est à 17, contre environ 4,5 partout ailleurs. C'est un vrai enjeu d'accessibilité territoriale.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pourrait supposer que les inscriptions suivent le chômage régional. Ce n'est pas le cas : la corrélation est quasi nulle, proche de zéro. Ce sont plutôt des facteurs urbains et la présence de l'écosystème tech qui priment. À droite, le profil type déclaré ressort nettement : un homme, 25-34 ans, en Île-de-France.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comparaison à la France remet les résultats en perspective. OC est très masculin, à l'opposé de la quasi-parité de la population française ; </a:t>
            </a:r>
            <a:r>
              <a:rPr lang="en-US" dirty="0" err="1"/>
              <a:t>mais</a:t>
            </a:r>
            <a:r>
              <a:rPr lang="en-US" dirty="0"/>
              <a:t> c'est proche des métiers du numérique, donc ce n'est pas une spécificité OC. Et la concentration en Île-de-France dépasse largement son poids démographique. C'est tout l'apport de l'INSEE : séparer ce qui est structurel de ce qui est spécifique à OC.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synthèse, six enseignements : un volume en repli, une féminisation à fortement relativiser, un rajeunissement réel, une forte concentration en Île-de-France, une absence de lien avec le chômage, et un profil type masculin, trentenaire et francilien.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le pipeline garantit : la reproductibilité, l'intégrité via les tests, la réconciliation des volumes, la traçabilité et la conformité RGPD. Les limites, que j'assume clairement : le non-renseigné du genre, d'où l'analyse hors NR ; la région est déclarée et pas nécessairement celle de résidence ; le grain est l'inscription ; les données INSEE sont des valeurs de référence à réactualiser ; et nous n'avons pas de données de réussite ou d'abandon sur ce périmètre.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leviers pour la direction. Un : renforcer l'attractivité féminine, avec un objectif chiffré au-delà de 35 pour cent. Deux : adresser les territoires hors grandes métropoles, par des bourses ou des partenariats régionaux. Trois : capitaliser sur le rajeunissement, via des partenariats écoles et universités. Quatre : industrialiser le pipeline, avec un rafraîchissement annuel automatisé des données INSEE et un dashboard connecté aux marts.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 profil type de l'étudiant Data OC : une personne en reconversion professionnelle, le plus souvent un homme, âgée de 30 à 44 ans, francilienne — avec une audience qui rajeunit. Les axes prioritaires sont donc de féminiser le public, d'ouvrir l'accès hors Île-de-France, de poursuivre le rajeunissement, et de faire vivre le pipeline dans le temps. Je vous remercie et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C82F6-D251-6233-3385-EE54BA7BA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B182A-F669-BAA7-0177-6723077F7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D998F-FD45-2597-BDA6-B3DFD70E00CF}"/>
              </a:ext>
            </a:extLst>
          </p:cNvPr>
          <p:cNvSpPr>
            <a:spLocks noGrp="1"/>
          </p:cNvSpPr>
          <p:nvPr>
            <p:ph type="body" idx="1"/>
          </p:nvPr>
        </p:nvSpPr>
        <p:spPr/>
        <p:txBody>
          <a:bodyPr/>
          <a:lstStyle/>
          <a:p>
            <a:r>
              <a:rPr lang="en-US" dirty="0"/>
              <a:t>Quatre leviers pour la direction. Un : renforcer l'attractivité féminine, avec un objectif chiffré au-delà de 35 pour cent. Deux : adresser les territoires hors grandes métropoles, par des bourses ou des partenariats régionaux. Trois : capitaliser sur le rajeunissement, via des partenariats écoles et universités. Quatre : industrialiser le pipeline, avec un rafraîchissement annuel automatisé des données INSEE et un dashboard connecté aux marts.</a:t>
            </a:r>
          </a:p>
        </p:txBody>
      </p:sp>
      <p:sp>
        <p:nvSpPr>
          <p:cNvPr id="4" name="Slide Number Placeholder 3">
            <a:extLst>
              <a:ext uri="{FF2B5EF4-FFF2-40B4-BE49-F238E27FC236}">
                <a16:creationId xmlns:a16="http://schemas.microsoft.com/office/drawing/2014/main" id="{44100F20-23AE-80AC-2B1B-A708A167790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63066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a:effectLst/>
      </p:bgPr>
    </p:bg>
    <p:spTree>
      <p:nvGrpSpPr>
        <p:cNvPr id="1" name=""/>
        <p:cNvGrpSpPr/>
        <p:nvPr/>
      </p:nvGrpSpPr>
      <p:grpSpPr>
        <a:xfrm>
          <a:off x="0" y="0"/>
          <a:ext cx="0" cy="0"/>
          <a:chOff x="0" y="0"/>
          <a:chExt cx="0" cy="0"/>
        </a:xfrm>
      </p:grpSpPr>
      <p:sp>
        <p:nvSpPr>
          <p:cNvPr id="2" name="Shape 0"/>
          <p:cNvSpPr/>
          <p:nvPr/>
        </p:nvSpPr>
        <p:spPr>
          <a:xfrm>
            <a:off x="9692640" y="-1554480"/>
            <a:ext cx="4754880" cy="4754880"/>
          </a:xfrm>
          <a:prstGeom prst="ellipse">
            <a:avLst/>
          </a:prstGeom>
          <a:solidFill>
            <a:srgbClr val="1B6B4C"/>
          </a:solidFill>
          <a:ln/>
        </p:spPr>
      </p:sp>
      <p:sp>
        <p:nvSpPr>
          <p:cNvPr id="3" name="Shape 1"/>
          <p:cNvSpPr/>
          <p:nvPr/>
        </p:nvSpPr>
        <p:spPr>
          <a:xfrm>
            <a:off x="10881360" y="4206240"/>
            <a:ext cx="3291840" cy="3291840"/>
          </a:xfrm>
          <a:prstGeom prst="ellipse">
            <a:avLst/>
          </a:prstGeom>
          <a:solidFill>
            <a:srgbClr val="0E4A38"/>
          </a:solidFill>
          <a:ln/>
        </p:spPr>
      </p:sp>
      <p:sp>
        <p:nvSpPr>
          <p:cNvPr id="4" name="Text 2"/>
          <p:cNvSpPr/>
          <p:nvPr/>
        </p:nvSpPr>
        <p:spPr>
          <a:xfrm>
            <a:off x="822960" y="1371600"/>
            <a:ext cx="10058400" cy="320040"/>
          </a:xfrm>
          <a:prstGeom prst="rect">
            <a:avLst/>
          </a:prstGeom>
          <a:noFill/>
          <a:ln/>
        </p:spPr>
        <p:txBody>
          <a:bodyPr wrap="square" lIns="0" tIns="0" rIns="0" bIns="0" rtlCol="0" anchor="ctr"/>
          <a:lstStyle/>
          <a:p>
            <a:pPr marL="0" indent="0">
              <a:buNone/>
            </a:pPr>
            <a:r>
              <a:rPr lang="en-US" sz="1300" b="1" kern="0" spc="300" dirty="0">
                <a:solidFill>
                  <a:srgbClr val="C9A227"/>
                </a:solidFill>
                <a:latin typeface="Calibri" pitchFamily="34" charset="0"/>
                <a:ea typeface="Calibri" pitchFamily="34" charset="-122"/>
                <a:cs typeface="Calibri" pitchFamily="34" charset="-120"/>
              </a:rPr>
              <a:t>OPENCLASSROOMS · ANALYSE RÉTROSPECTIVE</a:t>
            </a:r>
            <a:endParaRPr lang="en-US" sz="1300" dirty="0"/>
          </a:p>
        </p:txBody>
      </p:sp>
      <p:sp>
        <p:nvSpPr>
          <p:cNvPr id="5" name="Text 3"/>
          <p:cNvSpPr/>
          <p:nvPr/>
        </p:nvSpPr>
        <p:spPr>
          <a:xfrm>
            <a:off x="777240" y="1874520"/>
            <a:ext cx="10607040" cy="1828800"/>
          </a:xfrm>
          <a:prstGeom prst="rect">
            <a:avLst/>
          </a:prstGeom>
          <a:noFill/>
          <a:ln/>
        </p:spPr>
        <p:txBody>
          <a:bodyPr wrap="square" lIns="0" tIns="0" rIns="0" bIns="0" rtlCol="0" anchor="ctr"/>
          <a:lstStyle/>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Profil sociodémographique</a:t>
            </a:r>
            <a:endParaRPr lang="en-US" sz="4800" dirty="0"/>
          </a:p>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des étudiants Data</a:t>
            </a:r>
            <a:endParaRPr lang="en-US" sz="4800" dirty="0"/>
          </a:p>
        </p:txBody>
      </p:sp>
      <p:sp>
        <p:nvSpPr>
          <p:cNvPr id="6" name="Text 4"/>
          <p:cNvSpPr/>
          <p:nvPr/>
        </p:nvSpPr>
        <p:spPr>
          <a:xfrm>
            <a:off x="822960" y="3886200"/>
            <a:ext cx="9601200" cy="457200"/>
          </a:xfrm>
          <a:prstGeom prst="rect">
            <a:avLst/>
          </a:prstGeom>
          <a:noFill/>
          <a:ln/>
        </p:spPr>
        <p:txBody>
          <a:bodyPr wrap="square" lIns="0" tIns="0" rIns="0" bIns="0" rtlCol="0" anchor="ctr"/>
          <a:lstStyle/>
          <a:p>
            <a:pPr marL="0" indent="0">
              <a:buNone/>
            </a:pPr>
            <a:r>
              <a:rPr lang="en-US" sz="1600" i="1" dirty="0">
                <a:solidFill>
                  <a:srgbClr val="6FAE8F"/>
                </a:solidFill>
                <a:latin typeface="Calibri" pitchFamily="34" charset="0"/>
                <a:ea typeface="Calibri" pitchFamily="34" charset="-122"/>
                <a:cs typeface="Calibri" pitchFamily="34" charset="-120"/>
              </a:rPr>
              <a:t>Évolution 2022 - 2025 · pipeline DBT, fiabilisation RGPD et enrichissement INSEE</a:t>
            </a:r>
            <a:endParaRPr lang="en-US" sz="1600" dirty="0"/>
          </a:p>
        </p:txBody>
      </p:sp>
      <p:sp>
        <p:nvSpPr>
          <p:cNvPr id="7" name="Shape 5"/>
          <p:cNvSpPr/>
          <p:nvPr/>
        </p:nvSpPr>
        <p:spPr>
          <a:xfrm>
            <a:off x="841248" y="4709160"/>
            <a:ext cx="2194560" cy="0"/>
          </a:xfrm>
          <a:prstGeom prst="line">
            <a:avLst/>
          </a:prstGeom>
          <a:noFill/>
          <a:ln w="31750">
            <a:solidFill>
              <a:srgbClr val="C9A227"/>
            </a:solidFill>
            <a:prstDash val="solid"/>
          </a:ln>
        </p:spPr>
      </p:sp>
      <p:sp>
        <p:nvSpPr>
          <p:cNvPr id="8" name="Text 6"/>
          <p:cNvSpPr/>
          <p:nvPr/>
        </p:nvSpPr>
        <p:spPr>
          <a:xfrm>
            <a:off x="822960" y="4846320"/>
            <a:ext cx="9144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Corentin DERVOUT</a:t>
            </a:r>
            <a:r>
              <a:rPr lang="en-US" sz="1400" dirty="0">
                <a:solidFill>
                  <a:srgbClr val="6FAE8F"/>
                </a:solidFill>
                <a:latin typeface="Calibri" pitchFamily="34" charset="0"/>
                <a:ea typeface="Calibri" pitchFamily="34" charset="-122"/>
                <a:cs typeface="Calibri" pitchFamily="34" charset="-120"/>
              </a:rPr>
              <a:t>   ·   Formation Data Analyst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PLAN</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Fil conducteur de la présentation</a:t>
            </a:r>
            <a:endParaRPr lang="en-US" sz="3400" dirty="0"/>
          </a:p>
        </p:txBody>
      </p:sp>
      <p:sp>
        <p:nvSpPr>
          <p:cNvPr id="4" name="Shape 2"/>
          <p:cNvSpPr/>
          <p:nvPr/>
        </p:nvSpPr>
        <p:spPr>
          <a:xfrm>
            <a:off x="640080" y="1783080"/>
            <a:ext cx="5349240" cy="932688"/>
          </a:xfrm>
          <a:prstGeom prst="roundRect">
            <a:avLst>
              <a:gd name="adj" fmla="val 8824"/>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Shape 3"/>
          <p:cNvSpPr/>
          <p:nvPr/>
        </p:nvSpPr>
        <p:spPr>
          <a:xfrm>
            <a:off x="896112" y="2048256"/>
            <a:ext cx="402336" cy="402336"/>
          </a:xfrm>
          <a:prstGeom prst="ellipse">
            <a:avLst/>
          </a:prstGeom>
          <a:solidFill>
            <a:srgbClr val="0B3D2E"/>
          </a:solidFill>
          <a:ln/>
        </p:spPr>
      </p:sp>
      <p:sp>
        <p:nvSpPr>
          <p:cNvPr id="6" name="Text 4"/>
          <p:cNvSpPr/>
          <p:nvPr/>
        </p:nvSpPr>
        <p:spPr>
          <a:xfrm>
            <a:off x="896112" y="204825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7" name="Text 5"/>
          <p:cNvSpPr/>
          <p:nvPr/>
        </p:nvSpPr>
        <p:spPr>
          <a:xfrm>
            <a:off x="1508760" y="178308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Contexte &amp; objectifs</a:t>
            </a:r>
            <a:endParaRPr lang="en-US" sz="1600" dirty="0"/>
          </a:p>
        </p:txBody>
      </p:sp>
      <p:sp>
        <p:nvSpPr>
          <p:cNvPr id="8" name="Shape 6"/>
          <p:cNvSpPr/>
          <p:nvPr/>
        </p:nvSpPr>
        <p:spPr>
          <a:xfrm>
            <a:off x="6400800" y="1783080"/>
            <a:ext cx="5349240" cy="932688"/>
          </a:xfrm>
          <a:prstGeom prst="roundRect">
            <a:avLst>
              <a:gd name="adj" fmla="val 8824"/>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9" name="Shape 7"/>
          <p:cNvSpPr/>
          <p:nvPr/>
        </p:nvSpPr>
        <p:spPr>
          <a:xfrm>
            <a:off x="6656832" y="2048256"/>
            <a:ext cx="402336" cy="402336"/>
          </a:xfrm>
          <a:prstGeom prst="ellipse">
            <a:avLst/>
          </a:prstGeom>
          <a:solidFill>
            <a:srgbClr val="0B3D2E"/>
          </a:solidFill>
          <a:ln/>
        </p:spPr>
      </p:sp>
      <p:sp>
        <p:nvSpPr>
          <p:cNvPr id="10" name="Text 8"/>
          <p:cNvSpPr/>
          <p:nvPr/>
        </p:nvSpPr>
        <p:spPr>
          <a:xfrm>
            <a:off x="6656832" y="204825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1" name="Text 9"/>
          <p:cNvSpPr/>
          <p:nvPr/>
        </p:nvSpPr>
        <p:spPr>
          <a:xfrm>
            <a:off x="7269480" y="178308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Méthodologie &amp; pipeline DBT</a:t>
            </a:r>
            <a:endParaRPr lang="en-US" sz="1600" dirty="0"/>
          </a:p>
        </p:txBody>
      </p:sp>
      <p:sp>
        <p:nvSpPr>
          <p:cNvPr id="12" name="Shape 10"/>
          <p:cNvSpPr/>
          <p:nvPr/>
        </p:nvSpPr>
        <p:spPr>
          <a:xfrm>
            <a:off x="640080" y="2971800"/>
            <a:ext cx="5349240" cy="932688"/>
          </a:xfrm>
          <a:prstGeom prst="roundRect">
            <a:avLst>
              <a:gd name="adj" fmla="val 8824"/>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3" name="Shape 11"/>
          <p:cNvSpPr/>
          <p:nvPr/>
        </p:nvSpPr>
        <p:spPr>
          <a:xfrm>
            <a:off x="896112" y="3236976"/>
            <a:ext cx="402336" cy="402336"/>
          </a:xfrm>
          <a:prstGeom prst="ellipse">
            <a:avLst/>
          </a:prstGeom>
          <a:solidFill>
            <a:srgbClr val="0B3D2E"/>
          </a:solidFill>
          <a:ln/>
        </p:spPr>
      </p:sp>
      <p:sp>
        <p:nvSpPr>
          <p:cNvPr id="14" name="Text 12"/>
          <p:cNvSpPr/>
          <p:nvPr/>
        </p:nvSpPr>
        <p:spPr>
          <a:xfrm>
            <a:off x="896112" y="32369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5" name="Text 13"/>
          <p:cNvSpPr/>
          <p:nvPr/>
        </p:nvSpPr>
        <p:spPr>
          <a:xfrm>
            <a:off x="1508760" y="297180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Sources, qualité &amp; RGPD</a:t>
            </a:r>
            <a:endParaRPr lang="en-US" sz="1600" dirty="0"/>
          </a:p>
        </p:txBody>
      </p:sp>
      <p:sp>
        <p:nvSpPr>
          <p:cNvPr id="16" name="Shape 14"/>
          <p:cNvSpPr/>
          <p:nvPr/>
        </p:nvSpPr>
        <p:spPr>
          <a:xfrm>
            <a:off x="6400800" y="2971800"/>
            <a:ext cx="5349240" cy="932688"/>
          </a:xfrm>
          <a:prstGeom prst="roundRect">
            <a:avLst>
              <a:gd name="adj" fmla="val 8824"/>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17" name="Shape 15"/>
          <p:cNvSpPr/>
          <p:nvPr/>
        </p:nvSpPr>
        <p:spPr>
          <a:xfrm>
            <a:off x="6656832" y="3236976"/>
            <a:ext cx="402336" cy="402336"/>
          </a:xfrm>
          <a:prstGeom prst="ellipse">
            <a:avLst/>
          </a:prstGeom>
          <a:solidFill>
            <a:srgbClr val="0B3D2E"/>
          </a:solidFill>
          <a:ln/>
        </p:spPr>
      </p:sp>
      <p:sp>
        <p:nvSpPr>
          <p:cNvPr id="18" name="Text 16"/>
          <p:cNvSpPr/>
          <p:nvPr/>
        </p:nvSpPr>
        <p:spPr>
          <a:xfrm>
            <a:off x="6656832" y="32369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19" name="Text 17"/>
          <p:cNvSpPr/>
          <p:nvPr/>
        </p:nvSpPr>
        <p:spPr>
          <a:xfrm>
            <a:off x="7269480" y="297180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Volume d'inscriptions</a:t>
            </a:r>
            <a:endParaRPr lang="en-US" sz="1600" dirty="0"/>
          </a:p>
        </p:txBody>
      </p:sp>
      <p:sp>
        <p:nvSpPr>
          <p:cNvPr id="20" name="Shape 18"/>
          <p:cNvSpPr/>
          <p:nvPr/>
        </p:nvSpPr>
        <p:spPr>
          <a:xfrm>
            <a:off x="640080" y="4160520"/>
            <a:ext cx="5349240" cy="932688"/>
          </a:xfrm>
          <a:prstGeom prst="roundRect">
            <a:avLst>
              <a:gd name="adj" fmla="val 8824"/>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1" name="Shape 19"/>
          <p:cNvSpPr/>
          <p:nvPr/>
        </p:nvSpPr>
        <p:spPr>
          <a:xfrm>
            <a:off x="896112" y="4425696"/>
            <a:ext cx="402336" cy="402336"/>
          </a:xfrm>
          <a:prstGeom prst="ellipse">
            <a:avLst/>
          </a:prstGeom>
          <a:solidFill>
            <a:srgbClr val="0B3D2E"/>
          </a:solidFill>
          <a:ln/>
        </p:spPr>
      </p:sp>
      <p:sp>
        <p:nvSpPr>
          <p:cNvPr id="22" name="Text 20"/>
          <p:cNvSpPr/>
          <p:nvPr/>
        </p:nvSpPr>
        <p:spPr>
          <a:xfrm>
            <a:off x="896112" y="44256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23" name="Text 21"/>
          <p:cNvSpPr/>
          <p:nvPr/>
        </p:nvSpPr>
        <p:spPr>
          <a:xfrm>
            <a:off x="1508760" y="416052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Genre &amp; le piège du non-renseigné</a:t>
            </a:r>
            <a:endParaRPr lang="en-US" sz="1600" dirty="0"/>
          </a:p>
        </p:txBody>
      </p:sp>
      <p:sp>
        <p:nvSpPr>
          <p:cNvPr id="24" name="Shape 22"/>
          <p:cNvSpPr/>
          <p:nvPr/>
        </p:nvSpPr>
        <p:spPr>
          <a:xfrm>
            <a:off x="6400800" y="4160520"/>
            <a:ext cx="5349240" cy="932688"/>
          </a:xfrm>
          <a:prstGeom prst="roundRect">
            <a:avLst>
              <a:gd name="adj" fmla="val 8824"/>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25" name="Shape 23"/>
          <p:cNvSpPr/>
          <p:nvPr/>
        </p:nvSpPr>
        <p:spPr>
          <a:xfrm>
            <a:off x="6656832" y="4425696"/>
            <a:ext cx="402336" cy="402336"/>
          </a:xfrm>
          <a:prstGeom prst="ellipse">
            <a:avLst/>
          </a:prstGeom>
          <a:solidFill>
            <a:srgbClr val="0B3D2E"/>
          </a:solidFill>
          <a:ln/>
        </p:spPr>
      </p:sp>
      <p:sp>
        <p:nvSpPr>
          <p:cNvPr id="26" name="Text 24"/>
          <p:cNvSpPr/>
          <p:nvPr/>
        </p:nvSpPr>
        <p:spPr>
          <a:xfrm>
            <a:off x="6656832" y="44256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06</a:t>
            </a:r>
            <a:endParaRPr lang="en-US" sz="1500" dirty="0"/>
          </a:p>
        </p:txBody>
      </p:sp>
      <p:sp>
        <p:nvSpPr>
          <p:cNvPr id="27" name="Text 25"/>
          <p:cNvSpPr/>
          <p:nvPr/>
        </p:nvSpPr>
        <p:spPr>
          <a:xfrm>
            <a:off x="7269480" y="416052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Âge : le rajeunissement</a:t>
            </a:r>
            <a:endParaRPr lang="en-US" sz="1600" dirty="0"/>
          </a:p>
        </p:txBody>
      </p:sp>
      <p:sp>
        <p:nvSpPr>
          <p:cNvPr id="28" name="Shape 26"/>
          <p:cNvSpPr/>
          <p:nvPr/>
        </p:nvSpPr>
        <p:spPr>
          <a:xfrm>
            <a:off x="640080" y="5349240"/>
            <a:ext cx="5349240" cy="932688"/>
          </a:xfrm>
          <a:prstGeom prst="roundRect">
            <a:avLst>
              <a:gd name="adj" fmla="val 8824"/>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9" name="Shape 27"/>
          <p:cNvSpPr/>
          <p:nvPr/>
        </p:nvSpPr>
        <p:spPr>
          <a:xfrm>
            <a:off x="896112" y="5614416"/>
            <a:ext cx="402336" cy="402336"/>
          </a:xfrm>
          <a:prstGeom prst="ellipse">
            <a:avLst/>
          </a:prstGeom>
          <a:solidFill>
            <a:srgbClr val="0B3D2E"/>
          </a:solidFill>
          <a:ln/>
        </p:spPr>
      </p:sp>
      <p:sp>
        <p:nvSpPr>
          <p:cNvPr id="30" name="Text 28"/>
          <p:cNvSpPr/>
          <p:nvPr/>
        </p:nvSpPr>
        <p:spPr>
          <a:xfrm>
            <a:off x="896112" y="561441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07</a:t>
            </a:r>
            <a:endParaRPr lang="en-US" sz="1500" dirty="0"/>
          </a:p>
        </p:txBody>
      </p:sp>
      <p:sp>
        <p:nvSpPr>
          <p:cNvPr id="31" name="Text 29"/>
          <p:cNvSpPr/>
          <p:nvPr/>
        </p:nvSpPr>
        <p:spPr>
          <a:xfrm>
            <a:off x="1508760" y="534924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Géographie &amp; pénétration</a:t>
            </a:r>
            <a:endParaRPr lang="en-US" sz="1600" dirty="0"/>
          </a:p>
        </p:txBody>
      </p:sp>
      <p:sp>
        <p:nvSpPr>
          <p:cNvPr id="32" name="Shape 30"/>
          <p:cNvSpPr/>
          <p:nvPr/>
        </p:nvSpPr>
        <p:spPr>
          <a:xfrm>
            <a:off x="6400800" y="5349240"/>
            <a:ext cx="5349240" cy="932688"/>
          </a:xfrm>
          <a:prstGeom prst="roundRect">
            <a:avLst>
              <a:gd name="adj" fmla="val 8824"/>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33" name="Shape 31"/>
          <p:cNvSpPr/>
          <p:nvPr/>
        </p:nvSpPr>
        <p:spPr>
          <a:xfrm>
            <a:off x="6656832" y="5614416"/>
            <a:ext cx="402336" cy="402336"/>
          </a:xfrm>
          <a:prstGeom prst="ellipse">
            <a:avLst/>
          </a:prstGeom>
          <a:solidFill>
            <a:srgbClr val="0B3D2E"/>
          </a:solidFill>
          <a:ln/>
        </p:spPr>
      </p:sp>
      <p:sp>
        <p:nvSpPr>
          <p:cNvPr id="34" name="Text 32"/>
          <p:cNvSpPr/>
          <p:nvPr/>
        </p:nvSpPr>
        <p:spPr>
          <a:xfrm>
            <a:off x="6656832" y="561441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08</a:t>
            </a:r>
            <a:endParaRPr lang="en-US" sz="1500" dirty="0"/>
          </a:p>
        </p:txBody>
      </p:sp>
      <p:sp>
        <p:nvSpPr>
          <p:cNvPr id="35" name="Text 33"/>
          <p:cNvSpPr/>
          <p:nvPr/>
        </p:nvSpPr>
        <p:spPr>
          <a:xfrm>
            <a:off x="7269480" y="5349240"/>
            <a:ext cx="4343400" cy="932688"/>
          </a:xfrm>
          <a:prstGeom prst="rect">
            <a:avLst/>
          </a:prstGeom>
          <a:noFill/>
          <a:ln/>
        </p:spPr>
        <p:txBody>
          <a:bodyPr wrap="square" lIns="0" tIns="0" rIns="0" bIns="0" rtlCol="0" anchor="ctr"/>
          <a:lstStyle/>
          <a:p>
            <a:pPr marL="0" indent="0">
              <a:buNone/>
            </a:pPr>
            <a:r>
              <a:rPr lang="en-US" sz="1600" b="1" dirty="0">
                <a:solidFill>
                  <a:srgbClr val="223029"/>
                </a:solidFill>
                <a:latin typeface="Calibri" pitchFamily="34" charset="0"/>
                <a:ea typeface="Calibri" pitchFamily="34" charset="-122"/>
                <a:cs typeface="Calibri" pitchFamily="34" charset="-120"/>
              </a:rPr>
              <a:t>Insights &amp; recommandations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01 — CONTEXTE &amp; OBJECTIFS</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Pourquoi cette analyse ?</a:t>
            </a:r>
            <a:endParaRPr lang="en-US" sz="3400" dirty="0"/>
          </a:p>
        </p:txBody>
      </p:sp>
      <p:sp>
        <p:nvSpPr>
          <p:cNvPr id="4" name="Shape 2"/>
          <p:cNvSpPr/>
          <p:nvPr/>
        </p:nvSpPr>
        <p:spPr>
          <a:xfrm>
            <a:off x="640080" y="1783080"/>
            <a:ext cx="5349240" cy="1737360"/>
          </a:xfrm>
          <a:prstGeom prst="roundRect">
            <a:avLst>
              <a:gd name="adj" fmla="val 47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Shape 3"/>
          <p:cNvSpPr/>
          <p:nvPr/>
        </p:nvSpPr>
        <p:spPr>
          <a:xfrm>
            <a:off x="914400" y="2057400"/>
            <a:ext cx="457200" cy="457200"/>
          </a:xfrm>
          <a:prstGeom prst="ellipse">
            <a:avLst/>
          </a:prstGeom>
          <a:solidFill>
            <a:srgbClr val="0B3D2E"/>
          </a:solidFill>
          <a:ln/>
        </p:spPr>
      </p:sp>
      <p:sp>
        <p:nvSpPr>
          <p:cNvPr id="6" name="Text 4"/>
          <p:cNvSpPr/>
          <p:nvPr/>
        </p:nvSpPr>
        <p:spPr>
          <a:xfrm>
            <a:off x="91440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554480" y="2039112"/>
            <a:ext cx="4251960" cy="365760"/>
          </a:xfrm>
          <a:prstGeom prst="rect">
            <a:avLst/>
          </a:prstGeom>
          <a:noFill/>
          <a:ln/>
        </p:spPr>
        <p:txBody>
          <a:bodyPr wrap="square" lIns="0" tIns="0" rIns="0" bIns="0" rtlCol="0" anchor="ctr"/>
          <a:lstStyle/>
          <a:p>
            <a:pPr marL="0" indent="0">
              <a:buNone/>
            </a:pPr>
            <a:r>
              <a:rPr lang="en-US" sz="1900" b="1" dirty="0">
                <a:solidFill>
                  <a:srgbClr val="0B3D2E"/>
                </a:solidFill>
                <a:latin typeface="Cambria" pitchFamily="34" charset="0"/>
                <a:ea typeface="Cambria" pitchFamily="34" charset="-122"/>
                <a:cs typeface="Cambria" pitchFamily="34" charset="-120"/>
              </a:rPr>
              <a:t>Analyser</a:t>
            </a:r>
            <a:endParaRPr lang="en-US" sz="1900" dirty="0"/>
          </a:p>
        </p:txBody>
      </p:sp>
      <p:sp>
        <p:nvSpPr>
          <p:cNvPr id="8" name="Text 6"/>
          <p:cNvSpPr/>
          <p:nvPr/>
        </p:nvSpPr>
        <p:spPr>
          <a:xfrm>
            <a:off x="1554480" y="2459736"/>
            <a:ext cx="4206240" cy="914400"/>
          </a:xfrm>
          <a:prstGeom prst="rect">
            <a:avLst/>
          </a:prstGeom>
          <a:noFill/>
          <a:ln/>
        </p:spPr>
        <p:txBody>
          <a:bodyPr wrap="square" lIns="0" tIns="0" rIns="0" bIns="0" rtlCol="0" anchor="t"/>
          <a:lstStyle/>
          <a:p>
            <a:pPr marL="0" indent="0">
              <a:buNone/>
            </a:pPr>
            <a:r>
              <a:rPr lang="en-US" sz="1350" dirty="0">
                <a:solidFill>
                  <a:srgbClr val="6B7570"/>
                </a:solidFill>
                <a:latin typeface="Calibri" pitchFamily="34" charset="0"/>
                <a:ea typeface="Calibri" pitchFamily="34" charset="-122"/>
                <a:cs typeface="Calibri" pitchFamily="34" charset="-120"/>
              </a:rPr>
              <a:t>L'évolution du profil sociodémographique des étudiants Data sur 4 ans (2022-2025).</a:t>
            </a:r>
            <a:endParaRPr lang="en-US" sz="1350" dirty="0"/>
          </a:p>
        </p:txBody>
      </p:sp>
      <p:sp>
        <p:nvSpPr>
          <p:cNvPr id="9" name="Shape 7"/>
          <p:cNvSpPr/>
          <p:nvPr/>
        </p:nvSpPr>
        <p:spPr>
          <a:xfrm>
            <a:off x="6400800" y="1783080"/>
            <a:ext cx="5349240" cy="1737360"/>
          </a:xfrm>
          <a:prstGeom prst="roundRect">
            <a:avLst>
              <a:gd name="adj" fmla="val 47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0" name="Shape 8"/>
          <p:cNvSpPr/>
          <p:nvPr/>
        </p:nvSpPr>
        <p:spPr>
          <a:xfrm>
            <a:off x="6675120" y="2057400"/>
            <a:ext cx="457200" cy="457200"/>
          </a:xfrm>
          <a:prstGeom prst="ellipse">
            <a:avLst/>
          </a:prstGeom>
          <a:solidFill>
            <a:srgbClr val="0B3D2E"/>
          </a:solidFill>
          <a:ln/>
        </p:spPr>
      </p:sp>
      <p:sp>
        <p:nvSpPr>
          <p:cNvPr id="11" name="Text 9"/>
          <p:cNvSpPr/>
          <p:nvPr/>
        </p:nvSpPr>
        <p:spPr>
          <a:xfrm>
            <a:off x="667512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315200" y="2039112"/>
            <a:ext cx="4251960" cy="365760"/>
          </a:xfrm>
          <a:prstGeom prst="rect">
            <a:avLst/>
          </a:prstGeom>
          <a:noFill/>
          <a:ln/>
        </p:spPr>
        <p:txBody>
          <a:bodyPr wrap="square" lIns="0" tIns="0" rIns="0" bIns="0" rtlCol="0" anchor="ctr"/>
          <a:lstStyle/>
          <a:p>
            <a:pPr marL="0" indent="0">
              <a:buNone/>
            </a:pPr>
            <a:r>
              <a:rPr lang="en-US" sz="1900" b="1" dirty="0">
                <a:solidFill>
                  <a:srgbClr val="0B3D2E"/>
                </a:solidFill>
                <a:latin typeface="Cambria" pitchFamily="34" charset="0"/>
                <a:ea typeface="Cambria" pitchFamily="34" charset="-122"/>
                <a:cs typeface="Cambria" pitchFamily="34" charset="-120"/>
              </a:rPr>
              <a:t>Objectiver</a:t>
            </a:r>
            <a:endParaRPr lang="en-US" sz="1900" dirty="0"/>
          </a:p>
        </p:txBody>
      </p:sp>
      <p:sp>
        <p:nvSpPr>
          <p:cNvPr id="13" name="Text 11"/>
          <p:cNvSpPr/>
          <p:nvPr/>
        </p:nvSpPr>
        <p:spPr>
          <a:xfrm>
            <a:off x="7315200" y="2459736"/>
            <a:ext cx="4206240" cy="914400"/>
          </a:xfrm>
          <a:prstGeom prst="rect">
            <a:avLst/>
          </a:prstGeom>
          <a:noFill/>
          <a:ln/>
        </p:spPr>
        <p:txBody>
          <a:bodyPr wrap="square" lIns="0" tIns="0" rIns="0" bIns="0" rtlCol="0" anchor="t"/>
          <a:lstStyle/>
          <a:p>
            <a:pPr marL="0" indent="0">
              <a:buNone/>
            </a:pPr>
            <a:r>
              <a:rPr lang="en-US" sz="1350" dirty="0">
                <a:solidFill>
                  <a:srgbClr val="6B7570"/>
                </a:solidFill>
                <a:latin typeface="Calibri" pitchFamily="34" charset="0"/>
                <a:ea typeface="Calibri" pitchFamily="34" charset="-122"/>
                <a:cs typeface="Calibri" pitchFamily="34" charset="-120"/>
              </a:rPr>
              <a:t>Les tendances de genre, d'âge et de région, au-delà des impressions.</a:t>
            </a:r>
            <a:endParaRPr lang="en-US" sz="1350" dirty="0"/>
          </a:p>
        </p:txBody>
      </p:sp>
      <p:sp>
        <p:nvSpPr>
          <p:cNvPr id="14" name="Shape 12"/>
          <p:cNvSpPr/>
          <p:nvPr/>
        </p:nvSpPr>
        <p:spPr>
          <a:xfrm>
            <a:off x="640080" y="3776472"/>
            <a:ext cx="5349240" cy="1737360"/>
          </a:xfrm>
          <a:prstGeom prst="roundRect">
            <a:avLst>
              <a:gd name="adj" fmla="val 47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5" name="Shape 13"/>
          <p:cNvSpPr/>
          <p:nvPr/>
        </p:nvSpPr>
        <p:spPr>
          <a:xfrm>
            <a:off x="914400" y="4050792"/>
            <a:ext cx="457200" cy="457200"/>
          </a:xfrm>
          <a:prstGeom prst="ellipse">
            <a:avLst/>
          </a:prstGeom>
          <a:solidFill>
            <a:srgbClr val="C9A227"/>
          </a:solidFill>
          <a:ln/>
        </p:spPr>
      </p:sp>
      <p:sp>
        <p:nvSpPr>
          <p:cNvPr id="16" name="Text 14"/>
          <p:cNvSpPr/>
          <p:nvPr/>
        </p:nvSpPr>
        <p:spPr>
          <a:xfrm>
            <a:off x="914400" y="405079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554480" y="4032504"/>
            <a:ext cx="4251960" cy="365760"/>
          </a:xfrm>
          <a:prstGeom prst="rect">
            <a:avLst/>
          </a:prstGeom>
          <a:noFill/>
          <a:ln/>
        </p:spPr>
        <p:txBody>
          <a:bodyPr wrap="square" lIns="0" tIns="0" rIns="0" bIns="0" rtlCol="0" anchor="ctr"/>
          <a:lstStyle/>
          <a:p>
            <a:pPr marL="0" indent="0">
              <a:buNone/>
            </a:pPr>
            <a:r>
              <a:rPr lang="en-US" sz="1900" b="1" dirty="0">
                <a:solidFill>
                  <a:srgbClr val="0B3D2E"/>
                </a:solidFill>
                <a:latin typeface="Cambria" pitchFamily="34" charset="0"/>
                <a:ea typeface="Cambria" pitchFamily="34" charset="-122"/>
                <a:cs typeface="Cambria" pitchFamily="34" charset="-120"/>
              </a:rPr>
              <a:t>Comparer</a:t>
            </a:r>
            <a:endParaRPr lang="en-US" sz="1900" dirty="0"/>
          </a:p>
        </p:txBody>
      </p:sp>
      <p:sp>
        <p:nvSpPr>
          <p:cNvPr id="18" name="Text 16"/>
          <p:cNvSpPr/>
          <p:nvPr/>
        </p:nvSpPr>
        <p:spPr>
          <a:xfrm>
            <a:off x="1554480" y="4453128"/>
            <a:ext cx="4206240" cy="914400"/>
          </a:xfrm>
          <a:prstGeom prst="rect">
            <a:avLst/>
          </a:prstGeom>
          <a:noFill/>
          <a:ln/>
        </p:spPr>
        <p:txBody>
          <a:bodyPr wrap="square" lIns="0" tIns="0" rIns="0" bIns="0" rtlCol="0" anchor="t"/>
          <a:lstStyle/>
          <a:p>
            <a:pPr marL="0" indent="0">
              <a:buNone/>
            </a:pPr>
            <a:r>
              <a:rPr lang="en-US" sz="1350" dirty="0">
                <a:solidFill>
                  <a:srgbClr val="6B7570"/>
                </a:solidFill>
                <a:latin typeface="Calibri" pitchFamily="34" charset="0"/>
                <a:ea typeface="Calibri" pitchFamily="34" charset="-122"/>
                <a:cs typeface="Calibri" pitchFamily="34" charset="-120"/>
              </a:rPr>
              <a:t>Le profil OC à la population française via les données publiques INSEE.</a:t>
            </a:r>
            <a:endParaRPr lang="en-US" sz="1350" dirty="0"/>
          </a:p>
        </p:txBody>
      </p:sp>
      <p:sp>
        <p:nvSpPr>
          <p:cNvPr id="19" name="Shape 17"/>
          <p:cNvSpPr/>
          <p:nvPr/>
        </p:nvSpPr>
        <p:spPr>
          <a:xfrm>
            <a:off x="6400800" y="3776472"/>
            <a:ext cx="5349240" cy="1737360"/>
          </a:xfrm>
          <a:prstGeom prst="roundRect">
            <a:avLst>
              <a:gd name="adj" fmla="val 47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0" name="Shape 18"/>
          <p:cNvSpPr/>
          <p:nvPr/>
        </p:nvSpPr>
        <p:spPr>
          <a:xfrm>
            <a:off x="6675120" y="4050792"/>
            <a:ext cx="457200" cy="457200"/>
          </a:xfrm>
          <a:prstGeom prst="ellipse">
            <a:avLst/>
          </a:prstGeom>
          <a:solidFill>
            <a:srgbClr val="C9A227"/>
          </a:solidFill>
          <a:ln/>
        </p:spPr>
      </p:sp>
      <p:sp>
        <p:nvSpPr>
          <p:cNvPr id="21" name="Text 19"/>
          <p:cNvSpPr/>
          <p:nvPr/>
        </p:nvSpPr>
        <p:spPr>
          <a:xfrm>
            <a:off x="6675120" y="405079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315200" y="4032504"/>
            <a:ext cx="4251960" cy="365760"/>
          </a:xfrm>
          <a:prstGeom prst="rect">
            <a:avLst/>
          </a:prstGeom>
          <a:noFill/>
          <a:ln/>
        </p:spPr>
        <p:txBody>
          <a:bodyPr wrap="square" lIns="0" tIns="0" rIns="0" bIns="0" rtlCol="0" anchor="ctr"/>
          <a:lstStyle/>
          <a:p>
            <a:pPr marL="0" indent="0">
              <a:buNone/>
            </a:pPr>
            <a:r>
              <a:rPr lang="en-US" sz="1900" b="1" dirty="0">
                <a:solidFill>
                  <a:srgbClr val="0B3D2E"/>
                </a:solidFill>
                <a:latin typeface="Cambria" pitchFamily="34" charset="0"/>
                <a:ea typeface="Cambria" pitchFamily="34" charset="-122"/>
                <a:cs typeface="Cambria" pitchFamily="34" charset="-120"/>
              </a:rPr>
              <a:t>Éclairer</a:t>
            </a:r>
            <a:endParaRPr lang="en-US" sz="1900" dirty="0"/>
          </a:p>
        </p:txBody>
      </p:sp>
      <p:sp>
        <p:nvSpPr>
          <p:cNvPr id="23" name="Text 21"/>
          <p:cNvSpPr/>
          <p:nvPr/>
        </p:nvSpPr>
        <p:spPr>
          <a:xfrm>
            <a:off x="7315200" y="4453128"/>
            <a:ext cx="4206240" cy="914400"/>
          </a:xfrm>
          <a:prstGeom prst="rect">
            <a:avLst/>
          </a:prstGeom>
          <a:noFill/>
          <a:ln/>
        </p:spPr>
        <p:txBody>
          <a:bodyPr wrap="square" lIns="0" tIns="0" rIns="0" bIns="0" rtlCol="0" anchor="t"/>
          <a:lstStyle/>
          <a:p>
            <a:pPr marL="0" indent="0">
              <a:buNone/>
            </a:pPr>
            <a:r>
              <a:rPr lang="en-US" sz="1350" dirty="0">
                <a:solidFill>
                  <a:srgbClr val="6B7570"/>
                </a:solidFill>
                <a:latin typeface="Calibri" pitchFamily="34" charset="0"/>
                <a:ea typeface="Calibri" pitchFamily="34" charset="-122"/>
                <a:cs typeface="Calibri" pitchFamily="34" charset="-120"/>
              </a:rPr>
              <a:t>Les décisions sur l'accessibilité et l'égalité des chances.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02 — MÉTHODOLOGIE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Un pipeline DBT en couches, testé et reproductible</a:t>
            </a:r>
            <a:endParaRPr lang="en-US" sz="3400" dirty="0"/>
          </a:p>
        </p:txBody>
      </p:sp>
      <p:sp>
        <p:nvSpPr>
          <p:cNvPr id="4" name="Shape 2"/>
          <p:cNvSpPr/>
          <p:nvPr/>
        </p:nvSpPr>
        <p:spPr>
          <a:xfrm>
            <a:off x="640080" y="1874520"/>
            <a:ext cx="3401568" cy="2011680"/>
          </a:xfrm>
          <a:prstGeom prst="roundRect">
            <a:avLst>
              <a:gd name="adj" fmla="val 4091"/>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914400" y="2148840"/>
            <a:ext cx="2852928"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BRONZE</a:t>
            </a:r>
            <a:endParaRPr lang="en-US" sz="1300" dirty="0"/>
          </a:p>
        </p:txBody>
      </p:sp>
      <p:sp>
        <p:nvSpPr>
          <p:cNvPr id="6" name="Text 4"/>
          <p:cNvSpPr/>
          <p:nvPr/>
        </p:nvSpPr>
        <p:spPr>
          <a:xfrm>
            <a:off x="914400" y="2532888"/>
            <a:ext cx="2852928" cy="457200"/>
          </a:xfrm>
          <a:prstGeom prst="rect">
            <a:avLst/>
          </a:prstGeom>
          <a:noFill/>
          <a:ln/>
        </p:spPr>
        <p:txBody>
          <a:bodyPr wrap="square" lIns="0" tIns="0" rIns="0" bIns="0" rtlCol="0" anchor="ctr"/>
          <a:lstStyle/>
          <a:p>
            <a:pPr marL="0" indent="0">
              <a:buNone/>
            </a:pPr>
            <a:r>
              <a:rPr lang="en-US" sz="1800" b="1" dirty="0">
                <a:solidFill>
                  <a:srgbClr val="0B3D2E"/>
                </a:solidFill>
                <a:latin typeface="Cambria" pitchFamily="34" charset="0"/>
                <a:ea typeface="Cambria" pitchFamily="34" charset="-122"/>
                <a:cs typeface="Cambria" pitchFamily="34" charset="-120"/>
              </a:rPr>
              <a:t>Sources &amp; seeds</a:t>
            </a:r>
            <a:endParaRPr lang="en-US" sz="1800" dirty="0"/>
          </a:p>
        </p:txBody>
      </p:sp>
      <p:sp>
        <p:nvSpPr>
          <p:cNvPr id="7" name="Text 5"/>
          <p:cNvSpPr/>
          <p:nvPr/>
        </p:nvSpPr>
        <p:spPr>
          <a:xfrm>
            <a:off x="914400" y="3063240"/>
            <a:ext cx="2852928" cy="731520"/>
          </a:xfrm>
          <a:prstGeom prst="rect">
            <a:avLst/>
          </a:prstGeom>
          <a:noFill/>
          <a:ln/>
        </p:spPr>
        <p:txBody>
          <a:bodyPr wrap="square" lIns="0" tIns="0" rIns="0" bIns="0" rtlCol="0" anchor="t"/>
          <a:lstStyle/>
          <a:p>
            <a:r>
              <a:rPr lang="en-US" sz="1250" dirty="0">
                <a:solidFill>
                  <a:srgbClr val="6B7570"/>
                </a:solidFill>
                <a:latin typeface="Calibri" pitchFamily="34" charset="0"/>
                <a:ea typeface="Calibri" pitchFamily="34" charset="-122"/>
                <a:cs typeface="Calibri" pitchFamily="34" charset="-120"/>
              </a:rPr>
              <a:t>Données OC + référentiels INSEE </a:t>
            </a:r>
            <a:r>
              <a:rPr lang="en-US" sz="1250" dirty="0" err="1">
                <a:solidFill>
                  <a:srgbClr val="6B7570"/>
                </a:solidFill>
                <a:latin typeface="Calibri" pitchFamily="34" charset="0"/>
                <a:ea typeface="Calibri" pitchFamily="34" charset="-122"/>
                <a:cs typeface="Calibri" pitchFamily="34" charset="-120"/>
              </a:rPr>
              <a:t>versionnés</a:t>
            </a:r>
            <a:r>
              <a:rPr lang="en-US" sz="1250" dirty="0">
                <a:solidFill>
                  <a:srgbClr val="6B7570"/>
                </a:solidFill>
                <a:latin typeface="Calibri" pitchFamily="34" charset="0"/>
                <a:ea typeface="Calibri" pitchFamily="34" charset="-122"/>
                <a:cs typeface="Calibri" pitchFamily="34" charset="-120"/>
              </a:rPr>
              <a:t> (Snowflake)</a:t>
            </a:r>
            <a:endParaRPr lang="en-US" sz="1250" dirty="0"/>
          </a:p>
        </p:txBody>
      </p:sp>
      <p:sp>
        <p:nvSpPr>
          <p:cNvPr id="8" name="Text 6"/>
          <p:cNvSpPr/>
          <p:nvPr/>
        </p:nvSpPr>
        <p:spPr>
          <a:xfrm>
            <a:off x="4096512" y="1874520"/>
            <a:ext cx="411480" cy="2011680"/>
          </a:xfrm>
          <a:prstGeom prst="rect">
            <a:avLst/>
          </a:prstGeom>
          <a:noFill/>
          <a:ln/>
        </p:spPr>
        <p:txBody>
          <a:bodyPr wrap="square" lIns="0" tIns="0" rIns="0" bIns="0" rtlCol="0" anchor="ctr"/>
          <a:lstStyle/>
          <a:p>
            <a:pPr marL="0" indent="0" algn="ctr">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526280" y="1874520"/>
            <a:ext cx="3401568" cy="2011680"/>
          </a:xfrm>
          <a:prstGeom prst="roundRect">
            <a:avLst>
              <a:gd name="adj" fmla="val 4091"/>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10" name="Text 8"/>
          <p:cNvSpPr/>
          <p:nvPr/>
        </p:nvSpPr>
        <p:spPr>
          <a:xfrm>
            <a:off x="4800600" y="2148840"/>
            <a:ext cx="2852928"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SILVER</a:t>
            </a:r>
            <a:endParaRPr lang="en-US" sz="1300" dirty="0"/>
          </a:p>
        </p:txBody>
      </p:sp>
      <p:sp>
        <p:nvSpPr>
          <p:cNvPr id="11" name="Text 9"/>
          <p:cNvSpPr/>
          <p:nvPr/>
        </p:nvSpPr>
        <p:spPr>
          <a:xfrm>
            <a:off x="4800600" y="2532888"/>
            <a:ext cx="2852928" cy="457200"/>
          </a:xfrm>
          <a:prstGeom prst="rect">
            <a:avLst/>
          </a:prstGeom>
          <a:noFill/>
          <a:ln/>
        </p:spPr>
        <p:txBody>
          <a:bodyPr wrap="square" lIns="0" tIns="0" rIns="0" bIns="0" rtlCol="0" anchor="ctr"/>
          <a:lstStyle/>
          <a:p>
            <a:pPr marL="0" indent="0">
              <a:buNone/>
            </a:pPr>
            <a:r>
              <a:rPr lang="en-US" sz="1800" b="1" dirty="0">
                <a:solidFill>
                  <a:srgbClr val="0B3D2E"/>
                </a:solidFill>
                <a:latin typeface="Cambria" pitchFamily="34" charset="0"/>
                <a:ea typeface="Cambria" pitchFamily="34" charset="-122"/>
                <a:cs typeface="Cambria" pitchFamily="34" charset="-120"/>
              </a:rPr>
              <a:t>Staging + intermediate</a:t>
            </a:r>
            <a:endParaRPr lang="en-US" sz="1800" dirty="0"/>
          </a:p>
        </p:txBody>
      </p:sp>
      <p:sp>
        <p:nvSpPr>
          <p:cNvPr id="12" name="Text 10"/>
          <p:cNvSpPr/>
          <p:nvPr/>
        </p:nvSpPr>
        <p:spPr>
          <a:xfrm>
            <a:off x="4800600" y="3063240"/>
            <a:ext cx="2852928" cy="73152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Nettoyage, harmonisation, enrichissement INSEE</a:t>
            </a:r>
            <a:endParaRPr lang="en-US" sz="1250" dirty="0"/>
          </a:p>
        </p:txBody>
      </p:sp>
      <p:sp>
        <p:nvSpPr>
          <p:cNvPr id="13" name="Text 11"/>
          <p:cNvSpPr/>
          <p:nvPr/>
        </p:nvSpPr>
        <p:spPr>
          <a:xfrm>
            <a:off x="7982712" y="1874520"/>
            <a:ext cx="411480" cy="2011680"/>
          </a:xfrm>
          <a:prstGeom prst="rect">
            <a:avLst/>
          </a:prstGeom>
          <a:noFill/>
          <a:ln/>
        </p:spPr>
        <p:txBody>
          <a:bodyPr wrap="square" lIns="0" tIns="0" rIns="0" bIns="0" rtlCol="0" anchor="ctr"/>
          <a:lstStyle/>
          <a:p>
            <a:pPr marL="0" indent="0" algn="ctr">
              <a:buNone/>
            </a:pPr>
            <a:r>
              <a:rPr lang="en-US" sz="2200" b="1" dirty="0">
                <a:solidFill>
                  <a:srgbClr val="C9A227"/>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8412480" y="1874520"/>
            <a:ext cx="3401568" cy="2011680"/>
          </a:xfrm>
          <a:prstGeom prst="roundRect">
            <a:avLst>
              <a:gd name="adj" fmla="val 4091"/>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15" name="Text 13"/>
          <p:cNvSpPr/>
          <p:nvPr/>
        </p:nvSpPr>
        <p:spPr>
          <a:xfrm>
            <a:off x="8686800" y="2148840"/>
            <a:ext cx="2852928"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GOLD</a:t>
            </a:r>
            <a:endParaRPr lang="en-US" sz="1300" dirty="0"/>
          </a:p>
        </p:txBody>
      </p:sp>
      <p:sp>
        <p:nvSpPr>
          <p:cNvPr id="16" name="Text 14"/>
          <p:cNvSpPr/>
          <p:nvPr/>
        </p:nvSpPr>
        <p:spPr>
          <a:xfrm>
            <a:off x="8686800" y="2532888"/>
            <a:ext cx="2852928"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Marts</a:t>
            </a:r>
            <a:endParaRPr lang="en-US" sz="1800" dirty="0"/>
          </a:p>
        </p:txBody>
      </p:sp>
      <p:sp>
        <p:nvSpPr>
          <p:cNvPr id="17" name="Text 15"/>
          <p:cNvSpPr/>
          <p:nvPr/>
        </p:nvSpPr>
        <p:spPr>
          <a:xfrm>
            <a:off x="8686800" y="3063240"/>
            <a:ext cx="2852928" cy="731520"/>
          </a:xfrm>
          <a:prstGeom prst="rect">
            <a:avLst/>
          </a:prstGeom>
          <a:noFill/>
          <a:ln/>
        </p:spPr>
        <p:txBody>
          <a:bodyPr wrap="square" lIns="0" tIns="0" rIns="0" bIns="0" rtlCol="0" anchor="t"/>
          <a:lstStyle/>
          <a:p>
            <a:pPr marL="0" indent="0">
              <a:buNone/>
            </a:pPr>
            <a:r>
              <a:rPr lang="en-US" sz="1250" dirty="0">
                <a:solidFill>
                  <a:srgbClr val="6FAE8F"/>
                </a:solidFill>
                <a:latin typeface="Calibri" pitchFamily="34" charset="0"/>
                <a:ea typeface="Calibri" pitchFamily="34" charset="-122"/>
                <a:cs typeface="Calibri" pitchFamily="34" charset="-120"/>
              </a:rPr>
              <a:t>Tables agrégées d'analyse + export CSV</a:t>
            </a:r>
            <a:endParaRPr lang="en-US" sz="1250" dirty="0"/>
          </a:p>
        </p:txBody>
      </p:sp>
      <p:sp>
        <p:nvSpPr>
          <p:cNvPr id="18" name="Shape 16"/>
          <p:cNvSpPr/>
          <p:nvPr/>
        </p:nvSpPr>
        <p:spPr>
          <a:xfrm>
            <a:off x="640080" y="4206240"/>
            <a:ext cx="2615184" cy="1371600"/>
          </a:xfrm>
          <a:prstGeom prst="roundRect">
            <a:avLst>
              <a:gd name="adj" fmla="val 6000"/>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9" name="Text 17"/>
          <p:cNvSpPr/>
          <p:nvPr/>
        </p:nvSpPr>
        <p:spPr>
          <a:xfrm>
            <a:off x="640080" y="4407408"/>
            <a:ext cx="2615184" cy="640080"/>
          </a:xfrm>
          <a:prstGeom prst="rect">
            <a:avLst/>
          </a:prstGeom>
          <a:noFill/>
          <a:ln/>
        </p:spPr>
        <p:txBody>
          <a:bodyPr wrap="square" lIns="0" tIns="0" rIns="0" bIns="0" rtlCol="0" anchor="ctr"/>
          <a:lstStyle/>
          <a:p>
            <a:pPr marL="0" indent="0" algn="ctr">
              <a:buNone/>
            </a:pPr>
            <a:r>
              <a:rPr lang="en-US" sz="3200" b="1" dirty="0">
                <a:solidFill>
                  <a:srgbClr val="0B3D2E"/>
                </a:solidFill>
                <a:latin typeface="Cambria" pitchFamily="34" charset="0"/>
                <a:ea typeface="Cambria" pitchFamily="34" charset="-122"/>
                <a:cs typeface="Cambria" pitchFamily="34" charset="-120"/>
              </a:rPr>
              <a:t>3</a:t>
            </a:r>
            <a:endParaRPr lang="en-US" sz="3200" dirty="0"/>
          </a:p>
        </p:txBody>
      </p:sp>
      <p:sp>
        <p:nvSpPr>
          <p:cNvPr id="20" name="Text 18"/>
          <p:cNvSpPr/>
          <p:nvPr/>
        </p:nvSpPr>
        <p:spPr>
          <a:xfrm>
            <a:off x="731520" y="5074920"/>
            <a:ext cx="2432304" cy="411480"/>
          </a:xfrm>
          <a:prstGeom prst="rect">
            <a:avLst/>
          </a:prstGeom>
          <a:noFill/>
          <a:ln/>
        </p:spPr>
        <p:txBody>
          <a:bodyPr wrap="square" lIns="0" tIns="0" rIns="0" bIns="0" rtlCol="0" anchor="ctr"/>
          <a:lstStyle/>
          <a:p>
            <a:pPr marL="0" indent="0" algn="ctr">
              <a:buNone/>
            </a:pPr>
            <a:r>
              <a:rPr lang="en-US" sz="1200" dirty="0">
                <a:solidFill>
                  <a:srgbClr val="6B7570"/>
                </a:solidFill>
                <a:latin typeface="Calibri" pitchFamily="34" charset="0"/>
                <a:ea typeface="Calibri" pitchFamily="34" charset="-122"/>
                <a:cs typeface="Calibri" pitchFamily="34" charset="-120"/>
              </a:rPr>
              <a:t>couches de modèles</a:t>
            </a:r>
            <a:endParaRPr lang="en-US" sz="1200" dirty="0"/>
          </a:p>
        </p:txBody>
      </p:sp>
      <p:sp>
        <p:nvSpPr>
          <p:cNvPr id="21" name="Shape 19"/>
          <p:cNvSpPr/>
          <p:nvPr/>
        </p:nvSpPr>
        <p:spPr>
          <a:xfrm>
            <a:off x="3520440" y="4206240"/>
            <a:ext cx="2615184" cy="1371600"/>
          </a:xfrm>
          <a:prstGeom prst="roundRect">
            <a:avLst>
              <a:gd name="adj" fmla="val 6000"/>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2" name="Text 20"/>
          <p:cNvSpPr/>
          <p:nvPr/>
        </p:nvSpPr>
        <p:spPr>
          <a:xfrm>
            <a:off x="3520440" y="4407408"/>
            <a:ext cx="2615184" cy="640080"/>
          </a:xfrm>
          <a:prstGeom prst="rect">
            <a:avLst/>
          </a:prstGeom>
          <a:noFill/>
          <a:ln/>
        </p:spPr>
        <p:txBody>
          <a:bodyPr wrap="square" lIns="0" tIns="0" rIns="0" bIns="0" rtlCol="0" anchor="ctr"/>
          <a:lstStyle/>
          <a:p>
            <a:pPr marL="0" indent="0" algn="ctr">
              <a:buNone/>
            </a:pPr>
            <a:r>
              <a:rPr lang="en-US" sz="3200" b="1" dirty="0">
                <a:solidFill>
                  <a:srgbClr val="0B3D2E"/>
                </a:solidFill>
                <a:latin typeface="Cambria" pitchFamily="34" charset="0"/>
                <a:ea typeface="Cambria" pitchFamily="34" charset="-122"/>
                <a:cs typeface="Cambria" pitchFamily="34" charset="-120"/>
              </a:rPr>
              <a:t>~34</a:t>
            </a:r>
            <a:endParaRPr lang="en-US" sz="3200" dirty="0"/>
          </a:p>
        </p:txBody>
      </p:sp>
      <p:sp>
        <p:nvSpPr>
          <p:cNvPr id="23" name="Text 21"/>
          <p:cNvSpPr/>
          <p:nvPr/>
        </p:nvSpPr>
        <p:spPr>
          <a:xfrm>
            <a:off x="3611880" y="5074920"/>
            <a:ext cx="2432304" cy="411480"/>
          </a:xfrm>
          <a:prstGeom prst="rect">
            <a:avLst/>
          </a:prstGeom>
          <a:noFill/>
          <a:ln/>
        </p:spPr>
        <p:txBody>
          <a:bodyPr wrap="square" lIns="0" tIns="0" rIns="0" bIns="0" rtlCol="0" anchor="ctr"/>
          <a:lstStyle/>
          <a:p>
            <a:pPr marL="0" indent="0" algn="ctr">
              <a:buNone/>
            </a:pPr>
            <a:r>
              <a:rPr lang="en-US" sz="1200" dirty="0">
                <a:solidFill>
                  <a:srgbClr val="6B7570"/>
                </a:solidFill>
                <a:latin typeface="Calibri" pitchFamily="34" charset="0"/>
                <a:ea typeface="Calibri" pitchFamily="34" charset="-122"/>
                <a:cs typeface="Calibri" pitchFamily="34" charset="-120"/>
              </a:rPr>
              <a:t>tests automatisés</a:t>
            </a:r>
            <a:endParaRPr lang="en-US" sz="1200" dirty="0"/>
          </a:p>
        </p:txBody>
      </p:sp>
      <p:sp>
        <p:nvSpPr>
          <p:cNvPr id="24" name="Shape 22"/>
          <p:cNvSpPr/>
          <p:nvPr/>
        </p:nvSpPr>
        <p:spPr>
          <a:xfrm>
            <a:off x="6400800" y="4206240"/>
            <a:ext cx="2615184" cy="1371600"/>
          </a:xfrm>
          <a:prstGeom prst="roundRect">
            <a:avLst>
              <a:gd name="adj" fmla="val 6000"/>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5" name="Text 23"/>
          <p:cNvSpPr/>
          <p:nvPr/>
        </p:nvSpPr>
        <p:spPr>
          <a:xfrm>
            <a:off x="6400800" y="4407408"/>
            <a:ext cx="2615184" cy="640080"/>
          </a:xfrm>
          <a:prstGeom prst="rect">
            <a:avLst/>
          </a:prstGeom>
          <a:noFill/>
          <a:ln/>
        </p:spPr>
        <p:txBody>
          <a:bodyPr wrap="square" lIns="0" tIns="0" rIns="0" bIns="0" rtlCol="0" anchor="ctr"/>
          <a:lstStyle/>
          <a:p>
            <a:pPr marL="0" indent="0" algn="ctr">
              <a:buNone/>
            </a:pPr>
            <a:r>
              <a:rPr lang="en-US" sz="3200" b="1" dirty="0">
                <a:solidFill>
                  <a:srgbClr val="0B3D2E"/>
                </a:solidFill>
                <a:latin typeface="Cambria" pitchFamily="34" charset="0"/>
                <a:ea typeface="Cambria" pitchFamily="34" charset="-122"/>
                <a:cs typeface="Cambria" pitchFamily="34" charset="-120"/>
              </a:rPr>
              <a:t>1</a:t>
            </a:r>
            <a:endParaRPr lang="en-US" sz="3200" dirty="0"/>
          </a:p>
        </p:txBody>
      </p:sp>
      <p:sp>
        <p:nvSpPr>
          <p:cNvPr id="26" name="Text 24"/>
          <p:cNvSpPr/>
          <p:nvPr/>
        </p:nvSpPr>
        <p:spPr>
          <a:xfrm>
            <a:off x="6492240" y="5074920"/>
            <a:ext cx="2432304" cy="411480"/>
          </a:xfrm>
          <a:prstGeom prst="rect">
            <a:avLst/>
          </a:prstGeom>
          <a:noFill/>
          <a:ln/>
        </p:spPr>
        <p:txBody>
          <a:bodyPr wrap="square" lIns="0" tIns="0" rIns="0" bIns="0" rtlCol="0" anchor="ctr"/>
          <a:lstStyle/>
          <a:p>
            <a:pPr marL="0" indent="0" algn="ctr">
              <a:buNone/>
            </a:pPr>
            <a:r>
              <a:rPr lang="en-US" sz="1200" dirty="0">
                <a:solidFill>
                  <a:srgbClr val="6B7570"/>
                </a:solidFill>
                <a:latin typeface="Calibri" pitchFamily="34" charset="0"/>
                <a:ea typeface="Calibri" pitchFamily="34" charset="-122"/>
                <a:cs typeface="Calibri" pitchFamily="34" charset="-120"/>
              </a:rPr>
              <a:t>macro d'harmonisation</a:t>
            </a:r>
            <a:endParaRPr lang="en-US" sz="1200" dirty="0"/>
          </a:p>
        </p:txBody>
      </p:sp>
      <p:sp>
        <p:nvSpPr>
          <p:cNvPr id="27" name="Shape 25"/>
          <p:cNvSpPr/>
          <p:nvPr/>
        </p:nvSpPr>
        <p:spPr>
          <a:xfrm>
            <a:off x="9281160" y="4206240"/>
            <a:ext cx="2615184" cy="1371600"/>
          </a:xfrm>
          <a:prstGeom prst="roundRect">
            <a:avLst>
              <a:gd name="adj" fmla="val 6000"/>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8" name="Text 26"/>
          <p:cNvSpPr/>
          <p:nvPr/>
        </p:nvSpPr>
        <p:spPr>
          <a:xfrm>
            <a:off x="9281160" y="4407408"/>
            <a:ext cx="2615184" cy="640080"/>
          </a:xfrm>
          <a:prstGeom prst="rect">
            <a:avLst/>
          </a:prstGeom>
          <a:noFill/>
          <a:ln/>
        </p:spPr>
        <p:txBody>
          <a:bodyPr wrap="square" lIns="0" tIns="0" rIns="0" bIns="0" rtlCol="0" anchor="ctr"/>
          <a:lstStyle/>
          <a:p>
            <a:pPr marL="0" indent="0" algn="ctr">
              <a:buNone/>
            </a:pPr>
            <a:r>
              <a:rPr lang="en-US" sz="3200" b="1" dirty="0">
                <a:solidFill>
                  <a:srgbClr val="0B3D2E"/>
                </a:solidFill>
                <a:latin typeface="Cambria" pitchFamily="34" charset="0"/>
                <a:ea typeface="Cambria" pitchFamily="34" charset="-122"/>
                <a:cs typeface="Cambria" pitchFamily="34" charset="-120"/>
              </a:rPr>
              <a:t>100 %</a:t>
            </a:r>
            <a:endParaRPr lang="en-US" sz="3200" dirty="0"/>
          </a:p>
        </p:txBody>
      </p:sp>
      <p:sp>
        <p:nvSpPr>
          <p:cNvPr id="29" name="Text 27"/>
          <p:cNvSpPr/>
          <p:nvPr/>
        </p:nvSpPr>
        <p:spPr>
          <a:xfrm>
            <a:off x="9372600" y="5074920"/>
            <a:ext cx="2432304" cy="411480"/>
          </a:xfrm>
          <a:prstGeom prst="rect">
            <a:avLst/>
          </a:prstGeom>
          <a:noFill/>
          <a:ln/>
        </p:spPr>
        <p:txBody>
          <a:bodyPr wrap="square" lIns="0" tIns="0" rIns="0" bIns="0" rtlCol="0" anchor="ctr"/>
          <a:lstStyle/>
          <a:p>
            <a:pPr marL="0" indent="0" algn="ctr">
              <a:buNone/>
            </a:pPr>
            <a:r>
              <a:rPr lang="en-US" sz="1200" dirty="0">
                <a:solidFill>
                  <a:srgbClr val="6B7570"/>
                </a:solidFill>
                <a:latin typeface="Calibri" pitchFamily="34" charset="0"/>
                <a:ea typeface="Calibri" pitchFamily="34" charset="-122"/>
                <a:cs typeface="Calibri" pitchFamily="34" charset="-120"/>
              </a:rPr>
              <a:t>reproductible (dbt run)</a:t>
            </a:r>
            <a:endParaRPr lang="en-US" sz="1200" dirty="0"/>
          </a:p>
        </p:txBody>
      </p:sp>
      <p:sp>
        <p:nvSpPr>
          <p:cNvPr id="30" name="Text 28"/>
          <p:cNvSpPr/>
          <p:nvPr/>
        </p:nvSpPr>
        <p:spPr>
          <a:xfrm>
            <a:off x="640080" y="5806440"/>
            <a:ext cx="10972800" cy="365760"/>
          </a:xfrm>
          <a:prstGeom prst="rect">
            <a:avLst/>
          </a:prstGeom>
          <a:noFill/>
          <a:ln/>
        </p:spPr>
        <p:txBody>
          <a:bodyPr wrap="square" lIns="0" tIns="0" rIns="0" bIns="0" rtlCol="0" anchor="ctr"/>
          <a:lstStyle/>
          <a:p>
            <a:pPr marL="0" indent="0" algn="ctr">
              <a:buNone/>
            </a:pPr>
            <a:r>
              <a:rPr lang="en-US" sz="1100" dirty="0">
                <a:solidFill>
                  <a:srgbClr val="1B6B4C"/>
                </a:solidFill>
                <a:latin typeface="Courier New" pitchFamily="34" charset="0"/>
                <a:ea typeface="Courier New" pitchFamily="34" charset="-122"/>
                <a:cs typeface="Courier New" pitchFamily="34" charset="-120"/>
              </a:rPr>
              <a:t>stg_etudiants · stg_insee__{population, chomage, structure_age} → int_inscriptions_enrichies → mart_demographie · mart_synthese_region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03 — SOURCES, QUALITÉ &amp; RGPD</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Des données fiabilisées et conformes</a:t>
            </a:r>
            <a:endParaRPr lang="en-US" sz="3400" dirty="0"/>
          </a:p>
        </p:txBody>
      </p:sp>
      <p:sp>
        <p:nvSpPr>
          <p:cNvPr id="4" name="Shape 2"/>
          <p:cNvSpPr/>
          <p:nvPr/>
        </p:nvSpPr>
        <p:spPr>
          <a:xfrm>
            <a:off x="640080" y="1737360"/>
            <a:ext cx="2615184" cy="1234440"/>
          </a:xfrm>
          <a:prstGeom prst="roundRect">
            <a:avLst>
              <a:gd name="adj" fmla="val 6667"/>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640080" y="1920240"/>
            <a:ext cx="2615184" cy="566928"/>
          </a:xfrm>
          <a:prstGeom prst="rect">
            <a:avLst/>
          </a:prstGeom>
          <a:noFill/>
          <a:ln/>
        </p:spPr>
        <p:txBody>
          <a:bodyPr wrap="square" lIns="0" tIns="0" rIns="0" bIns="0" rtlCol="0" anchor="ctr"/>
          <a:lstStyle/>
          <a:p>
            <a:pPr marL="0" indent="0" algn="ctr">
              <a:buNone/>
            </a:pPr>
            <a:r>
              <a:rPr lang="en-US" sz="3000" b="1" dirty="0">
                <a:solidFill>
                  <a:srgbClr val="C9A227"/>
                </a:solidFill>
                <a:latin typeface="Cambria" pitchFamily="34" charset="0"/>
                <a:ea typeface="Cambria" pitchFamily="34" charset="-122"/>
                <a:cs typeface="Cambria" pitchFamily="34" charset="-120"/>
              </a:rPr>
              <a:t>4 647</a:t>
            </a:r>
            <a:endParaRPr lang="en-US" sz="3000" dirty="0"/>
          </a:p>
        </p:txBody>
      </p:sp>
      <p:sp>
        <p:nvSpPr>
          <p:cNvPr id="6" name="Text 4"/>
          <p:cNvSpPr/>
          <p:nvPr/>
        </p:nvSpPr>
        <p:spPr>
          <a:xfrm>
            <a:off x="731520" y="2523744"/>
            <a:ext cx="2432304"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inscriptions brutes</a:t>
            </a:r>
            <a:endParaRPr lang="en-US" sz="1200" dirty="0"/>
          </a:p>
        </p:txBody>
      </p:sp>
      <p:sp>
        <p:nvSpPr>
          <p:cNvPr id="7" name="Shape 5"/>
          <p:cNvSpPr/>
          <p:nvPr/>
        </p:nvSpPr>
        <p:spPr>
          <a:xfrm>
            <a:off x="3520440" y="1737360"/>
            <a:ext cx="2615184" cy="1234440"/>
          </a:xfrm>
          <a:prstGeom prst="roundRect">
            <a:avLst>
              <a:gd name="adj" fmla="val 6667"/>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8" name="Text 6"/>
          <p:cNvSpPr/>
          <p:nvPr/>
        </p:nvSpPr>
        <p:spPr>
          <a:xfrm>
            <a:off x="3520440" y="1920240"/>
            <a:ext cx="2615184" cy="566928"/>
          </a:xfrm>
          <a:prstGeom prst="rect">
            <a:avLst/>
          </a:prstGeom>
          <a:noFill/>
          <a:ln/>
        </p:spPr>
        <p:txBody>
          <a:bodyPr wrap="square" lIns="0" tIns="0" rIns="0" bIns="0" rtlCol="0" anchor="ctr"/>
          <a:lstStyle/>
          <a:p>
            <a:pPr marL="0" indent="0" algn="ctr">
              <a:buNone/>
            </a:pPr>
            <a:r>
              <a:rPr lang="en-US" sz="3000" b="1" dirty="0">
                <a:solidFill>
                  <a:srgbClr val="C9A227"/>
                </a:solidFill>
                <a:latin typeface="Cambria" pitchFamily="34" charset="0"/>
                <a:ea typeface="Cambria" pitchFamily="34" charset="-122"/>
                <a:cs typeface="Cambria" pitchFamily="34" charset="-120"/>
              </a:rPr>
              <a:t>4 010</a:t>
            </a:r>
            <a:endParaRPr lang="en-US" sz="3000" dirty="0"/>
          </a:p>
        </p:txBody>
      </p:sp>
      <p:sp>
        <p:nvSpPr>
          <p:cNvPr id="9" name="Text 7"/>
          <p:cNvSpPr/>
          <p:nvPr/>
        </p:nvSpPr>
        <p:spPr>
          <a:xfrm>
            <a:off x="3611880" y="2523744"/>
            <a:ext cx="2432304"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étudiants distincts</a:t>
            </a:r>
            <a:endParaRPr lang="en-US" sz="1200" dirty="0"/>
          </a:p>
        </p:txBody>
      </p:sp>
      <p:sp>
        <p:nvSpPr>
          <p:cNvPr id="10" name="Shape 8"/>
          <p:cNvSpPr/>
          <p:nvPr/>
        </p:nvSpPr>
        <p:spPr>
          <a:xfrm>
            <a:off x="6400800" y="1737360"/>
            <a:ext cx="2615184" cy="1234440"/>
          </a:xfrm>
          <a:prstGeom prst="roundRect">
            <a:avLst>
              <a:gd name="adj" fmla="val 6667"/>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11" name="Text 9"/>
          <p:cNvSpPr/>
          <p:nvPr/>
        </p:nvSpPr>
        <p:spPr>
          <a:xfrm>
            <a:off x="6400800" y="1920240"/>
            <a:ext cx="2615184" cy="566928"/>
          </a:xfrm>
          <a:prstGeom prst="rect">
            <a:avLst/>
          </a:prstGeom>
          <a:noFill/>
          <a:ln/>
        </p:spPr>
        <p:txBody>
          <a:bodyPr wrap="square" lIns="0" tIns="0" rIns="0" bIns="0" rtlCol="0" anchor="ctr"/>
          <a:lstStyle/>
          <a:p>
            <a:pPr marL="0" indent="0" algn="ctr">
              <a:buNone/>
            </a:pPr>
            <a:r>
              <a:rPr lang="en-US" sz="3000" b="1" dirty="0">
                <a:solidFill>
                  <a:srgbClr val="C9A227"/>
                </a:solidFill>
                <a:latin typeface="Cambria" pitchFamily="34" charset="0"/>
                <a:ea typeface="Cambria" pitchFamily="34" charset="-122"/>
                <a:cs typeface="Cambria" pitchFamily="34" charset="-120"/>
              </a:rPr>
              <a:t>13</a:t>
            </a:r>
            <a:endParaRPr lang="en-US" sz="3000" dirty="0"/>
          </a:p>
        </p:txBody>
      </p:sp>
      <p:sp>
        <p:nvSpPr>
          <p:cNvPr id="12" name="Text 10"/>
          <p:cNvSpPr/>
          <p:nvPr/>
        </p:nvSpPr>
        <p:spPr>
          <a:xfrm>
            <a:off x="6492240" y="2523744"/>
            <a:ext cx="2432304"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régions · 4 années</a:t>
            </a:r>
            <a:endParaRPr lang="en-US" sz="1200" dirty="0"/>
          </a:p>
        </p:txBody>
      </p:sp>
      <p:sp>
        <p:nvSpPr>
          <p:cNvPr id="13" name="Shape 11"/>
          <p:cNvSpPr/>
          <p:nvPr/>
        </p:nvSpPr>
        <p:spPr>
          <a:xfrm>
            <a:off x="9281160" y="1737360"/>
            <a:ext cx="2615184" cy="1234440"/>
          </a:xfrm>
          <a:prstGeom prst="roundRect">
            <a:avLst>
              <a:gd name="adj" fmla="val 6667"/>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14" name="Text 12"/>
          <p:cNvSpPr/>
          <p:nvPr/>
        </p:nvSpPr>
        <p:spPr>
          <a:xfrm>
            <a:off x="9281160" y="1920240"/>
            <a:ext cx="2615184" cy="566928"/>
          </a:xfrm>
          <a:prstGeom prst="rect">
            <a:avLst/>
          </a:prstGeom>
          <a:noFill/>
          <a:ln/>
        </p:spPr>
        <p:txBody>
          <a:bodyPr wrap="square" lIns="0" tIns="0" rIns="0" bIns="0" rtlCol="0" anchor="ctr"/>
          <a:lstStyle/>
          <a:p>
            <a:pPr marL="0" indent="0" algn="ctr">
              <a:buNone/>
            </a:pPr>
            <a:r>
              <a:rPr lang="en-US" sz="3000" b="1" dirty="0">
                <a:solidFill>
                  <a:srgbClr val="C9A227"/>
                </a:solidFill>
                <a:latin typeface="Cambria" pitchFamily="34" charset="0"/>
                <a:ea typeface="Cambria" pitchFamily="34" charset="-122"/>
                <a:cs typeface="Cambria" pitchFamily="34" charset="-120"/>
              </a:rPr>
              <a:t>3</a:t>
            </a:r>
            <a:endParaRPr lang="en-US" sz="3000" dirty="0"/>
          </a:p>
        </p:txBody>
      </p:sp>
      <p:sp>
        <p:nvSpPr>
          <p:cNvPr id="15" name="Text 13"/>
          <p:cNvSpPr/>
          <p:nvPr/>
        </p:nvSpPr>
        <p:spPr>
          <a:xfrm>
            <a:off x="9372600" y="2523744"/>
            <a:ext cx="2432304"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référentiels INSEE</a:t>
            </a:r>
            <a:endParaRPr lang="en-US" sz="1200" dirty="0"/>
          </a:p>
        </p:txBody>
      </p:sp>
      <p:sp>
        <p:nvSpPr>
          <p:cNvPr id="16" name="Shape 14"/>
          <p:cNvSpPr/>
          <p:nvPr/>
        </p:nvSpPr>
        <p:spPr>
          <a:xfrm>
            <a:off x="640080" y="3246120"/>
            <a:ext cx="5349240" cy="2743200"/>
          </a:xfrm>
          <a:prstGeom prst="roundRect">
            <a:avLst>
              <a:gd name="adj" fmla="val 3000"/>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7" name="Shape 15"/>
          <p:cNvSpPr/>
          <p:nvPr/>
        </p:nvSpPr>
        <p:spPr>
          <a:xfrm>
            <a:off x="6400800" y="3246120"/>
            <a:ext cx="5349240" cy="2743200"/>
          </a:xfrm>
          <a:prstGeom prst="roundRect">
            <a:avLst>
              <a:gd name="adj" fmla="val 3000"/>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18" name="Text 16"/>
          <p:cNvSpPr/>
          <p:nvPr/>
        </p:nvSpPr>
        <p:spPr>
          <a:xfrm>
            <a:off x="914400" y="3474720"/>
            <a:ext cx="4800600" cy="36576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Traitements qualité</a:t>
            </a:r>
            <a:endParaRPr lang="en-US" sz="1700" dirty="0"/>
          </a:p>
        </p:txBody>
      </p:sp>
      <p:sp>
        <p:nvSpPr>
          <p:cNvPr id="19" name="Text 17"/>
          <p:cNvSpPr/>
          <p:nvPr/>
        </p:nvSpPr>
        <p:spPr>
          <a:xfrm>
            <a:off x="914400" y="3931920"/>
            <a:ext cx="475488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Genre manquant → « Non renseigné » (ligne conservée)</a:t>
            </a:r>
            <a:endParaRPr lang="en-US" sz="1300" dirty="0"/>
          </a:p>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Trim &amp; harmonisation des libellés de région (macro dédiée)</a:t>
            </a:r>
            <a:endParaRPr lang="en-US" sz="1300" dirty="0"/>
          </a:p>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Grain conservé = l'inscription (pas de déduplication aveugle)</a:t>
            </a:r>
            <a:endParaRPr lang="en-US" sz="1300" dirty="0"/>
          </a:p>
          <a:p>
            <a:pPr marL="342900" indent="-342900">
              <a:spcAft>
                <a:spcPts val="800"/>
              </a:spcAft>
              <a:buSzPct val="100000"/>
              <a:buChar char="•"/>
            </a:pPr>
            <a:r>
              <a:rPr lang="en-US" sz="1300" b="1" dirty="0">
                <a:solidFill>
                  <a:srgbClr val="1B6B4C"/>
                </a:solidFill>
                <a:latin typeface="Calibri" pitchFamily="34" charset="0"/>
                <a:ea typeface="Calibri" pitchFamily="34" charset="-122"/>
                <a:cs typeface="Calibri" pitchFamily="34" charset="-120"/>
              </a:rPr>
              <a:t>~34 tests DBT + test de réconciliation (Σ = 4 647)</a:t>
            </a:r>
            <a:endParaRPr lang="en-US" sz="1300" dirty="0"/>
          </a:p>
        </p:txBody>
      </p:sp>
      <p:sp>
        <p:nvSpPr>
          <p:cNvPr id="20" name="Text 18"/>
          <p:cNvSpPr/>
          <p:nvPr/>
        </p:nvSpPr>
        <p:spPr>
          <a:xfrm>
            <a:off x="6400800" y="3474720"/>
            <a:ext cx="4800600" cy="365760"/>
          </a:xfrm>
          <a:prstGeom prst="rect">
            <a:avLst/>
          </a:prstGeom>
          <a:noFill/>
          <a:ln/>
        </p:spPr>
        <p:txBody>
          <a:bodyPr wrap="square" lIns="0" tIns="0" rIns="0" bIns="0" rtlCol="0" anchor="ctr"/>
          <a:lstStyle/>
          <a:p>
            <a:pPr marL="0" indent="0">
              <a:buNone/>
            </a:pPr>
            <a:r>
              <a:rPr lang="en-US" sz="1700" b="1" dirty="0">
                <a:solidFill>
                  <a:srgbClr val="0B3D2E"/>
                </a:solidFill>
                <a:latin typeface="Cambria" pitchFamily="34" charset="0"/>
                <a:ea typeface="Cambria" pitchFamily="34" charset="-122"/>
                <a:cs typeface="Cambria" pitchFamily="34" charset="-120"/>
              </a:rPr>
              <a:t>Conformité RGPD</a:t>
            </a:r>
            <a:endParaRPr lang="en-US" sz="1700" dirty="0"/>
          </a:p>
        </p:txBody>
      </p:sp>
      <p:sp>
        <p:nvSpPr>
          <p:cNvPr id="21" name="Text 19"/>
          <p:cNvSpPr/>
          <p:nvPr/>
        </p:nvSpPr>
        <p:spPr>
          <a:xfrm>
            <a:off x="6400800" y="3931920"/>
            <a:ext cx="470916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Minimisation : seules les variables utiles sont conservées</a:t>
            </a:r>
            <a:endParaRPr lang="en-US" sz="1300" dirty="0"/>
          </a:p>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Pseudonymisation : USER_ID technique, aucun nom / e-mail</a:t>
            </a:r>
            <a:endParaRPr lang="en-US" sz="1300" dirty="0"/>
          </a:p>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Tables finales agrégées → aucune ligne individuelle</a:t>
            </a:r>
            <a:endParaRPr lang="en-US" sz="1300" dirty="0"/>
          </a:p>
          <a:p>
            <a:pPr marL="342900" indent="-342900">
              <a:spcAft>
                <a:spcPts val="800"/>
              </a:spcAft>
              <a:buSzPct val="100000"/>
              <a:buChar char="•"/>
            </a:pPr>
            <a:r>
              <a:rPr lang="en-US" sz="1300" dirty="0">
                <a:solidFill>
                  <a:srgbClr val="223029"/>
                </a:solidFill>
                <a:latin typeface="Calibri" pitchFamily="34" charset="0"/>
                <a:ea typeface="Calibri" pitchFamily="34" charset="-122"/>
                <a:cs typeface="Calibri" pitchFamily="34" charset="-120"/>
              </a:rPr>
              <a:t>Vigilance petits effectifs (ex. DROM) pour éviter la réidentification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04 — VOLUME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Un décrochage marqué, puis un rebond en 2025</a:t>
            </a:r>
            <a:endParaRPr lang="en-US" sz="3400" dirty="0"/>
          </a:p>
        </p:txBody>
      </p:sp>
      <p:sp>
        <p:nvSpPr>
          <p:cNvPr id="4" name="Shape 2"/>
          <p:cNvSpPr/>
          <p:nvPr/>
        </p:nvSpPr>
        <p:spPr>
          <a:xfrm>
            <a:off x="640080" y="1783080"/>
            <a:ext cx="740664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graphicFrame>
        <p:nvGraphicFramePr>
          <p:cNvPr id="5" name="Chart 0"/>
          <p:cNvGraphicFramePr/>
          <p:nvPr/>
        </p:nvGraphicFramePr>
        <p:xfrm>
          <a:off x="868680" y="201168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275320" y="1847088"/>
            <a:ext cx="3246120" cy="1298448"/>
          </a:xfrm>
          <a:prstGeom prst="roundRect">
            <a:avLst>
              <a:gd name="adj" fmla="val 6338"/>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7" name="Text 4"/>
          <p:cNvSpPr/>
          <p:nvPr/>
        </p:nvSpPr>
        <p:spPr>
          <a:xfrm>
            <a:off x="8531352" y="2029968"/>
            <a:ext cx="1280160" cy="36576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2022</a:t>
            </a:r>
            <a:endParaRPr lang="en-US" sz="1300" dirty="0"/>
          </a:p>
        </p:txBody>
      </p:sp>
      <p:sp>
        <p:nvSpPr>
          <p:cNvPr id="8" name="Text 5"/>
          <p:cNvSpPr/>
          <p:nvPr/>
        </p:nvSpPr>
        <p:spPr>
          <a:xfrm>
            <a:off x="8531352" y="2322576"/>
            <a:ext cx="2788920" cy="502920"/>
          </a:xfrm>
          <a:prstGeom prst="rect">
            <a:avLst/>
          </a:prstGeom>
          <a:noFill/>
          <a:ln/>
        </p:spPr>
        <p:txBody>
          <a:bodyPr wrap="square" lIns="0" tIns="0" rIns="0" bIns="0" rtlCol="0" anchor="ctr"/>
          <a:lstStyle/>
          <a:p>
            <a:pPr marL="0" indent="0">
              <a:buNone/>
            </a:pPr>
            <a:r>
              <a:rPr lang="en-US" sz="2600" b="1" dirty="0">
                <a:solidFill>
                  <a:srgbClr val="223029"/>
                </a:solidFill>
                <a:latin typeface="Cambria" pitchFamily="34" charset="0"/>
                <a:ea typeface="Cambria" pitchFamily="34" charset="-122"/>
                <a:cs typeface="Cambria" pitchFamily="34" charset="-120"/>
              </a:rPr>
              <a:t>1 696</a:t>
            </a:r>
            <a:endParaRPr lang="en-US" sz="2600" dirty="0"/>
          </a:p>
        </p:txBody>
      </p:sp>
      <p:sp>
        <p:nvSpPr>
          <p:cNvPr id="9" name="Text 6"/>
          <p:cNvSpPr/>
          <p:nvPr/>
        </p:nvSpPr>
        <p:spPr>
          <a:xfrm>
            <a:off x="8531352" y="2798064"/>
            <a:ext cx="2788920" cy="292608"/>
          </a:xfrm>
          <a:prstGeom prst="rect">
            <a:avLst/>
          </a:prstGeom>
          <a:noFill/>
          <a:ln/>
        </p:spPr>
        <p:txBody>
          <a:bodyPr wrap="square" lIns="0" tIns="0" rIns="0" bIns="0" rtlCol="0" anchor="ctr"/>
          <a:lstStyle/>
          <a:p>
            <a:pPr marL="0" indent="0">
              <a:buNone/>
            </a:pPr>
            <a:r>
              <a:rPr lang="en-US" sz="1150" dirty="0">
                <a:solidFill>
                  <a:srgbClr val="6B7570"/>
                </a:solidFill>
                <a:latin typeface="Calibri" pitchFamily="34" charset="0"/>
                <a:ea typeface="Calibri" pitchFamily="34" charset="-122"/>
                <a:cs typeface="Calibri" pitchFamily="34" charset="-120"/>
              </a:rPr>
              <a:t>année de référence</a:t>
            </a:r>
            <a:endParaRPr lang="en-US" sz="1150" dirty="0"/>
          </a:p>
        </p:txBody>
      </p:sp>
      <p:sp>
        <p:nvSpPr>
          <p:cNvPr id="10" name="Shape 7"/>
          <p:cNvSpPr/>
          <p:nvPr/>
        </p:nvSpPr>
        <p:spPr>
          <a:xfrm>
            <a:off x="8275320" y="3328416"/>
            <a:ext cx="3246120" cy="1298448"/>
          </a:xfrm>
          <a:prstGeom prst="roundRect">
            <a:avLst>
              <a:gd name="adj" fmla="val 6338"/>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1" name="Text 8"/>
          <p:cNvSpPr/>
          <p:nvPr/>
        </p:nvSpPr>
        <p:spPr>
          <a:xfrm>
            <a:off x="8531352" y="3511296"/>
            <a:ext cx="1280160" cy="365760"/>
          </a:xfrm>
          <a:prstGeom prst="rect">
            <a:avLst/>
          </a:prstGeom>
          <a:noFill/>
          <a:ln/>
        </p:spPr>
        <p:txBody>
          <a:bodyPr wrap="square" lIns="0" tIns="0" rIns="0" bIns="0" rtlCol="0" anchor="ctr"/>
          <a:lstStyle/>
          <a:p>
            <a:pPr marL="0" indent="0">
              <a:buNone/>
            </a:pPr>
            <a:r>
              <a:rPr lang="en-US" sz="1300" b="1" dirty="0">
                <a:solidFill>
                  <a:srgbClr val="B23A2E"/>
                </a:solidFill>
                <a:latin typeface="Calibri" pitchFamily="34" charset="0"/>
                <a:ea typeface="Calibri" pitchFamily="34" charset="-122"/>
                <a:cs typeface="Calibri" pitchFamily="34" charset="-120"/>
              </a:rPr>
              <a:t>2024</a:t>
            </a:r>
            <a:endParaRPr lang="en-US" sz="1300" dirty="0"/>
          </a:p>
        </p:txBody>
      </p:sp>
      <p:sp>
        <p:nvSpPr>
          <p:cNvPr id="12" name="Text 9"/>
          <p:cNvSpPr/>
          <p:nvPr/>
        </p:nvSpPr>
        <p:spPr>
          <a:xfrm>
            <a:off x="8531352" y="3803904"/>
            <a:ext cx="2788920" cy="502920"/>
          </a:xfrm>
          <a:prstGeom prst="rect">
            <a:avLst/>
          </a:prstGeom>
          <a:noFill/>
          <a:ln/>
        </p:spPr>
        <p:txBody>
          <a:bodyPr wrap="square" lIns="0" tIns="0" rIns="0" bIns="0" rtlCol="0" anchor="ctr"/>
          <a:lstStyle/>
          <a:p>
            <a:pPr marL="0" indent="0">
              <a:buNone/>
            </a:pPr>
            <a:r>
              <a:rPr lang="en-US" sz="2600" b="1" dirty="0">
                <a:solidFill>
                  <a:srgbClr val="223029"/>
                </a:solidFill>
                <a:latin typeface="Cambria" pitchFamily="34" charset="0"/>
                <a:ea typeface="Cambria" pitchFamily="34" charset="-122"/>
                <a:cs typeface="Cambria" pitchFamily="34" charset="-120"/>
              </a:rPr>
              <a:t>850</a:t>
            </a:r>
            <a:endParaRPr lang="en-US" sz="2600" dirty="0"/>
          </a:p>
        </p:txBody>
      </p:sp>
      <p:sp>
        <p:nvSpPr>
          <p:cNvPr id="13" name="Text 10"/>
          <p:cNvSpPr/>
          <p:nvPr/>
        </p:nvSpPr>
        <p:spPr>
          <a:xfrm>
            <a:off x="8531352" y="4279392"/>
            <a:ext cx="2788920" cy="292608"/>
          </a:xfrm>
          <a:prstGeom prst="rect">
            <a:avLst/>
          </a:prstGeom>
          <a:noFill/>
          <a:ln/>
        </p:spPr>
        <p:txBody>
          <a:bodyPr wrap="square" lIns="0" tIns="0" rIns="0" bIns="0" rtlCol="0" anchor="ctr"/>
          <a:lstStyle/>
          <a:p>
            <a:pPr marL="0" indent="0">
              <a:buNone/>
            </a:pPr>
            <a:r>
              <a:rPr lang="en-US" sz="1150" dirty="0">
                <a:solidFill>
                  <a:srgbClr val="6B7570"/>
                </a:solidFill>
                <a:latin typeface="Calibri" pitchFamily="34" charset="0"/>
                <a:ea typeface="Calibri" pitchFamily="34" charset="-122"/>
                <a:cs typeface="Calibri" pitchFamily="34" charset="-120"/>
              </a:rPr>
              <a:t>point bas (-50 %)</a:t>
            </a:r>
            <a:endParaRPr lang="en-US" sz="1150" dirty="0"/>
          </a:p>
        </p:txBody>
      </p:sp>
      <p:sp>
        <p:nvSpPr>
          <p:cNvPr id="14" name="Shape 11"/>
          <p:cNvSpPr/>
          <p:nvPr/>
        </p:nvSpPr>
        <p:spPr>
          <a:xfrm>
            <a:off x="8275320" y="4809744"/>
            <a:ext cx="3246120" cy="1298448"/>
          </a:xfrm>
          <a:prstGeom prst="roundRect">
            <a:avLst>
              <a:gd name="adj" fmla="val 6338"/>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5" name="Text 12"/>
          <p:cNvSpPr/>
          <p:nvPr/>
        </p:nvSpPr>
        <p:spPr>
          <a:xfrm>
            <a:off x="8531352" y="4992624"/>
            <a:ext cx="1280160" cy="365760"/>
          </a:xfrm>
          <a:prstGeom prst="rect">
            <a:avLst/>
          </a:prstGeom>
          <a:noFill/>
          <a:ln/>
        </p:spPr>
        <p:txBody>
          <a:bodyPr wrap="square" lIns="0" tIns="0" rIns="0" bIns="0" rtlCol="0" anchor="ctr"/>
          <a:lstStyle/>
          <a:p>
            <a:pPr marL="0" indent="0">
              <a:buNone/>
            </a:pPr>
            <a:r>
              <a:rPr lang="en-US" sz="1300" b="1" dirty="0">
                <a:solidFill>
                  <a:srgbClr val="1B6B4C"/>
                </a:solidFill>
                <a:latin typeface="Calibri" pitchFamily="34" charset="0"/>
                <a:ea typeface="Calibri" pitchFamily="34" charset="-122"/>
                <a:cs typeface="Calibri" pitchFamily="34" charset="-120"/>
              </a:rPr>
              <a:t>2025</a:t>
            </a:r>
            <a:endParaRPr lang="en-US" sz="1300" dirty="0"/>
          </a:p>
        </p:txBody>
      </p:sp>
      <p:sp>
        <p:nvSpPr>
          <p:cNvPr id="16" name="Text 13"/>
          <p:cNvSpPr/>
          <p:nvPr/>
        </p:nvSpPr>
        <p:spPr>
          <a:xfrm>
            <a:off x="8531352" y="5285232"/>
            <a:ext cx="2788920" cy="502920"/>
          </a:xfrm>
          <a:prstGeom prst="rect">
            <a:avLst/>
          </a:prstGeom>
          <a:noFill/>
          <a:ln/>
        </p:spPr>
        <p:txBody>
          <a:bodyPr wrap="square" lIns="0" tIns="0" rIns="0" bIns="0" rtlCol="0" anchor="ctr"/>
          <a:lstStyle/>
          <a:p>
            <a:pPr marL="0" indent="0">
              <a:buNone/>
            </a:pPr>
            <a:r>
              <a:rPr lang="en-US" sz="2600" b="1" dirty="0">
                <a:solidFill>
                  <a:srgbClr val="223029"/>
                </a:solidFill>
                <a:latin typeface="Cambria" pitchFamily="34" charset="0"/>
                <a:ea typeface="Cambria" pitchFamily="34" charset="-122"/>
                <a:cs typeface="Cambria" pitchFamily="34" charset="-120"/>
              </a:rPr>
              <a:t>951</a:t>
            </a:r>
            <a:endParaRPr lang="en-US" sz="2600" dirty="0"/>
          </a:p>
        </p:txBody>
      </p:sp>
      <p:sp>
        <p:nvSpPr>
          <p:cNvPr id="17" name="Text 14"/>
          <p:cNvSpPr/>
          <p:nvPr/>
        </p:nvSpPr>
        <p:spPr>
          <a:xfrm>
            <a:off x="8531352" y="5760720"/>
            <a:ext cx="2788920" cy="292608"/>
          </a:xfrm>
          <a:prstGeom prst="rect">
            <a:avLst/>
          </a:prstGeom>
          <a:noFill/>
          <a:ln/>
        </p:spPr>
        <p:txBody>
          <a:bodyPr wrap="square" lIns="0" tIns="0" rIns="0" bIns="0" rtlCol="0" anchor="ctr"/>
          <a:lstStyle/>
          <a:p>
            <a:pPr marL="0" indent="0">
              <a:buNone/>
            </a:pPr>
            <a:r>
              <a:rPr lang="en-US" sz="1150" dirty="0">
                <a:solidFill>
                  <a:srgbClr val="6B7570"/>
                </a:solidFill>
                <a:latin typeface="Calibri" pitchFamily="34" charset="0"/>
                <a:ea typeface="Calibri" pitchFamily="34" charset="-122"/>
                <a:cs typeface="Calibri" pitchFamily="34" charset="-120"/>
              </a:rPr>
              <a:t>rebond (+12 %)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05 — GENRE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100" b="1" dirty="0">
                <a:solidFill>
                  <a:srgbClr val="0B3D2E"/>
                </a:solidFill>
                <a:latin typeface="Cambria" pitchFamily="34" charset="0"/>
                <a:ea typeface="Cambria" pitchFamily="34" charset="-122"/>
                <a:cs typeface="Cambria" pitchFamily="34" charset="-120"/>
              </a:rPr>
              <a:t>Genre : attention au piège du non-renseigné</a:t>
            </a:r>
            <a:endParaRPr lang="en-US" sz="3100" dirty="0"/>
          </a:p>
        </p:txBody>
      </p:sp>
      <p:sp>
        <p:nvSpPr>
          <p:cNvPr id="4" name="Shape 2"/>
          <p:cNvSpPr/>
          <p:nvPr/>
        </p:nvSpPr>
        <p:spPr>
          <a:xfrm>
            <a:off x="640080" y="1783080"/>
            <a:ext cx="5486400" cy="3794760"/>
          </a:xfrm>
          <a:prstGeom prst="roundRect">
            <a:avLst>
              <a:gd name="adj" fmla="val 2169"/>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822960" y="1938528"/>
            <a:ext cx="512064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Composition brute - biaisée par le NR</a:t>
            </a:r>
            <a:endParaRPr lang="en-US" sz="1250" dirty="0"/>
          </a:p>
        </p:txBody>
      </p:sp>
      <p:graphicFrame>
        <p:nvGraphicFramePr>
          <p:cNvPr id="6" name="Chart 0"/>
          <p:cNvGraphicFramePr/>
          <p:nvPr/>
        </p:nvGraphicFramePr>
        <p:xfrm>
          <a:off x="822960" y="2286000"/>
          <a:ext cx="50749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309360" y="1783080"/>
            <a:ext cx="5230368" cy="3794760"/>
          </a:xfrm>
          <a:prstGeom prst="roundRect">
            <a:avLst>
              <a:gd name="adj" fmla="val 2169"/>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8" name="Text 5"/>
          <p:cNvSpPr/>
          <p:nvPr/>
        </p:nvSpPr>
        <p:spPr>
          <a:xfrm>
            <a:off x="6492240" y="1938528"/>
            <a:ext cx="4846320" cy="32004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Part F / H hors NR - la vraie tendance</a:t>
            </a:r>
            <a:endParaRPr lang="en-US" sz="1250" dirty="0"/>
          </a:p>
        </p:txBody>
      </p:sp>
      <p:graphicFrame>
        <p:nvGraphicFramePr>
          <p:cNvPr id="9" name="Chart 1"/>
          <p:cNvGraphicFramePr/>
          <p:nvPr/>
        </p:nvGraphicFramePr>
        <p:xfrm>
          <a:off x="6492240" y="2286000"/>
          <a:ext cx="484632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640080" y="5779008"/>
            <a:ext cx="10899648" cy="749808"/>
          </a:xfrm>
          <a:prstGeom prst="roundRect">
            <a:avLst>
              <a:gd name="adj" fmla="val 10976"/>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11" name="Text 7"/>
          <p:cNvSpPr/>
          <p:nvPr/>
        </p:nvSpPr>
        <p:spPr>
          <a:xfrm>
            <a:off x="914400" y="5779008"/>
            <a:ext cx="10332720" cy="749808"/>
          </a:xfrm>
          <a:prstGeom prst="rect">
            <a:avLst/>
          </a:prstGeom>
          <a:noFill/>
          <a:ln/>
        </p:spPr>
        <p:txBody>
          <a:bodyPr wrap="square" lIns="0" tIns="0" rIns="0" bIns="0" rtlCol="0" anchor="ctr"/>
          <a:lstStyle/>
          <a:p>
            <a:pPr marL="0" indent="0">
              <a:buNone/>
            </a:pPr>
            <a:r>
              <a:rPr lang="en-US" sz="1250" b="1" dirty="0">
                <a:solidFill>
                  <a:srgbClr val="C9A227"/>
                </a:solidFill>
                <a:latin typeface="Calibri" pitchFamily="34" charset="0"/>
                <a:ea typeface="Calibri" pitchFamily="34" charset="-122"/>
                <a:cs typeface="Calibri" pitchFamily="34" charset="-120"/>
              </a:rPr>
              <a:t>À retenir :  </a:t>
            </a:r>
            <a:r>
              <a:rPr lang="en-US" sz="1250" dirty="0">
                <a:solidFill>
                  <a:srgbClr val="FFFFFF"/>
                </a:solidFill>
                <a:latin typeface="Calibri" pitchFamily="34" charset="0"/>
                <a:ea typeface="Calibri" pitchFamily="34" charset="-122"/>
                <a:cs typeface="Calibri" pitchFamily="34" charset="-120"/>
              </a:rPr>
              <a:t>le NR chute de 42 % (2022) à 7 % (2025). La « féminisation » brute (18→31 %) est surtout un effet de </a:t>
            </a:r>
            <a:r>
              <a:rPr lang="en-US" sz="1250" dirty="0" err="1">
                <a:solidFill>
                  <a:srgbClr val="FFFFFF"/>
                </a:solidFill>
                <a:latin typeface="Calibri" pitchFamily="34" charset="0"/>
                <a:ea typeface="Calibri" pitchFamily="34" charset="-122"/>
                <a:cs typeface="Calibri" pitchFamily="34" charset="-120"/>
              </a:rPr>
              <a:t>collecte</a:t>
            </a:r>
            <a:r>
              <a:rPr lang="en-US" sz="1250" dirty="0">
                <a:solidFill>
                  <a:srgbClr val="FFFFFF"/>
                </a:solidFill>
                <a:latin typeface="Calibri" pitchFamily="34" charset="0"/>
                <a:ea typeface="Calibri" pitchFamily="34" charset="-122"/>
                <a:cs typeface="Calibri" pitchFamily="34" charset="-120"/>
              </a:rPr>
              <a:t> : hors NR, la part des femmes est stable autour de 30-33 % (+2,3 pts).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06 — ÂGE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Un public qui rajeunit nettement</a:t>
            </a:r>
            <a:endParaRPr lang="en-US" sz="3400" dirty="0"/>
          </a:p>
        </p:txBody>
      </p:sp>
      <p:sp>
        <p:nvSpPr>
          <p:cNvPr id="4" name="Shape 2"/>
          <p:cNvSpPr/>
          <p:nvPr/>
        </p:nvSpPr>
        <p:spPr>
          <a:xfrm>
            <a:off x="640080" y="1783080"/>
            <a:ext cx="630936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868680" y="1938528"/>
            <a:ext cx="585216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Évolution de la part des tranches clés (%)</a:t>
            </a:r>
            <a:endParaRPr lang="en-US" sz="1250" dirty="0"/>
          </a:p>
        </p:txBody>
      </p:sp>
      <p:graphicFrame>
        <p:nvGraphicFramePr>
          <p:cNvPr id="6" name="Chart 0"/>
          <p:cNvGraphicFramePr/>
          <p:nvPr/>
        </p:nvGraphicFramePr>
        <p:xfrm>
          <a:off x="868680" y="2331720"/>
          <a:ext cx="58521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132320" y="1783080"/>
            <a:ext cx="4416552" cy="4480560"/>
          </a:xfrm>
          <a:prstGeom prst="roundRect">
            <a:avLst>
              <a:gd name="adj" fmla="val 1863"/>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8" name="Text 5"/>
          <p:cNvSpPr/>
          <p:nvPr/>
        </p:nvSpPr>
        <p:spPr>
          <a:xfrm>
            <a:off x="7360920" y="1938528"/>
            <a:ext cx="402336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Répartition globale (2022–2025)</a:t>
            </a:r>
            <a:endParaRPr lang="en-US" sz="1250" dirty="0"/>
          </a:p>
        </p:txBody>
      </p:sp>
      <p:graphicFrame>
        <p:nvGraphicFramePr>
          <p:cNvPr id="9" name="Chart 1"/>
          <p:cNvGraphicFramePr/>
          <p:nvPr/>
        </p:nvGraphicFramePr>
        <p:xfrm>
          <a:off x="7223760" y="2286000"/>
          <a:ext cx="425196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7132320" y="5742432"/>
            <a:ext cx="4416552" cy="786384"/>
          </a:xfrm>
          <a:prstGeom prst="roundRect">
            <a:avLst>
              <a:gd name="adj" fmla="val 10465"/>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11" name="Text 7"/>
          <p:cNvSpPr/>
          <p:nvPr/>
        </p:nvSpPr>
        <p:spPr>
          <a:xfrm>
            <a:off x="7360920" y="5742432"/>
            <a:ext cx="4023360" cy="786384"/>
          </a:xfrm>
          <a:prstGeom prst="rect">
            <a:avLst/>
          </a:prstGeom>
          <a:noFill/>
          <a:ln/>
        </p:spPr>
        <p:txBody>
          <a:bodyPr wrap="square" lIns="0" tIns="0" rIns="0" bIns="0" rtlCol="0" anchor="ctr"/>
          <a:lstStyle/>
          <a:p>
            <a:pPr marL="0" indent="0">
              <a:buNone/>
            </a:pPr>
            <a:r>
              <a:rPr lang="en-US" sz="1250" b="1" dirty="0">
                <a:solidFill>
                  <a:srgbClr val="B23A2E"/>
                </a:solidFill>
                <a:latin typeface="Calibri" pitchFamily="34" charset="0"/>
                <a:ea typeface="Calibri" pitchFamily="34" charset="-122"/>
                <a:cs typeface="Calibri" pitchFamily="34" charset="-120"/>
              </a:rPr>
              <a:t>20-24 ans : +7,3 pts </a:t>
            </a:r>
            <a:r>
              <a:rPr lang="en-US" sz="1250" dirty="0">
                <a:solidFill>
                  <a:srgbClr val="223029"/>
                </a:solidFill>
                <a:latin typeface="Calibri" pitchFamily="34" charset="0"/>
                <a:ea typeface="Calibri" pitchFamily="34" charset="-122"/>
                <a:cs typeface="Calibri" pitchFamily="34" charset="-120"/>
              </a:rPr>
              <a:t>· 25-29 ans : +6,5 pts. Les 40+ reculent.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07 — GÉOGRAPHIE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Pénétration régionale : l'Île-de-France domine</a:t>
            </a:r>
            <a:endParaRPr lang="en-US" sz="3400" dirty="0"/>
          </a:p>
        </p:txBody>
      </p:sp>
      <p:sp>
        <p:nvSpPr>
          <p:cNvPr id="4" name="Shape 2"/>
          <p:cNvSpPr/>
          <p:nvPr/>
        </p:nvSpPr>
        <p:spPr>
          <a:xfrm>
            <a:off x="640080" y="1783080"/>
            <a:ext cx="740664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868680" y="1938528"/>
            <a:ext cx="694944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Inscrits OC pour 100 000 habitants (réf. population INSEE 2023)</a:t>
            </a:r>
            <a:endParaRPr lang="en-US" sz="1250" dirty="0"/>
          </a:p>
        </p:txBody>
      </p:sp>
      <p:graphicFrame>
        <p:nvGraphicFramePr>
          <p:cNvPr id="6" name="Chart 0"/>
          <p:cNvGraphicFramePr/>
          <p:nvPr/>
        </p:nvGraphicFramePr>
        <p:xfrm>
          <a:off x="822960" y="228600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275320" y="1847088"/>
            <a:ext cx="3246120" cy="1298448"/>
          </a:xfrm>
          <a:prstGeom prst="roundRect">
            <a:avLst>
              <a:gd name="adj" fmla="val 6338"/>
            </a:avLst>
          </a:prstGeom>
          <a:solidFill>
            <a:srgbClr val="0B3D2E"/>
          </a:solidFill>
          <a:ln w="12700">
            <a:solidFill>
              <a:srgbClr val="E2E6E3"/>
            </a:solidFill>
            <a:prstDash val="solid"/>
          </a:ln>
          <a:effectLst>
            <a:outerShdw blurRad="88900" dist="25400" dir="5400000" algn="bl" rotWithShape="0">
              <a:srgbClr val="9AA39E">
                <a:alpha val="28000"/>
              </a:srgbClr>
            </a:outerShdw>
          </a:effectLst>
        </p:spPr>
      </p:sp>
      <p:sp>
        <p:nvSpPr>
          <p:cNvPr id="8" name="Text 5"/>
          <p:cNvSpPr/>
          <p:nvPr/>
        </p:nvSpPr>
        <p:spPr>
          <a:xfrm>
            <a:off x="8531352" y="2066544"/>
            <a:ext cx="2788920" cy="566928"/>
          </a:xfrm>
          <a:prstGeom prst="rect">
            <a:avLst/>
          </a:prstGeom>
          <a:noFill/>
          <a:ln/>
        </p:spPr>
        <p:txBody>
          <a:bodyPr wrap="square" lIns="0" tIns="0" rIns="0" bIns="0" rtlCol="0" anchor="ctr"/>
          <a:lstStyle/>
          <a:p>
            <a:pPr marL="0" indent="0">
              <a:buNone/>
            </a:pPr>
            <a:r>
              <a:rPr lang="en-US" sz="2800" b="1" dirty="0">
                <a:solidFill>
                  <a:srgbClr val="C9A227"/>
                </a:solidFill>
                <a:latin typeface="Cambria" pitchFamily="34" charset="0"/>
                <a:ea typeface="Cambria" pitchFamily="34" charset="-122"/>
                <a:cs typeface="Cambria" pitchFamily="34" charset="-120"/>
              </a:rPr>
              <a:t>45.6 %</a:t>
            </a:r>
            <a:endParaRPr lang="en-US" sz="2800" dirty="0"/>
          </a:p>
        </p:txBody>
      </p:sp>
      <p:sp>
        <p:nvSpPr>
          <p:cNvPr id="9" name="Text 6"/>
          <p:cNvSpPr/>
          <p:nvPr/>
        </p:nvSpPr>
        <p:spPr>
          <a:xfrm>
            <a:off x="8531352" y="2670048"/>
            <a:ext cx="2788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des inscrits en Île-de-France</a:t>
            </a:r>
            <a:endParaRPr lang="en-US" sz="1200" dirty="0"/>
          </a:p>
        </p:txBody>
      </p:sp>
      <p:sp>
        <p:nvSpPr>
          <p:cNvPr id="10" name="Shape 7"/>
          <p:cNvSpPr/>
          <p:nvPr/>
        </p:nvSpPr>
        <p:spPr>
          <a:xfrm>
            <a:off x="8275320" y="3328416"/>
            <a:ext cx="3246120" cy="1298448"/>
          </a:xfrm>
          <a:prstGeom prst="roundRect">
            <a:avLst>
              <a:gd name="adj" fmla="val 6338"/>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1" name="Text 8"/>
          <p:cNvSpPr/>
          <p:nvPr/>
        </p:nvSpPr>
        <p:spPr>
          <a:xfrm>
            <a:off x="8531352" y="3547872"/>
            <a:ext cx="2788920" cy="566928"/>
          </a:xfrm>
          <a:prstGeom prst="rect">
            <a:avLst/>
          </a:prstGeom>
          <a:noFill/>
          <a:ln/>
        </p:spPr>
        <p:txBody>
          <a:bodyPr wrap="square" lIns="0" tIns="0" rIns="0" bIns="0" rtlCol="0" anchor="ctr"/>
          <a:lstStyle/>
          <a:p>
            <a:pPr marL="0" indent="0">
              <a:buNone/>
            </a:pPr>
            <a:r>
              <a:rPr lang="en-US" sz="2800" b="1" dirty="0">
                <a:solidFill>
                  <a:srgbClr val="0B3D2E"/>
                </a:solidFill>
                <a:latin typeface="Cambria" pitchFamily="34" charset="0"/>
                <a:ea typeface="Cambria" pitchFamily="34" charset="-122"/>
                <a:cs typeface="Cambria" pitchFamily="34" charset="-120"/>
              </a:rPr>
              <a:t>17,1</a:t>
            </a:r>
            <a:endParaRPr lang="en-US" sz="2800" dirty="0"/>
          </a:p>
        </p:txBody>
      </p:sp>
      <p:sp>
        <p:nvSpPr>
          <p:cNvPr id="12" name="Text 9"/>
          <p:cNvSpPr/>
          <p:nvPr/>
        </p:nvSpPr>
        <p:spPr>
          <a:xfrm>
            <a:off x="8531352" y="4151376"/>
            <a:ext cx="2788920" cy="365760"/>
          </a:xfrm>
          <a:prstGeom prst="rect">
            <a:avLst/>
          </a:prstGeom>
          <a:noFill/>
          <a:ln/>
        </p:spPr>
        <p:txBody>
          <a:bodyPr wrap="square" lIns="0" tIns="0" rIns="0" bIns="0" rtlCol="0" anchor="ctr"/>
          <a:lstStyle/>
          <a:p>
            <a:pPr marL="0" indent="0">
              <a:buNone/>
            </a:pPr>
            <a:r>
              <a:rPr lang="en-US" sz="1200" dirty="0">
                <a:solidFill>
                  <a:srgbClr val="6B7570"/>
                </a:solidFill>
                <a:latin typeface="Calibri" pitchFamily="34" charset="0"/>
                <a:ea typeface="Calibri" pitchFamily="34" charset="-122"/>
                <a:cs typeface="Calibri" pitchFamily="34" charset="-120"/>
              </a:rPr>
              <a:t>inscrits/100k en IDF</a:t>
            </a:r>
            <a:endParaRPr lang="en-US" sz="1200" dirty="0"/>
          </a:p>
        </p:txBody>
      </p:sp>
      <p:sp>
        <p:nvSpPr>
          <p:cNvPr id="13" name="Shape 10"/>
          <p:cNvSpPr/>
          <p:nvPr/>
        </p:nvSpPr>
        <p:spPr>
          <a:xfrm>
            <a:off x="8275320" y="4809744"/>
            <a:ext cx="3246120" cy="1298448"/>
          </a:xfrm>
          <a:prstGeom prst="roundRect">
            <a:avLst>
              <a:gd name="adj" fmla="val 6338"/>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4" name="Text 11"/>
          <p:cNvSpPr/>
          <p:nvPr/>
        </p:nvSpPr>
        <p:spPr>
          <a:xfrm>
            <a:off x="8531352" y="5029200"/>
            <a:ext cx="2788920" cy="566928"/>
          </a:xfrm>
          <a:prstGeom prst="rect">
            <a:avLst/>
          </a:prstGeom>
          <a:noFill/>
          <a:ln/>
        </p:spPr>
        <p:txBody>
          <a:bodyPr wrap="square" lIns="0" tIns="0" rIns="0" bIns="0" rtlCol="0" anchor="ctr"/>
          <a:lstStyle/>
          <a:p>
            <a:pPr marL="0" indent="0">
              <a:buNone/>
            </a:pPr>
            <a:r>
              <a:rPr lang="en-US" sz="2800" b="1" dirty="0">
                <a:solidFill>
                  <a:srgbClr val="1B6B4C"/>
                </a:solidFill>
                <a:latin typeface="Cambria" pitchFamily="34" charset="0"/>
                <a:ea typeface="Cambria" pitchFamily="34" charset="-122"/>
                <a:cs typeface="Cambria" pitchFamily="34" charset="-120"/>
              </a:rPr>
              <a:t>~4,5</a:t>
            </a:r>
            <a:endParaRPr lang="en-US" sz="2800" dirty="0"/>
          </a:p>
        </p:txBody>
      </p:sp>
      <p:sp>
        <p:nvSpPr>
          <p:cNvPr id="15" name="Text 12"/>
          <p:cNvSpPr/>
          <p:nvPr/>
        </p:nvSpPr>
        <p:spPr>
          <a:xfrm>
            <a:off x="8531352" y="5632704"/>
            <a:ext cx="2788920" cy="365760"/>
          </a:xfrm>
          <a:prstGeom prst="rect">
            <a:avLst/>
          </a:prstGeom>
          <a:noFill/>
          <a:ln/>
        </p:spPr>
        <p:txBody>
          <a:bodyPr wrap="square" lIns="0" tIns="0" rIns="0" bIns="0" rtlCol="0" anchor="ctr"/>
          <a:lstStyle/>
          <a:p>
            <a:pPr marL="0" indent="0">
              <a:buNone/>
            </a:pPr>
            <a:r>
              <a:rPr lang="en-US" sz="1200" dirty="0">
                <a:solidFill>
                  <a:srgbClr val="6B7570"/>
                </a:solidFill>
                <a:latin typeface="Calibri" pitchFamily="34" charset="0"/>
                <a:ea typeface="Calibri" pitchFamily="34" charset="-122"/>
                <a:cs typeface="Calibri" pitchFamily="34" charset="-120"/>
              </a:rPr>
              <a:t>dans les autres régions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07 — FACTEURS &amp; PROFILS</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Le chômage n'explique pas les inscriptions</a:t>
            </a:r>
            <a:endParaRPr lang="en-US" sz="3400" dirty="0"/>
          </a:p>
        </p:txBody>
      </p:sp>
      <p:sp>
        <p:nvSpPr>
          <p:cNvPr id="4" name="Shape 2"/>
          <p:cNvSpPr/>
          <p:nvPr/>
        </p:nvSpPr>
        <p:spPr>
          <a:xfrm>
            <a:off x="640080" y="1783080"/>
            <a:ext cx="544068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868680" y="1938528"/>
            <a:ext cx="502920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Chômage régional 2024 vs inscrits/100k</a:t>
            </a:r>
            <a:endParaRPr lang="en-US" sz="1250" dirty="0"/>
          </a:p>
        </p:txBody>
      </p:sp>
      <p:graphicFrame>
        <p:nvGraphicFramePr>
          <p:cNvPr id="6" name="Chart 0"/>
          <p:cNvGraphicFramePr/>
          <p:nvPr/>
        </p:nvGraphicFramePr>
        <p:xfrm>
          <a:off x="868680" y="2331720"/>
          <a:ext cx="502920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868680" y="5943600"/>
            <a:ext cx="5029200" cy="274320"/>
          </a:xfrm>
          <a:prstGeom prst="rect">
            <a:avLst/>
          </a:prstGeom>
          <a:noFill/>
          <a:ln/>
        </p:spPr>
        <p:txBody>
          <a:bodyPr wrap="square" lIns="0" tIns="0" rIns="0" bIns="0" rtlCol="0" anchor="ctr"/>
          <a:lstStyle/>
          <a:p>
            <a:pPr marL="0" indent="0">
              <a:buNone/>
            </a:pPr>
            <a:r>
              <a:rPr lang="en-US" sz="1100" i="1" dirty="0">
                <a:solidFill>
                  <a:srgbClr val="B23A2E"/>
                </a:solidFill>
                <a:latin typeface="Calibri" pitchFamily="34" charset="0"/>
                <a:ea typeface="Calibri" pitchFamily="34" charset="-122"/>
                <a:cs typeface="Calibri" pitchFamily="34" charset="-120"/>
              </a:rPr>
              <a:t>Corrélation r ≈ 0,04  →  quasi nulle</a:t>
            </a:r>
            <a:endParaRPr lang="en-US" sz="1100" dirty="0"/>
          </a:p>
        </p:txBody>
      </p:sp>
      <p:sp>
        <p:nvSpPr>
          <p:cNvPr id="8" name="Shape 5"/>
          <p:cNvSpPr/>
          <p:nvPr/>
        </p:nvSpPr>
        <p:spPr>
          <a:xfrm>
            <a:off x="6172200" y="1783080"/>
            <a:ext cx="534924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9" name="Text 6"/>
          <p:cNvSpPr/>
          <p:nvPr/>
        </p:nvSpPr>
        <p:spPr>
          <a:xfrm>
            <a:off x="6400800" y="1938528"/>
            <a:ext cx="493776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Top profils déclarés (genre · âge · région)</a:t>
            </a:r>
            <a:endParaRPr lang="en-US" sz="1250" dirty="0"/>
          </a:p>
        </p:txBody>
      </p:sp>
      <p:graphicFrame>
        <p:nvGraphicFramePr>
          <p:cNvPr id="10" name="Chart 1"/>
          <p:cNvGraphicFramePr/>
          <p:nvPr/>
        </p:nvGraphicFramePr>
        <p:xfrm>
          <a:off x="6355080" y="2286000"/>
          <a:ext cx="5120640" cy="37947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ENRICHISSEMENT INSEE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Le profil OC comparé à la population française</a:t>
            </a:r>
            <a:endParaRPr lang="en-US" sz="3400" dirty="0"/>
          </a:p>
        </p:txBody>
      </p:sp>
      <p:sp>
        <p:nvSpPr>
          <p:cNvPr id="4" name="Shape 2"/>
          <p:cNvSpPr/>
          <p:nvPr/>
        </p:nvSpPr>
        <p:spPr>
          <a:xfrm>
            <a:off x="640080" y="1783080"/>
            <a:ext cx="5486400" cy="4480560"/>
          </a:xfrm>
          <a:prstGeom prst="roundRect">
            <a:avLst>
              <a:gd name="adj" fmla="val 183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868680" y="1938528"/>
            <a:ext cx="5120640" cy="320040"/>
          </a:xfrm>
          <a:prstGeom prst="rect">
            <a:avLst/>
          </a:prstGeom>
          <a:noFill/>
          <a:ln/>
        </p:spPr>
        <p:txBody>
          <a:bodyPr wrap="square" lIns="0" tIns="0" rIns="0" bIns="0" rtlCol="0" anchor="ctr"/>
          <a:lstStyle/>
          <a:p>
            <a:pPr marL="0" indent="0">
              <a:buNone/>
            </a:pPr>
            <a:r>
              <a:rPr lang="en-US" sz="1250" b="1" dirty="0">
                <a:solidFill>
                  <a:srgbClr val="6B7570"/>
                </a:solidFill>
                <a:latin typeface="Calibri" pitchFamily="34" charset="0"/>
                <a:ea typeface="Calibri" pitchFamily="34" charset="-122"/>
                <a:cs typeface="Calibri" pitchFamily="34" charset="-120"/>
              </a:rPr>
              <a:t>Part des femmes (%)</a:t>
            </a:r>
            <a:endParaRPr lang="en-US" sz="1250" dirty="0"/>
          </a:p>
        </p:txBody>
      </p:sp>
      <p:graphicFrame>
        <p:nvGraphicFramePr>
          <p:cNvPr id="6" name="Chart 0"/>
          <p:cNvGraphicFramePr/>
          <p:nvPr/>
        </p:nvGraphicFramePr>
        <p:xfrm>
          <a:off x="914400" y="2377440"/>
          <a:ext cx="50292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914400" y="5897880"/>
            <a:ext cx="4937760" cy="274320"/>
          </a:xfrm>
          <a:prstGeom prst="rect">
            <a:avLst/>
          </a:prstGeom>
          <a:noFill/>
          <a:ln/>
        </p:spPr>
        <p:txBody>
          <a:bodyPr wrap="square" lIns="0" tIns="0" rIns="0" bIns="0" rtlCol="0" anchor="ctr"/>
          <a:lstStyle/>
          <a:p>
            <a:pPr marL="0" indent="0">
              <a:buNone/>
            </a:pPr>
            <a:r>
              <a:rPr lang="en-US" sz="950" i="1" dirty="0">
                <a:solidFill>
                  <a:srgbClr val="6B7570"/>
                </a:solidFill>
                <a:latin typeface="Calibri" pitchFamily="34" charset="0"/>
                <a:ea typeface="Calibri" pitchFamily="34" charset="-122"/>
                <a:cs typeface="Calibri" pitchFamily="34" charset="-120"/>
              </a:rPr>
              <a:t>* valeurs de référence INSEE / sectorielles</a:t>
            </a:r>
            <a:endParaRPr lang="en-US" sz="950" dirty="0"/>
          </a:p>
        </p:txBody>
      </p:sp>
      <p:sp>
        <p:nvSpPr>
          <p:cNvPr id="8" name="Shape 5"/>
          <p:cNvSpPr/>
          <p:nvPr/>
        </p:nvSpPr>
        <p:spPr>
          <a:xfrm>
            <a:off x="6309360" y="1783080"/>
            <a:ext cx="5230368" cy="4480560"/>
          </a:xfrm>
          <a:prstGeom prst="roundRect">
            <a:avLst>
              <a:gd name="adj" fmla="val 1837"/>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9" name="Text 6"/>
          <p:cNvSpPr/>
          <p:nvPr/>
        </p:nvSpPr>
        <p:spPr>
          <a:xfrm>
            <a:off x="6583680" y="2057400"/>
            <a:ext cx="4754880" cy="365760"/>
          </a:xfrm>
          <a:prstGeom prst="rect">
            <a:avLst/>
          </a:prstGeom>
          <a:noFill/>
          <a:ln/>
        </p:spPr>
        <p:txBody>
          <a:bodyPr wrap="square" lIns="0" tIns="0" rIns="0" bIns="0" rtlCol="0" anchor="ctr"/>
          <a:lstStyle/>
          <a:p>
            <a:pPr marL="0" indent="0">
              <a:buNone/>
            </a:pPr>
            <a:r>
              <a:rPr lang="en-US" sz="1800" b="1" dirty="0">
                <a:solidFill>
                  <a:srgbClr val="0B3D2E"/>
                </a:solidFill>
                <a:latin typeface="Cambria" pitchFamily="34" charset="0"/>
                <a:ea typeface="Cambria" pitchFamily="34" charset="-122"/>
                <a:cs typeface="Cambria" pitchFamily="34" charset="-120"/>
              </a:rPr>
              <a:t>Ce que dit la comparaison</a:t>
            </a:r>
            <a:endParaRPr lang="en-US" sz="1800" dirty="0"/>
          </a:p>
        </p:txBody>
      </p:sp>
      <p:sp>
        <p:nvSpPr>
          <p:cNvPr id="10" name="Text 7"/>
          <p:cNvSpPr/>
          <p:nvPr/>
        </p:nvSpPr>
        <p:spPr>
          <a:xfrm>
            <a:off x="6583680" y="2606040"/>
            <a:ext cx="4754880" cy="338328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223029"/>
                </a:solidFill>
                <a:latin typeface="Calibri" pitchFamily="34" charset="0"/>
                <a:ea typeface="Calibri" pitchFamily="34" charset="-122"/>
                <a:cs typeface="Calibri" pitchFamily="34" charset="-120"/>
              </a:rPr>
              <a:t>OC est très masculin (≈ 69 % d'hommes), loin de la quasi-parité de la population française.</a:t>
            </a:r>
            <a:endParaRPr lang="en-US" sz="1350" dirty="0"/>
          </a:p>
          <a:p>
            <a:pPr marL="342900" indent="-342900">
              <a:spcAft>
                <a:spcPts val="1200"/>
              </a:spcAft>
              <a:buSzPct val="100000"/>
              <a:buChar char="•"/>
            </a:pPr>
            <a:r>
              <a:rPr lang="en-US" sz="1350" dirty="0">
                <a:solidFill>
                  <a:srgbClr val="223029"/>
                </a:solidFill>
                <a:latin typeface="Calibri" pitchFamily="34" charset="0"/>
                <a:ea typeface="Calibri" pitchFamily="34" charset="-122"/>
                <a:cs typeface="Calibri" pitchFamily="34" charset="-120"/>
              </a:rPr>
              <a:t>L'écart reflète surtout le déséquilibre des métiers du numérique, pas une spécificité OC.</a:t>
            </a:r>
            <a:endParaRPr lang="en-US" sz="1350" dirty="0"/>
          </a:p>
          <a:p>
            <a:pPr marL="342900" indent="-342900">
              <a:spcAft>
                <a:spcPts val="1200"/>
              </a:spcAft>
              <a:buSzPct val="100000"/>
              <a:buChar char="•"/>
            </a:pPr>
            <a:r>
              <a:rPr lang="en-US" sz="1350" dirty="0">
                <a:solidFill>
                  <a:srgbClr val="223029"/>
                </a:solidFill>
                <a:latin typeface="Calibri" pitchFamily="34" charset="0"/>
                <a:ea typeface="Calibri" pitchFamily="34" charset="-122"/>
                <a:cs typeface="Calibri" pitchFamily="34" charset="-120"/>
              </a:rPr>
              <a:t>Forte concentration géographique : l'IDF pèse 46 % des inscrits pour ~19 % de la population.</a:t>
            </a:r>
            <a:endParaRPr lang="en-US" sz="1350" dirty="0"/>
          </a:p>
          <a:p>
            <a:pPr marL="342900" indent="-342900">
              <a:spcAft>
                <a:spcPts val="1200"/>
              </a:spcAft>
              <a:buSzPct val="100000"/>
              <a:buChar char="•"/>
            </a:pPr>
            <a:r>
              <a:rPr lang="en-US" sz="1350" dirty="0">
                <a:solidFill>
                  <a:srgbClr val="223029"/>
                </a:solidFill>
                <a:latin typeface="Calibri" pitchFamily="34" charset="0"/>
                <a:ea typeface="Calibri" pitchFamily="34" charset="-122"/>
                <a:cs typeface="Calibri" pitchFamily="34" charset="-120"/>
              </a:rPr>
              <a:t>Le rajeunissement rapproche OC de la structure d'âge des actifs en reconversion.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08 — SYNTHÈSE</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Six enseignements clés</a:t>
            </a:r>
            <a:endParaRPr lang="en-US" sz="3400" dirty="0"/>
          </a:p>
        </p:txBody>
      </p:sp>
      <p:sp>
        <p:nvSpPr>
          <p:cNvPr id="4" name="Shape 2"/>
          <p:cNvSpPr/>
          <p:nvPr/>
        </p:nvSpPr>
        <p:spPr>
          <a:xfrm>
            <a:off x="640080" y="1737360"/>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Shape 3"/>
          <p:cNvSpPr/>
          <p:nvPr/>
        </p:nvSpPr>
        <p:spPr>
          <a:xfrm>
            <a:off x="896112" y="1993392"/>
            <a:ext cx="256032" cy="256032"/>
          </a:xfrm>
          <a:prstGeom prst="ellipse">
            <a:avLst/>
          </a:prstGeom>
          <a:solidFill>
            <a:srgbClr val="B23A2E"/>
          </a:solidFill>
          <a:ln/>
        </p:spPr>
      </p:sp>
      <p:sp>
        <p:nvSpPr>
          <p:cNvPr id="6" name="Text 4"/>
          <p:cNvSpPr/>
          <p:nvPr/>
        </p:nvSpPr>
        <p:spPr>
          <a:xfrm>
            <a:off x="1261872" y="1938528"/>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Volume</a:t>
            </a:r>
            <a:endParaRPr lang="en-US" sz="1650" dirty="0"/>
          </a:p>
        </p:txBody>
      </p:sp>
      <p:sp>
        <p:nvSpPr>
          <p:cNvPr id="7" name="Text 5"/>
          <p:cNvSpPr/>
          <p:nvPr/>
        </p:nvSpPr>
        <p:spPr>
          <a:xfrm>
            <a:off x="914400" y="2450592"/>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−50 % entre 2022 et 2024, rebond partiel (+12 %) en 2025. Signal à surveiller.</a:t>
            </a:r>
            <a:endParaRPr lang="en-US" sz="1250" dirty="0"/>
          </a:p>
        </p:txBody>
      </p:sp>
      <p:sp>
        <p:nvSpPr>
          <p:cNvPr id="8" name="Shape 6"/>
          <p:cNvSpPr/>
          <p:nvPr/>
        </p:nvSpPr>
        <p:spPr>
          <a:xfrm>
            <a:off x="4453128" y="1737360"/>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9" name="Shape 7"/>
          <p:cNvSpPr/>
          <p:nvPr/>
        </p:nvSpPr>
        <p:spPr>
          <a:xfrm>
            <a:off x="4709160" y="1993392"/>
            <a:ext cx="256032" cy="256032"/>
          </a:xfrm>
          <a:prstGeom prst="ellipse">
            <a:avLst/>
          </a:prstGeom>
          <a:solidFill>
            <a:srgbClr val="C9A227"/>
          </a:solidFill>
          <a:ln/>
        </p:spPr>
      </p:sp>
      <p:sp>
        <p:nvSpPr>
          <p:cNvPr id="10" name="Text 8"/>
          <p:cNvSpPr/>
          <p:nvPr/>
        </p:nvSpPr>
        <p:spPr>
          <a:xfrm>
            <a:off x="5074920" y="1938528"/>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Genre : prudence</a:t>
            </a:r>
            <a:endParaRPr lang="en-US" sz="1650" dirty="0"/>
          </a:p>
        </p:txBody>
      </p:sp>
      <p:sp>
        <p:nvSpPr>
          <p:cNvPr id="11" name="Text 9"/>
          <p:cNvSpPr/>
          <p:nvPr/>
        </p:nvSpPr>
        <p:spPr>
          <a:xfrm>
            <a:off x="4727448" y="2450592"/>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Hors NR, la part des femmes est stable (~30–33 %). La « féminisation » brute est un artefact.</a:t>
            </a:r>
            <a:endParaRPr lang="en-US" sz="1250" dirty="0"/>
          </a:p>
        </p:txBody>
      </p:sp>
      <p:sp>
        <p:nvSpPr>
          <p:cNvPr id="12" name="Shape 10"/>
          <p:cNvSpPr/>
          <p:nvPr/>
        </p:nvSpPr>
        <p:spPr>
          <a:xfrm>
            <a:off x="8266176" y="1737360"/>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3" name="Shape 11"/>
          <p:cNvSpPr/>
          <p:nvPr/>
        </p:nvSpPr>
        <p:spPr>
          <a:xfrm>
            <a:off x="8522208" y="1993392"/>
            <a:ext cx="256032" cy="256032"/>
          </a:xfrm>
          <a:prstGeom prst="ellipse">
            <a:avLst/>
          </a:prstGeom>
          <a:solidFill>
            <a:srgbClr val="1B6B4C"/>
          </a:solidFill>
          <a:ln/>
        </p:spPr>
      </p:sp>
      <p:sp>
        <p:nvSpPr>
          <p:cNvPr id="14" name="Text 12"/>
          <p:cNvSpPr/>
          <p:nvPr/>
        </p:nvSpPr>
        <p:spPr>
          <a:xfrm>
            <a:off x="8887968" y="1938528"/>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Rajeunissement réel</a:t>
            </a:r>
            <a:endParaRPr lang="en-US" sz="1650" dirty="0"/>
          </a:p>
        </p:txBody>
      </p:sp>
      <p:sp>
        <p:nvSpPr>
          <p:cNvPr id="15" name="Text 13"/>
          <p:cNvSpPr/>
          <p:nvPr/>
        </p:nvSpPr>
        <p:spPr>
          <a:xfrm>
            <a:off x="8540496" y="2450592"/>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20-24 ans : +7,3 pts. Tendance solide (indépendante du genre).</a:t>
            </a:r>
            <a:endParaRPr lang="en-US" sz="1250" dirty="0"/>
          </a:p>
        </p:txBody>
      </p:sp>
      <p:sp>
        <p:nvSpPr>
          <p:cNvPr id="16" name="Shape 14"/>
          <p:cNvSpPr/>
          <p:nvPr/>
        </p:nvSpPr>
        <p:spPr>
          <a:xfrm>
            <a:off x="640080" y="4059936"/>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7" name="Shape 15"/>
          <p:cNvSpPr/>
          <p:nvPr/>
        </p:nvSpPr>
        <p:spPr>
          <a:xfrm>
            <a:off x="896112" y="4315968"/>
            <a:ext cx="256032" cy="256032"/>
          </a:xfrm>
          <a:prstGeom prst="ellipse">
            <a:avLst/>
          </a:prstGeom>
          <a:solidFill>
            <a:srgbClr val="0B3D2E"/>
          </a:solidFill>
          <a:ln/>
        </p:spPr>
      </p:sp>
      <p:sp>
        <p:nvSpPr>
          <p:cNvPr id="18" name="Text 16"/>
          <p:cNvSpPr/>
          <p:nvPr/>
        </p:nvSpPr>
        <p:spPr>
          <a:xfrm>
            <a:off x="1261872" y="4261104"/>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Concentration IDF</a:t>
            </a:r>
            <a:endParaRPr lang="en-US" sz="1650" dirty="0"/>
          </a:p>
        </p:txBody>
      </p:sp>
      <p:sp>
        <p:nvSpPr>
          <p:cNvPr id="19" name="Text 17"/>
          <p:cNvSpPr/>
          <p:nvPr/>
        </p:nvSpPr>
        <p:spPr>
          <a:xfrm>
            <a:off x="914400" y="4773168"/>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46 % des inscrits ; 17/100k contre ~4,5 ailleurs.</a:t>
            </a:r>
            <a:endParaRPr lang="en-US" sz="1250" dirty="0"/>
          </a:p>
        </p:txBody>
      </p:sp>
      <p:sp>
        <p:nvSpPr>
          <p:cNvPr id="20" name="Shape 18"/>
          <p:cNvSpPr/>
          <p:nvPr/>
        </p:nvSpPr>
        <p:spPr>
          <a:xfrm>
            <a:off x="4453128" y="4059936"/>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1" name="Shape 19"/>
          <p:cNvSpPr/>
          <p:nvPr/>
        </p:nvSpPr>
        <p:spPr>
          <a:xfrm>
            <a:off x="4709160" y="4315968"/>
            <a:ext cx="256032" cy="256032"/>
          </a:xfrm>
          <a:prstGeom prst="ellipse">
            <a:avLst/>
          </a:prstGeom>
          <a:solidFill>
            <a:srgbClr val="2E6E8E"/>
          </a:solidFill>
          <a:ln/>
        </p:spPr>
      </p:sp>
      <p:sp>
        <p:nvSpPr>
          <p:cNvPr id="22" name="Text 20"/>
          <p:cNvSpPr/>
          <p:nvPr/>
        </p:nvSpPr>
        <p:spPr>
          <a:xfrm>
            <a:off x="5074920" y="4261104"/>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Chômage neutre</a:t>
            </a:r>
            <a:endParaRPr lang="en-US" sz="1650" dirty="0"/>
          </a:p>
        </p:txBody>
      </p:sp>
      <p:sp>
        <p:nvSpPr>
          <p:cNvPr id="23" name="Text 21"/>
          <p:cNvSpPr/>
          <p:nvPr/>
        </p:nvSpPr>
        <p:spPr>
          <a:xfrm>
            <a:off x="4727448" y="4773168"/>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Aucune corrélation (r≈0). Facteurs urbains et tech dominants.</a:t>
            </a:r>
            <a:endParaRPr lang="en-US" sz="1250" dirty="0"/>
          </a:p>
        </p:txBody>
      </p:sp>
      <p:sp>
        <p:nvSpPr>
          <p:cNvPr id="24" name="Shape 22"/>
          <p:cNvSpPr/>
          <p:nvPr/>
        </p:nvSpPr>
        <p:spPr>
          <a:xfrm>
            <a:off x="8266176" y="4059936"/>
            <a:ext cx="3520440" cy="2084832"/>
          </a:xfrm>
          <a:prstGeom prst="roundRect">
            <a:avLst>
              <a:gd name="adj" fmla="val 394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5" name="Shape 23"/>
          <p:cNvSpPr/>
          <p:nvPr/>
        </p:nvSpPr>
        <p:spPr>
          <a:xfrm>
            <a:off x="8522208" y="4315968"/>
            <a:ext cx="256032" cy="256032"/>
          </a:xfrm>
          <a:prstGeom prst="ellipse">
            <a:avLst/>
          </a:prstGeom>
          <a:solidFill>
            <a:srgbClr val="0B3D2E"/>
          </a:solidFill>
          <a:ln/>
        </p:spPr>
      </p:sp>
      <p:sp>
        <p:nvSpPr>
          <p:cNvPr id="26" name="Text 24"/>
          <p:cNvSpPr/>
          <p:nvPr/>
        </p:nvSpPr>
        <p:spPr>
          <a:xfrm>
            <a:off x="8887968" y="4261104"/>
            <a:ext cx="2697480" cy="384048"/>
          </a:xfrm>
          <a:prstGeom prst="rect">
            <a:avLst/>
          </a:prstGeom>
          <a:noFill/>
          <a:ln/>
        </p:spPr>
        <p:txBody>
          <a:bodyPr wrap="square" lIns="0" tIns="0" rIns="0" bIns="0" rtlCol="0" anchor="ctr"/>
          <a:lstStyle/>
          <a:p>
            <a:pPr marL="0" indent="0">
              <a:buNone/>
            </a:pPr>
            <a:r>
              <a:rPr lang="en-US" sz="1650" b="1" dirty="0">
                <a:solidFill>
                  <a:srgbClr val="0B3D2E"/>
                </a:solidFill>
                <a:latin typeface="Cambria" pitchFamily="34" charset="0"/>
                <a:ea typeface="Cambria" pitchFamily="34" charset="-122"/>
                <a:cs typeface="Cambria" pitchFamily="34" charset="-120"/>
              </a:rPr>
              <a:t>Profil type</a:t>
            </a:r>
            <a:endParaRPr lang="en-US" sz="1650" dirty="0"/>
          </a:p>
        </p:txBody>
      </p:sp>
      <p:sp>
        <p:nvSpPr>
          <p:cNvPr id="27" name="Text 25"/>
          <p:cNvSpPr/>
          <p:nvPr/>
        </p:nvSpPr>
        <p:spPr>
          <a:xfrm>
            <a:off x="8540496" y="4773168"/>
            <a:ext cx="2971800" cy="128016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Homme, 30-34 ans, Île-de-France, en reconversion de milieu de carrière.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FIABILITÉ</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Ce que le pipeline </a:t>
            </a:r>
            <a:r>
              <a:rPr lang="en-US" sz="3400" b="1" dirty="0" err="1">
                <a:solidFill>
                  <a:srgbClr val="0B3D2E"/>
                </a:solidFill>
                <a:latin typeface="Cambria" pitchFamily="34" charset="0"/>
                <a:ea typeface="Cambria" pitchFamily="34" charset="-122"/>
                <a:cs typeface="Cambria" pitchFamily="34" charset="-120"/>
              </a:rPr>
              <a:t>garantit</a:t>
            </a:r>
            <a:r>
              <a:rPr lang="en-US" sz="3400" b="1" dirty="0">
                <a:solidFill>
                  <a:srgbClr val="0B3D2E"/>
                </a:solidFill>
                <a:latin typeface="Cambria" pitchFamily="34" charset="0"/>
                <a:ea typeface="Cambria" pitchFamily="34" charset="-122"/>
                <a:cs typeface="Cambria" pitchFamily="34" charset="-120"/>
              </a:rPr>
              <a:t> et ses limites</a:t>
            </a:r>
            <a:endParaRPr lang="en-US" sz="3400" dirty="0"/>
          </a:p>
        </p:txBody>
      </p:sp>
      <p:sp>
        <p:nvSpPr>
          <p:cNvPr id="4" name="Shape 2"/>
          <p:cNvSpPr/>
          <p:nvPr/>
        </p:nvSpPr>
        <p:spPr>
          <a:xfrm>
            <a:off x="640080" y="1783080"/>
            <a:ext cx="5349240" cy="4206240"/>
          </a:xfrm>
          <a:prstGeom prst="roundRect">
            <a:avLst>
              <a:gd name="adj" fmla="val 1957"/>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Text 3"/>
          <p:cNvSpPr/>
          <p:nvPr/>
        </p:nvSpPr>
        <p:spPr>
          <a:xfrm>
            <a:off x="914400" y="2011680"/>
            <a:ext cx="4800600" cy="365760"/>
          </a:xfrm>
          <a:prstGeom prst="rect">
            <a:avLst/>
          </a:prstGeom>
          <a:noFill/>
          <a:ln/>
        </p:spPr>
        <p:txBody>
          <a:bodyPr wrap="square" lIns="0" tIns="0" rIns="0" bIns="0" rtlCol="0" anchor="ctr"/>
          <a:lstStyle/>
          <a:p>
            <a:pPr marL="0" indent="0">
              <a:buNone/>
            </a:pPr>
            <a:r>
              <a:rPr lang="en-US" sz="1800" b="1" dirty="0">
                <a:solidFill>
                  <a:srgbClr val="0B3D2E"/>
                </a:solidFill>
                <a:latin typeface="Cambria" pitchFamily="34" charset="0"/>
                <a:ea typeface="Cambria" pitchFamily="34" charset="-122"/>
                <a:cs typeface="Cambria" pitchFamily="34" charset="-120"/>
              </a:rPr>
              <a:t>Le pipeline garantit</a:t>
            </a:r>
            <a:endParaRPr lang="en-US" sz="1800" dirty="0"/>
          </a:p>
        </p:txBody>
      </p:sp>
      <p:sp>
        <p:nvSpPr>
          <p:cNvPr id="6" name="Text 4"/>
          <p:cNvSpPr/>
          <p:nvPr/>
        </p:nvSpPr>
        <p:spPr>
          <a:xfrm>
            <a:off x="914400" y="2468880"/>
            <a:ext cx="4754880" cy="329184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Reproductibilité : dbt seed + dbt run rejouent des résultats identiques</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Intégrité : ~34 tests (not_null, unique, accepted_values, relationships…)</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Réconciliation : test singulier Σ inscriptions = staging (4 647)</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Traçabilité : modèles versionnés (Git), documentés, lineage dbt docs</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RGPD : tables finales agrégées, sans donnée personnelle</a:t>
            </a:r>
            <a:endParaRPr lang="en-US" sz="1300" dirty="0"/>
          </a:p>
        </p:txBody>
      </p:sp>
      <p:sp>
        <p:nvSpPr>
          <p:cNvPr id="7" name="Shape 5"/>
          <p:cNvSpPr/>
          <p:nvPr/>
        </p:nvSpPr>
        <p:spPr>
          <a:xfrm>
            <a:off x="6400800" y="1783080"/>
            <a:ext cx="5349240" cy="4206240"/>
          </a:xfrm>
          <a:prstGeom prst="roundRect">
            <a:avLst>
              <a:gd name="adj" fmla="val 1957"/>
            </a:avLst>
          </a:prstGeom>
          <a:solidFill>
            <a:srgbClr val="EDF2EF"/>
          </a:solidFill>
          <a:ln w="12700">
            <a:solidFill>
              <a:srgbClr val="E2E6E3"/>
            </a:solidFill>
            <a:prstDash val="solid"/>
          </a:ln>
          <a:effectLst>
            <a:outerShdw blurRad="88900" dist="25400" dir="5400000" algn="bl" rotWithShape="0">
              <a:srgbClr val="9AA39E">
                <a:alpha val="28000"/>
              </a:srgbClr>
            </a:outerShdw>
          </a:effectLst>
        </p:spPr>
      </p:sp>
      <p:sp>
        <p:nvSpPr>
          <p:cNvPr id="8" name="Text 6"/>
          <p:cNvSpPr/>
          <p:nvPr/>
        </p:nvSpPr>
        <p:spPr>
          <a:xfrm>
            <a:off x="6400800" y="2011680"/>
            <a:ext cx="4800600" cy="365760"/>
          </a:xfrm>
          <a:prstGeom prst="rect">
            <a:avLst/>
          </a:prstGeom>
          <a:noFill/>
          <a:ln/>
        </p:spPr>
        <p:txBody>
          <a:bodyPr wrap="square" lIns="0" tIns="0" rIns="0" bIns="0" rtlCol="0" anchor="ctr"/>
          <a:lstStyle/>
          <a:p>
            <a:pPr marL="0" indent="0">
              <a:buNone/>
            </a:pPr>
            <a:r>
              <a:rPr lang="en-US" sz="1800" b="1" dirty="0">
                <a:solidFill>
                  <a:srgbClr val="B23A2E"/>
                </a:solidFill>
                <a:latin typeface="Cambria" pitchFamily="34" charset="0"/>
                <a:ea typeface="Cambria" pitchFamily="34" charset="-122"/>
                <a:cs typeface="Cambria" pitchFamily="34" charset="-120"/>
              </a:rPr>
              <a:t>Limites à connaître</a:t>
            </a:r>
            <a:endParaRPr lang="en-US" sz="1800" dirty="0"/>
          </a:p>
        </p:txBody>
      </p:sp>
      <p:sp>
        <p:nvSpPr>
          <p:cNvPr id="9" name="Text 7"/>
          <p:cNvSpPr/>
          <p:nvPr/>
        </p:nvSpPr>
        <p:spPr>
          <a:xfrm>
            <a:off x="6400800" y="2468880"/>
            <a:ext cx="4709160" cy="329184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Genre non renseigné (~27 %, très inégal dans le temps) → analyse hors NR</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Région déclarée à l'inscription, pas nécessairement de résidence</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14 % d'étudiants réinscrits sur plusieurs années (grain = inscription)</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Données INSEE = valeurs de référence, à réactualiser en production</a:t>
            </a:r>
            <a:endParaRPr lang="en-US" sz="1300" dirty="0"/>
          </a:p>
          <a:p>
            <a:pPr marL="342900" indent="-342900">
              <a:spcAft>
                <a:spcPts val="1100"/>
              </a:spcAft>
              <a:buSzPct val="100000"/>
              <a:buChar char="•"/>
            </a:pPr>
            <a:r>
              <a:rPr lang="en-US" sz="1300" dirty="0">
                <a:solidFill>
                  <a:srgbClr val="223029"/>
                </a:solidFill>
                <a:latin typeface="Calibri" pitchFamily="34" charset="0"/>
                <a:ea typeface="Calibri" pitchFamily="34" charset="-122"/>
                <a:cs typeface="Calibri" pitchFamily="34" charset="-120"/>
              </a:rPr>
              <a:t>Aucune donnée de réussite / abandon sur ce périmètre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RECOMMANDATIONS</a:t>
            </a:r>
            <a:endParaRPr lang="en-US" sz="1200" dirty="0"/>
          </a:p>
        </p:txBody>
      </p:sp>
      <p:sp>
        <p:nvSpPr>
          <p:cNvPr id="3" name="Text 1"/>
          <p:cNvSpPr/>
          <p:nvPr/>
        </p:nvSpPr>
        <p:spPr>
          <a:xfrm>
            <a:off x="640080" y="713232"/>
            <a:ext cx="10972800" cy="777240"/>
          </a:xfrm>
          <a:prstGeom prst="rect">
            <a:avLst/>
          </a:prstGeom>
          <a:noFill/>
          <a:ln/>
        </p:spPr>
        <p:txBody>
          <a:bodyPr wrap="square" lIns="0" tIns="0" rIns="0" bIns="0" rtlCol="0" anchor="ctr"/>
          <a:lstStyle/>
          <a:p>
            <a:pPr marL="0" indent="0">
              <a:buNone/>
            </a:pPr>
            <a:r>
              <a:rPr lang="en-US" sz="3400" b="1" dirty="0">
                <a:solidFill>
                  <a:srgbClr val="0B3D2E"/>
                </a:solidFill>
                <a:latin typeface="Cambria" pitchFamily="34" charset="0"/>
                <a:ea typeface="Cambria" pitchFamily="34" charset="-122"/>
                <a:cs typeface="Cambria" pitchFamily="34" charset="-120"/>
              </a:rPr>
              <a:t>Quatre leviers pour la direction pédagogique</a:t>
            </a:r>
            <a:endParaRPr lang="en-US" sz="3400" dirty="0"/>
          </a:p>
        </p:txBody>
      </p:sp>
      <p:sp>
        <p:nvSpPr>
          <p:cNvPr id="4" name="Shape 2"/>
          <p:cNvSpPr/>
          <p:nvPr/>
        </p:nvSpPr>
        <p:spPr>
          <a:xfrm>
            <a:off x="640080" y="1783080"/>
            <a:ext cx="5349240" cy="1965960"/>
          </a:xfrm>
          <a:prstGeom prst="roundRect">
            <a:avLst>
              <a:gd name="adj" fmla="val 4186"/>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5" name="Shape 3"/>
          <p:cNvSpPr/>
          <p:nvPr/>
        </p:nvSpPr>
        <p:spPr>
          <a:xfrm>
            <a:off x="914400" y="2075688"/>
            <a:ext cx="457200" cy="457200"/>
          </a:xfrm>
          <a:prstGeom prst="ellipse">
            <a:avLst/>
          </a:prstGeom>
          <a:solidFill>
            <a:srgbClr val="0B3D2E"/>
          </a:solidFill>
          <a:ln/>
        </p:spPr>
      </p:sp>
      <p:sp>
        <p:nvSpPr>
          <p:cNvPr id="6" name="Text 4"/>
          <p:cNvSpPr/>
          <p:nvPr/>
        </p:nvSpPr>
        <p:spPr>
          <a:xfrm>
            <a:off x="914400" y="207568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554480" y="2057400"/>
            <a:ext cx="4251960" cy="640080"/>
          </a:xfrm>
          <a:prstGeom prst="rect">
            <a:avLst/>
          </a:prstGeom>
          <a:noFill/>
          <a:ln/>
        </p:spPr>
        <p:txBody>
          <a:bodyPr wrap="square" lIns="0" tIns="0" rIns="0" bIns="0" rtlCol="0" anchor="t"/>
          <a:lstStyle/>
          <a:p>
            <a:pPr marL="0" indent="0">
              <a:buNone/>
            </a:pPr>
            <a:r>
              <a:rPr lang="en-US" sz="1650" b="1" dirty="0">
                <a:solidFill>
                  <a:srgbClr val="0B3D2E"/>
                </a:solidFill>
                <a:latin typeface="Cambria" pitchFamily="34" charset="0"/>
                <a:ea typeface="Cambria" pitchFamily="34" charset="-122"/>
                <a:cs typeface="Cambria" pitchFamily="34" charset="-120"/>
              </a:rPr>
              <a:t>Renforcer l'attractivité féminine</a:t>
            </a:r>
            <a:endParaRPr lang="en-US" sz="1650" dirty="0"/>
          </a:p>
        </p:txBody>
      </p:sp>
      <p:sp>
        <p:nvSpPr>
          <p:cNvPr id="8" name="Text 6"/>
          <p:cNvSpPr/>
          <p:nvPr/>
        </p:nvSpPr>
        <p:spPr>
          <a:xfrm>
            <a:off x="1554480" y="2715768"/>
            <a:ext cx="4206240" cy="91440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Partenariats assos tech féminines, témoignages d'alumni. Objectif : part F &gt; 35 %.</a:t>
            </a:r>
            <a:endParaRPr lang="en-US" sz="1250" dirty="0"/>
          </a:p>
        </p:txBody>
      </p:sp>
      <p:sp>
        <p:nvSpPr>
          <p:cNvPr id="9" name="Shape 7"/>
          <p:cNvSpPr/>
          <p:nvPr/>
        </p:nvSpPr>
        <p:spPr>
          <a:xfrm>
            <a:off x="6400800" y="1783080"/>
            <a:ext cx="5349240" cy="1965960"/>
          </a:xfrm>
          <a:prstGeom prst="roundRect">
            <a:avLst>
              <a:gd name="adj" fmla="val 4186"/>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0" name="Shape 8"/>
          <p:cNvSpPr/>
          <p:nvPr/>
        </p:nvSpPr>
        <p:spPr>
          <a:xfrm>
            <a:off x="6675120" y="2075688"/>
            <a:ext cx="457200" cy="457200"/>
          </a:xfrm>
          <a:prstGeom prst="ellipse">
            <a:avLst/>
          </a:prstGeom>
          <a:solidFill>
            <a:srgbClr val="C9A227"/>
          </a:solidFill>
          <a:ln/>
        </p:spPr>
      </p:sp>
      <p:sp>
        <p:nvSpPr>
          <p:cNvPr id="11" name="Text 9"/>
          <p:cNvSpPr/>
          <p:nvPr/>
        </p:nvSpPr>
        <p:spPr>
          <a:xfrm>
            <a:off x="6675120" y="207568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315200" y="2057400"/>
            <a:ext cx="4251960" cy="640080"/>
          </a:xfrm>
          <a:prstGeom prst="rect">
            <a:avLst/>
          </a:prstGeom>
          <a:noFill/>
          <a:ln/>
        </p:spPr>
        <p:txBody>
          <a:bodyPr wrap="square" lIns="0" tIns="0" rIns="0" bIns="0" rtlCol="0" anchor="t"/>
          <a:lstStyle/>
          <a:p>
            <a:pPr marL="0" indent="0">
              <a:buNone/>
            </a:pPr>
            <a:r>
              <a:rPr lang="en-US" sz="1650" b="1" dirty="0">
                <a:solidFill>
                  <a:srgbClr val="0B3D2E"/>
                </a:solidFill>
                <a:latin typeface="Cambria" pitchFamily="34" charset="0"/>
                <a:ea typeface="Cambria" pitchFamily="34" charset="-122"/>
                <a:cs typeface="Cambria" pitchFamily="34" charset="-120"/>
              </a:rPr>
              <a:t>Adresser les territoires</a:t>
            </a:r>
            <a:endParaRPr lang="en-US" sz="1650" dirty="0"/>
          </a:p>
        </p:txBody>
      </p:sp>
      <p:sp>
        <p:nvSpPr>
          <p:cNvPr id="13" name="Text 11"/>
          <p:cNvSpPr/>
          <p:nvPr/>
        </p:nvSpPr>
        <p:spPr>
          <a:xfrm>
            <a:off x="7315200" y="2715768"/>
            <a:ext cx="4206240" cy="91440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Bourses / tarifs hors grandes métropoles ; partenariats avec les Régions.</a:t>
            </a:r>
            <a:endParaRPr lang="en-US" sz="1250" dirty="0"/>
          </a:p>
        </p:txBody>
      </p:sp>
      <p:sp>
        <p:nvSpPr>
          <p:cNvPr id="14" name="Shape 12"/>
          <p:cNvSpPr/>
          <p:nvPr/>
        </p:nvSpPr>
        <p:spPr>
          <a:xfrm>
            <a:off x="640080" y="4005072"/>
            <a:ext cx="5349240" cy="1965960"/>
          </a:xfrm>
          <a:prstGeom prst="roundRect">
            <a:avLst>
              <a:gd name="adj" fmla="val 4186"/>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15" name="Shape 13"/>
          <p:cNvSpPr/>
          <p:nvPr/>
        </p:nvSpPr>
        <p:spPr>
          <a:xfrm>
            <a:off x="914400" y="4297680"/>
            <a:ext cx="457200" cy="457200"/>
          </a:xfrm>
          <a:prstGeom prst="ellipse">
            <a:avLst/>
          </a:prstGeom>
          <a:solidFill>
            <a:srgbClr val="0B3D2E"/>
          </a:solidFill>
          <a:ln/>
        </p:spPr>
      </p:sp>
      <p:sp>
        <p:nvSpPr>
          <p:cNvPr id="16" name="Text 14"/>
          <p:cNvSpPr/>
          <p:nvPr/>
        </p:nvSpPr>
        <p:spPr>
          <a:xfrm>
            <a:off x="914400" y="42976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554480" y="4279392"/>
            <a:ext cx="4251960" cy="640080"/>
          </a:xfrm>
          <a:prstGeom prst="rect">
            <a:avLst/>
          </a:prstGeom>
          <a:noFill/>
          <a:ln/>
        </p:spPr>
        <p:txBody>
          <a:bodyPr wrap="square" lIns="0" tIns="0" rIns="0" bIns="0" rtlCol="0" anchor="t"/>
          <a:lstStyle/>
          <a:p>
            <a:pPr marL="0" indent="0">
              <a:buNone/>
            </a:pPr>
            <a:r>
              <a:rPr lang="en-US" sz="1650" b="1" dirty="0">
                <a:solidFill>
                  <a:srgbClr val="0B3D2E"/>
                </a:solidFill>
                <a:latin typeface="Cambria" pitchFamily="34" charset="0"/>
                <a:ea typeface="Cambria" pitchFamily="34" charset="-122"/>
                <a:cs typeface="Cambria" pitchFamily="34" charset="-120"/>
              </a:rPr>
              <a:t>Capitaliser sur le rajeunissement</a:t>
            </a:r>
            <a:endParaRPr lang="en-US" sz="1650" dirty="0"/>
          </a:p>
        </p:txBody>
      </p:sp>
      <p:sp>
        <p:nvSpPr>
          <p:cNvPr id="18" name="Text 16"/>
          <p:cNvSpPr/>
          <p:nvPr/>
        </p:nvSpPr>
        <p:spPr>
          <a:xfrm>
            <a:off x="1554480" y="4937760"/>
            <a:ext cx="4206240" cy="91440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Partenariats universités &amp; écoles ; la montée des 20-29 ans confirme la faisabilité.</a:t>
            </a:r>
            <a:endParaRPr lang="en-US" sz="1250" dirty="0"/>
          </a:p>
        </p:txBody>
      </p:sp>
      <p:sp>
        <p:nvSpPr>
          <p:cNvPr id="19" name="Shape 17"/>
          <p:cNvSpPr/>
          <p:nvPr/>
        </p:nvSpPr>
        <p:spPr>
          <a:xfrm>
            <a:off x="6400800" y="4005072"/>
            <a:ext cx="5349240" cy="1965960"/>
          </a:xfrm>
          <a:prstGeom prst="roundRect">
            <a:avLst>
              <a:gd name="adj" fmla="val 4186"/>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20" name="Shape 18"/>
          <p:cNvSpPr/>
          <p:nvPr/>
        </p:nvSpPr>
        <p:spPr>
          <a:xfrm>
            <a:off x="6675120" y="4297680"/>
            <a:ext cx="457200" cy="457200"/>
          </a:xfrm>
          <a:prstGeom prst="ellipse">
            <a:avLst/>
          </a:prstGeom>
          <a:solidFill>
            <a:srgbClr val="C9A227"/>
          </a:solidFill>
          <a:ln/>
        </p:spPr>
      </p:sp>
      <p:sp>
        <p:nvSpPr>
          <p:cNvPr id="21" name="Text 19"/>
          <p:cNvSpPr/>
          <p:nvPr/>
        </p:nvSpPr>
        <p:spPr>
          <a:xfrm>
            <a:off x="6675120" y="42976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315200" y="4279392"/>
            <a:ext cx="4251960" cy="640080"/>
          </a:xfrm>
          <a:prstGeom prst="rect">
            <a:avLst/>
          </a:prstGeom>
          <a:noFill/>
          <a:ln/>
        </p:spPr>
        <p:txBody>
          <a:bodyPr wrap="square" lIns="0" tIns="0" rIns="0" bIns="0" rtlCol="0" anchor="t"/>
          <a:lstStyle/>
          <a:p>
            <a:pPr marL="0" indent="0">
              <a:buNone/>
            </a:pPr>
            <a:r>
              <a:rPr lang="en-US" sz="1650" b="1" dirty="0">
                <a:solidFill>
                  <a:srgbClr val="0B3D2E"/>
                </a:solidFill>
                <a:latin typeface="Cambria" pitchFamily="34" charset="0"/>
                <a:ea typeface="Cambria" pitchFamily="34" charset="-122"/>
                <a:cs typeface="Cambria" pitchFamily="34" charset="-120"/>
              </a:rPr>
              <a:t>Industrialiser le pipeline</a:t>
            </a:r>
            <a:endParaRPr lang="en-US" sz="1650" dirty="0"/>
          </a:p>
        </p:txBody>
      </p:sp>
      <p:sp>
        <p:nvSpPr>
          <p:cNvPr id="23" name="Text 21"/>
          <p:cNvSpPr/>
          <p:nvPr/>
        </p:nvSpPr>
        <p:spPr>
          <a:xfrm>
            <a:off x="7315200" y="4937760"/>
            <a:ext cx="4206240" cy="914400"/>
          </a:xfrm>
          <a:prstGeom prst="rect">
            <a:avLst/>
          </a:prstGeom>
          <a:noFill/>
          <a:ln/>
        </p:spPr>
        <p:txBody>
          <a:bodyPr wrap="square" lIns="0" tIns="0" rIns="0" bIns="0" rtlCol="0" anchor="t"/>
          <a:lstStyle/>
          <a:p>
            <a:pPr marL="0" indent="0">
              <a:buNone/>
            </a:pPr>
            <a:r>
              <a:rPr lang="en-US" sz="1250" dirty="0">
                <a:solidFill>
                  <a:srgbClr val="6B7570"/>
                </a:solidFill>
                <a:latin typeface="Calibri" pitchFamily="34" charset="0"/>
                <a:ea typeface="Calibri" pitchFamily="34" charset="-122"/>
                <a:cs typeface="Calibri" pitchFamily="34" charset="-120"/>
              </a:rPr>
              <a:t>Rafraîchissement annuel automatisé des données INSEE + dashboard connecté aux marts.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2E"/>
        </a:solidFill>
        <a:effectLst/>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1B6B4C"/>
          </a:solidFill>
          <a:ln/>
        </p:spPr>
      </p:sp>
      <p:sp>
        <p:nvSpPr>
          <p:cNvPr id="3" name="Text 1"/>
          <p:cNvSpPr/>
          <p:nvPr/>
        </p:nvSpPr>
        <p:spPr>
          <a:xfrm>
            <a:off x="822960" y="777240"/>
            <a:ext cx="10058400" cy="365760"/>
          </a:xfrm>
          <a:prstGeom prst="rect">
            <a:avLst/>
          </a:prstGeom>
          <a:noFill/>
          <a:ln/>
        </p:spPr>
        <p:txBody>
          <a:bodyPr wrap="square" lIns="0" tIns="0" rIns="0" bIns="0" rtlCol="0" anchor="ctr"/>
          <a:lstStyle/>
          <a:p>
            <a:pPr marL="0" indent="0">
              <a:buNone/>
            </a:pPr>
            <a:r>
              <a:rPr lang="en-US" sz="1300" b="1" kern="0" spc="300" dirty="0">
                <a:solidFill>
                  <a:srgbClr val="C9A227"/>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804672" y="1170432"/>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Le profil type de l'étudiant Data OC</a:t>
            </a:r>
            <a:endParaRPr lang="en-US" sz="3200" dirty="0"/>
          </a:p>
        </p:txBody>
      </p:sp>
      <p:sp>
        <p:nvSpPr>
          <p:cNvPr id="5" name="Shape 3"/>
          <p:cNvSpPr/>
          <p:nvPr/>
        </p:nvSpPr>
        <p:spPr>
          <a:xfrm>
            <a:off x="640080" y="2286000"/>
            <a:ext cx="5349240" cy="3749040"/>
          </a:xfrm>
          <a:prstGeom prst="roundRect">
            <a:avLst>
              <a:gd name="adj" fmla="val 2195"/>
            </a:avLst>
          </a:prstGeom>
          <a:solidFill>
            <a:srgbClr val="0E4A38"/>
          </a:solidFill>
          <a:ln w="12700">
            <a:solidFill>
              <a:srgbClr val="E2E6E3"/>
            </a:solidFill>
            <a:prstDash val="solid"/>
          </a:ln>
          <a:effectLst>
            <a:outerShdw blurRad="88900" dist="25400" dir="5400000" algn="bl" rotWithShape="0">
              <a:srgbClr val="9AA39E">
                <a:alpha val="28000"/>
              </a:srgbClr>
            </a:outerShdw>
          </a:effectLst>
        </p:spPr>
      </p:sp>
      <p:sp>
        <p:nvSpPr>
          <p:cNvPr id="6" name="Text 4"/>
          <p:cNvSpPr/>
          <p:nvPr/>
        </p:nvSpPr>
        <p:spPr>
          <a:xfrm>
            <a:off x="914400" y="2514600"/>
            <a:ext cx="4754880" cy="365760"/>
          </a:xfrm>
          <a:prstGeom prst="rect">
            <a:avLst/>
          </a:prstGeom>
          <a:noFill/>
          <a:ln/>
        </p:spPr>
        <p:txBody>
          <a:bodyPr wrap="square" lIns="0" tIns="0" rIns="0" bIns="0"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Portrait 2022–2025</a:t>
            </a:r>
            <a:endParaRPr lang="en-US" sz="1200" dirty="0"/>
          </a:p>
        </p:txBody>
      </p:sp>
      <p:sp>
        <p:nvSpPr>
          <p:cNvPr id="7" name="Text 5"/>
          <p:cNvSpPr/>
          <p:nvPr/>
        </p:nvSpPr>
        <p:spPr>
          <a:xfrm>
            <a:off x="914400" y="2971800"/>
            <a:ext cx="4937760" cy="27432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En reconversion professionnelle</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Majoritairement un homme (≈ 69 %, hors NR)</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Âgé de 30 à 44 ans, mais l'audience rajeunit</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Concentré en Île-de-France (46 %)</a:t>
            </a:r>
            <a:endParaRPr lang="en-US" sz="1400" dirty="0"/>
          </a:p>
        </p:txBody>
      </p:sp>
      <p:sp>
        <p:nvSpPr>
          <p:cNvPr id="8" name="Shape 6"/>
          <p:cNvSpPr/>
          <p:nvPr/>
        </p:nvSpPr>
        <p:spPr>
          <a:xfrm>
            <a:off x="6199632" y="2286000"/>
            <a:ext cx="5349240" cy="3749040"/>
          </a:xfrm>
          <a:prstGeom prst="roundRect">
            <a:avLst>
              <a:gd name="adj" fmla="val 2195"/>
            </a:avLst>
          </a:prstGeom>
          <a:solidFill>
            <a:srgbClr val="FFFFFF"/>
          </a:solidFill>
          <a:ln w="12700">
            <a:solidFill>
              <a:srgbClr val="E2E6E3"/>
            </a:solidFill>
            <a:prstDash val="solid"/>
          </a:ln>
          <a:effectLst>
            <a:outerShdw blurRad="88900" dist="25400" dir="5400000" algn="bl" rotWithShape="0">
              <a:srgbClr val="9AA39E">
                <a:alpha val="28000"/>
              </a:srgbClr>
            </a:outerShdw>
          </a:effectLst>
        </p:spPr>
      </p:sp>
      <p:sp>
        <p:nvSpPr>
          <p:cNvPr id="9" name="Text 7"/>
          <p:cNvSpPr/>
          <p:nvPr/>
        </p:nvSpPr>
        <p:spPr>
          <a:xfrm>
            <a:off x="6473952" y="2514600"/>
            <a:ext cx="4754880" cy="365760"/>
          </a:xfrm>
          <a:prstGeom prst="rect">
            <a:avLst/>
          </a:prstGeom>
          <a:noFill/>
          <a:ln/>
        </p:spPr>
        <p:txBody>
          <a:bodyPr wrap="square" lIns="0" tIns="0" rIns="0" bIns="0" rtlCol="0" anchor="ctr"/>
          <a:lstStyle/>
          <a:p>
            <a:pPr marL="0" indent="0">
              <a:buNone/>
            </a:pPr>
            <a:r>
              <a:rPr lang="en-US" sz="1200" b="1" kern="0" spc="100" dirty="0">
                <a:solidFill>
                  <a:srgbClr val="1B6B4C"/>
                </a:solidFill>
                <a:latin typeface="Calibri" pitchFamily="34" charset="0"/>
                <a:ea typeface="Calibri" pitchFamily="34" charset="-122"/>
                <a:cs typeface="Calibri" pitchFamily="34" charset="-120"/>
              </a:rPr>
              <a:t>Axes prioritaires</a:t>
            </a:r>
            <a:endParaRPr lang="en-US" sz="1200" dirty="0"/>
          </a:p>
        </p:txBody>
      </p:sp>
      <p:sp>
        <p:nvSpPr>
          <p:cNvPr id="10" name="Text 8"/>
          <p:cNvSpPr/>
          <p:nvPr/>
        </p:nvSpPr>
        <p:spPr>
          <a:xfrm>
            <a:off x="6473952" y="2971800"/>
            <a:ext cx="4937760" cy="274320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223029"/>
                </a:solidFill>
                <a:latin typeface="Calibri" pitchFamily="34" charset="0"/>
                <a:ea typeface="Calibri" pitchFamily="34" charset="-122"/>
                <a:cs typeface="Calibri" pitchFamily="34" charset="-120"/>
              </a:rPr>
              <a:t>Féminiser le public</a:t>
            </a:r>
            <a:endParaRPr lang="en-US" sz="1400" dirty="0"/>
          </a:p>
          <a:p>
            <a:pPr marL="342900" indent="-342900">
              <a:spcAft>
                <a:spcPts val="1100"/>
              </a:spcAft>
              <a:buSzPct val="100000"/>
              <a:buChar char="→"/>
            </a:pPr>
            <a:r>
              <a:rPr lang="en-US" sz="1400" dirty="0">
                <a:solidFill>
                  <a:srgbClr val="223029"/>
                </a:solidFill>
                <a:latin typeface="Calibri" pitchFamily="34" charset="0"/>
                <a:ea typeface="Calibri" pitchFamily="34" charset="-122"/>
                <a:cs typeface="Calibri" pitchFamily="34" charset="-120"/>
              </a:rPr>
              <a:t>Ouvrir l'accès hors Île-de-France</a:t>
            </a:r>
            <a:endParaRPr lang="en-US" sz="1400" dirty="0"/>
          </a:p>
          <a:p>
            <a:pPr marL="342900" indent="-342900">
              <a:spcAft>
                <a:spcPts val="1100"/>
              </a:spcAft>
              <a:buSzPct val="100000"/>
              <a:buChar char="→"/>
            </a:pPr>
            <a:r>
              <a:rPr lang="en-US" sz="1400" dirty="0">
                <a:solidFill>
                  <a:srgbClr val="223029"/>
                </a:solidFill>
                <a:latin typeface="Calibri" pitchFamily="34" charset="0"/>
                <a:ea typeface="Calibri" pitchFamily="34" charset="-122"/>
                <a:cs typeface="Calibri" pitchFamily="34" charset="-120"/>
              </a:rPr>
              <a:t>Poursuivre le rajeunissement</a:t>
            </a:r>
            <a:endParaRPr lang="en-US" sz="1400" dirty="0"/>
          </a:p>
          <a:p>
            <a:pPr marL="342900" indent="-342900">
              <a:spcAft>
                <a:spcPts val="1100"/>
              </a:spcAft>
              <a:buSzPct val="100000"/>
              <a:buChar char="→"/>
            </a:pPr>
            <a:r>
              <a:rPr lang="en-US" sz="1400" dirty="0">
                <a:solidFill>
                  <a:srgbClr val="223029"/>
                </a:solidFill>
                <a:latin typeface="Calibri" pitchFamily="34" charset="0"/>
                <a:ea typeface="Calibri" pitchFamily="34" charset="-122"/>
                <a:cs typeface="Calibri" pitchFamily="34" charset="-120"/>
              </a:rPr>
              <a:t>Actualiser le pipeline chaque année</a:t>
            </a:r>
            <a:endParaRPr lang="en-US" sz="1400" dirty="0"/>
          </a:p>
          <a:p>
            <a:pPr marL="342900" indent="-342900">
              <a:spcAft>
                <a:spcPts val="1100"/>
              </a:spcAft>
              <a:buSzPct val="100000"/>
              <a:buChar char="→"/>
            </a:pPr>
            <a:r>
              <a:rPr lang="en-US" sz="1400" dirty="0">
                <a:solidFill>
                  <a:srgbClr val="223029"/>
                </a:solidFill>
                <a:latin typeface="Calibri" pitchFamily="34" charset="0"/>
                <a:ea typeface="Calibri" pitchFamily="34" charset="-122"/>
                <a:cs typeface="Calibri" pitchFamily="34" charset="-120"/>
              </a:rPr>
              <a:t>Enrichir avec des données de réussite</a:t>
            </a:r>
            <a:endParaRPr lang="en-US" sz="1400" dirty="0"/>
          </a:p>
        </p:txBody>
      </p:sp>
      <p:sp>
        <p:nvSpPr>
          <p:cNvPr id="11" name="Text 9"/>
          <p:cNvSpPr/>
          <p:nvPr/>
        </p:nvSpPr>
        <p:spPr>
          <a:xfrm>
            <a:off x="822960" y="6355080"/>
            <a:ext cx="10515600" cy="320040"/>
          </a:xfrm>
          <a:prstGeom prst="rect">
            <a:avLst/>
          </a:prstGeom>
          <a:noFill/>
          <a:ln/>
        </p:spPr>
        <p:txBody>
          <a:bodyPr wrap="square" lIns="0" tIns="0" rIns="0" bIns="0" rtlCol="0" anchor="ctr"/>
          <a:lstStyle/>
          <a:p>
            <a:pPr marL="0" indent="0" algn="ctr">
              <a:buNone/>
            </a:pPr>
            <a:r>
              <a:rPr lang="en-US" sz="1100" i="1" dirty="0">
                <a:solidFill>
                  <a:srgbClr val="6FAE8F"/>
                </a:solidFill>
                <a:latin typeface="Calibri" pitchFamily="34" charset="0"/>
                <a:ea typeface="Calibri" pitchFamily="34" charset="-122"/>
                <a:cs typeface="Calibri" pitchFamily="34" charset="-120"/>
              </a:rPr>
              <a:t>OpenClassrooms </a:t>
            </a:r>
            <a:r>
              <a:rPr lang="en-US" sz="1100" i="1">
                <a:solidFill>
                  <a:srgbClr val="6FAE8F"/>
                </a:solidFill>
                <a:latin typeface="Calibri" pitchFamily="34" charset="0"/>
                <a:ea typeface="Calibri" pitchFamily="34" charset="-122"/>
                <a:cs typeface="Calibri" pitchFamily="34" charset="-120"/>
              </a:rPr>
              <a:t>· Corentin DERVOUT </a:t>
            </a:r>
            <a:r>
              <a:rPr lang="en-US" sz="1100" i="1" dirty="0">
                <a:solidFill>
                  <a:srgbClr val="6FAE8F"/>
                </a:solidFill>
                <a:latin typeface="Calibri" pitchFamily="34" charset="0"/>
                <a:ea typeface="Calibri" pitchFamily="34" charset="-122"/>
                <a:cs typeface="Calibri" pitchFamily="34" charset="-120"/>
              </a:rPr>
              <a:t>· Formation Data Analyst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8A1D8A-EE1E-50DC-E760-8430DBFB32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AC9C92-50E9-6195-AFAE-D8D9E697FB19}"/>
              </a:ext>
            </a:extLst>
          </p:cNvPr>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9A227"/>
                </a:solidFill>
                <a:latin typeface="Calibri" pitchFamily="34" charset="0"/>
                <a:ea typeface="Calibri" pitchFamily="34" charset="-122"/>
                <a:cs typeface="Calibri" pitchFamily="34" charset="-120"/>
              </a:rPr>
              <a:t>ANNEXES</a:t>
            </a:r>
            <a:endParaRPr lang="en-US" sz="1200" dirty="0"/>
          </a:p>
        </p:txBody>
      </p:sp>
      <p:sp>
        <p:nvSpPr>
          <p:cNvPr id="21" name="Text 19">
            <a:extLst>
              <a:ext uri="{FF2B5EF4-FFF2-40B4-BE49-F238E27FC236}">
                <a16:creationId xmlns:a16="http://schemas.microsoft.com/office/drawing/2014/main" id="{6E41CA1C-B87F-8D19-6764-B8863E03DB73}"/>
              </a:ext>
            </a:extLst>
          </p:cNvPr>
          <p:cNvSpPr/>
          <p:nvPr/>
        </p:nvSpPr>
        <p:spPr>
          <a:xfrm>
            <a:off x="6675120" y="4297680"/>
            <a:ext cx="457200" cy="457200"/>
          </a:xfrm>
          <a:prstGeom prst="rect">
            <a:avLst/>
          </a:prstGeom>
          <a:noFill/>
          <a:ln/>
        </p:spPr>
        <p:txBody>
          <a:bodyPr wrap="square" lIns="0" tIns="0" rIns="0" bIns="0" rtlCol="0" anchor="ctr"/>
          <a:lstStyle/>
          <a:p>
            <a:pPr marL="0" indent="0" algn="ctr">
              <a:buNone/>
            </a:pPr>
            <a:endParaRPr lang="en-US" sz="1500" dirty="0"/>
          </a:p>
        </p:txBody>
      </p:sp>
      <p:pic>
        <p:nvPicPr>
          <p:cNvPr id="25" name="Picture 24">
            <a:extLst>
              <a:ext uri="{FF2B5EF4-FFF2-40B4-BE49-F238E27FC236}">
                <a16:creationId xmlns:a16="http://schemas.microsoft.com/office/drawing/2014/main" id="{3FFD9D37-6914-7369-6DC2-F949B27018A6}"/>
              </a:ext>
            </a:extLst>
          </p:cNvPr>
          <p:cNvPicPr>
            <a:picLocks noChangeAspect="1"/>
          </p:cNvPicPr>
          <p:nvPr/>
        </p:nvPicPr>
        <p:blipFill>
          <a:blip r:embed="rId3"/>
          <a:stretch>
            <a:fillRect/>
          </a:stretch>
        </p:blipFill>
        <p:spPr>
          <a:xfrm>
            <a:off x="0" y="3668357"/>
            <a:ext cx="8618957" cy="3189643"/>
          </a:xfrm>
          <a:prstGeom prst="rect">
            <a:avLst/>
          </a:prstGeom>
        </p:spPr>
      </p:pic>
      <p:pic>
        <p:nvPicPr>
          <p:cNvPr id="27" name="Picture 26">
            <a:extLst>
              <a:ext uri="{FF2B5EF4-FFF2-40B4-BE49-F238E27FC236}">
                <a16:creationId xmlns:a16="http://schemas.microsoft.com/office/drawing/2014/main" id="{76AED8D9-E073-25C1-683D-FAAC8A968C0B}"/>
              </a:ext>
            </a:extLst>
          </p:cNvPr>
          <p:cNvPicPr>
            <a:picLocks noChangeAspect="1"/>
          </p:cNvPicPr>
          <p:nvPr/>
        </p:nvPicPr>
        <p:blipFill>
          <a:blip r:embed="rId4"/>
          <a:stretch>
            <a:fillRect/>
          </a:stretch>
        </p:blipFill>
        <p:spPr>
          <a:xfrm>
            <a:off x="6200222" y="0"/>
            <a:ext cx="5991778" cy="5111427"/>
          </a:xfrm>
          <a:prstGeom prst="rect">
            <a:avLst/>
          </a:prstGeom>
        </p:spPr>
      </p:pic>
    </p:spTree>
    <p:extLst>
      <p:ext uri="{BB962C8B-B14F-4D97-AF65-F5344CB8AC3E}">
        <p14:creationId xmlns:p14="http://schemas.microsoft.com/office/powerpoint/2010/main" val="3093463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2258</Words>
  <Application>Microsoft Office PowerPoint</Application>
  <PresentationFormat>Widescreen</PresentationFormat>
  <Paragraphs>214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Corentin DERVOUT</cp:lastModifiedBy>
  <cp:revision>8</cp:revision>
  <dcterms:created xsi:type="dcterms:W3CDTF">2026-08-07T12:19:29Z</dcterms:created>
  <dcterms:modified xsi:type="dcterms:W3CDTF">2026-08-11T11:07:04Z</dcterms:modified>
</cp:coreProperties>
</file>