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1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 composite</c:v>
                </c:pt>
              </c:strCache>
            </c:strRef>
          </c:tx>
          <c:spPr>
            <a:solidFill>
              <a:srgbClr val="2C5F2D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595959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C5F2D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C5F2D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D4A017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C5F2D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D4A017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D4A017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2C5F2D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2C5F2D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2C5F2D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D4A017"/>
              </a:solidFill>
              <a:effectLst/>
            </c:spPr>
          </c:dPt>
          <c:dPt>
            <c:idx val="10"/>
            <c:invertIfNegative val="0"/>
            <c:bubble3D val="0"/>
            <c:spPr>
              <a:solidFill>
                <a:srgbClr val="D4A017"/>
              </a:solidFill>
              <a:effectLst/>
            </c:spPr>
          </c:dPt>
          <c:dPt>
            <c:idx val="11"/>
            <c:invertIfNegative val="0"/>
            <c:bubble3D val="0"/>
            <c:spPr>
              <a:solidFill>
                <a:srgbClr val="D4A017"/>
              </a:solidFill>
              <a:effectLst/>
            </c:spPr>
          </c:dPt>
          <c:cat>
            <c:multiLvlStrRef>
              <c:f>Sheet1!$A$2:$A$13</c:f>
              <c:multiLvlStrCache>
                <c:ptCount val="12"/>
                <c:lvl>
                  <c:pt idx="0">
                    <c:v>Israël</c:v>
                  </c:pt>
                  <c:pt idx="1">
                    <c:v>Allemagne</c:v>
                  </c:pt>
                  <c:pt idx="2">
                    <c:v>Émirats A.U.</c:v>
                  </c:pt>
                  <c:pt idx="3">
                    <c:v>Estonie</c:v>
                  </c:pt>
                  <c:pt idx="4">
                    <c:v>Irlande</c:v>
                  </c:pt>
                  <c:pt idx="5">
                    <c:v>Danemark</c:v>
                  </c:pt>
                  <c:pt idx="6">
                    <c:v>Suisse</c:v>
                  </c:pt>
                  <c:pt idx="7">
                    <c:v>Suède</c:v>
                  </c:pt>
                  <c:pt idx="8">
                    <c:v>Autriche</c:v>
                  </c:pt>
                  <c:pt idx="9">
                    <c:v>Belgique</c:v>
                  </c:pt>
                  <c:pt idx="10">
                    <c:v>Pays-Bas</c:v>
                  </c:pt>
                  <c:pt idx="11">
                    <c:v>Luxembourg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0.37</c:v>
                </c:pt>
                <c:pt idx="1">
                  <c:v>0.37</c:v>
                </c:pt>
                <c:pt idx="2">
                  <c:v>0.38</c:v>
                </c:pt>
                <c:pt idx="3">
                  <c:v>0.39</c:v>
                </c:pt>
                <c:pt idx="4">
                  <c:v>0.42</c:v>
                </c:pt>
                <c:pt idx="5">
                  <c:v>0.42</c:v>
                </c:pt>
                <c:pt idx="6">
                  <c:v>0.42</c:v>
                </c:pt>
                <c:pt idx="7">
                  <c:v>0.44</c:v>
                </c:pt>
                <c:pt idx="8">
                  <c:v>0.49</c:v>
                </c:pt>
                <c:pt idx="9">
                  <c:v>0.52</c:v>
                </c:pt>
                <c:pt idx="10">
                  <c:v>0.54</c:v>
                </c:pt>
                <c:pt idx="11">
                  <c:v>0.59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100" u="none">
                  <a:solidFill>
                    <a:srgbClr val="595959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2B2B2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65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Bonjour à tous. En 15 minutes : le contexte de la mission, notre méthode d'analyse, et surtout les pays que je recommande de cibler pour exporter notre poulet bio.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Nous vendons du poulet bio, uniquement en France. Patrick veut explorer l'export. Ma mission : identifier des groupes de pays à cibler, sans a priori géographique.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 part de tous les pays du monde. Après nettoyage, 127 pays exploitables couvrant 94 % de la population. On les regroupe en 5 familles, puis on classe les plus prometteurs pour aboutir à une quinzaine de cibles.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Uniquement des données ouvertes et fiables : FAO et Banque mondiale. 127 pays, 17 indicateurs choisis via la grille PESTEL pour couvrir richesse, consommation, logistique, gouvernance, maturité bio.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Chaque dimension PESTEL apporte des indicateurs : la richesse et la dépendance côté économique, la consommation et l'urbanisation côté social, la logistique côté technologique, la maturité bio côté environnemental.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Pourquoi l'ACP ? Nos indicateurs sont corrélés. L'ACP supprime les redondances et résume l'information en quelques facteurs : la richesse, la taille/dépendance du marché, et la culture volaille. On garde 5 facteurs (détail en annexe).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 regroupe les pays par ressemblance avec deux méthodes qui se confirment. Résultat : 5 familles bien distinctes.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Chaque point est un pays. La couleur, c'est sa famille. À droite les pays riches, en bas les géants, et en or les hubs ultra-premium — petits pays très riches et très importateurs, notre cible la plus rentable.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Cinq profils nets. Les hubs ultra-premium : très riches, très importateurs. Les développés premium : le gros de la cible. Les intermédiaires : gros consommateurs mais autosuffisants. Les géants : énormes mais autosuffisants. Les pauvres : hors cible pour un produit premium.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Deux familles à viser : les hubs ultra-premium, petits mais très rentables, et les marchés développés premium, plus larges. Les deux combinent pouvoir d'achat et appétence pour un produit bio haut de gamme.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classement s'appuie sur un score : 30 % pouvoir d'achat, 25 % besoin d'importer, 20 % positionnement premium, 15 % maturité bio, 10 % douanes. Et un garde-fou pour ne pas recommander des marchés minuscules.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Voici le classement. En tête, le Luxembourg, puis Pays-Bas et Belgique — tous des hubs ultra-premium. Les développés premium comme l'Autriche, la Suède, l'Allemagne suivent de près. En or les hubs, en vert les développés.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 résumé : on cible deux familles — les hubs ultra-premium et les développés premium. En priorité : Luxembourg, Pays-Bas, Belgique, Autriche, Suède, Suisse, Danemark, Irlande, Émirats, Allemagne.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Prochaines étapes : approfondir l'étude de marché sur la short-list, vérifier la faisabilité réglementaire et logistique, puis tester un ou deux marchés pilotes.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Merci. Je suis prêt à répondre à vos questions — sur la méthode comme sur les recommandations.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Question probable : combien de composantes ? Cinq, par le critère de Kaiser — valeurs propres supérieures à 1 — soit 72 % de la variance. Le coude de l'éboulis confirme.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cercle des corrélations montre comment les indicateurs se projettent sur les axes : richesse et gouvernance sur l'axe 1, taille et dépendance sur l'axe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CAH et k-means s'accordent fortement (ARI 0,65), avec des écarts seulement sur les pays-frontières. On clusterise sur les facteurs ACP. Nombre de clusters : 5 pour la lisibilité business. Et on assume : à cette finesse, on s'appuie sur le classement, pas sur l'étiquette d'un pays isolé.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D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-1097280"/>
            <a:ext cx="4572000" cy="457200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914400"/>
            <a:ext cx="3108960" cy="3108960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4" name="Shape 2"/>
          <p:cNvSpPr/>
          <p:nvPr/>
        </p:nvSpPr>
        <p:spPr>
          <a:xfrm>
            <a:off x="9418320" y="4023360"/>
            <a:ext cx="2011680" cy="201168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554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POULE QUI CHANTE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20116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 sur l'international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640080" y="3200400"/>
            <a:ext cx="7955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Quels marchés cibler pour exporter notre poulet bio ?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640080" y="5852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D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Présentation au Comité exécutif  ·  Étude de marché &amp; recommandations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CONTEXTE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la France au monde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486400" cy="4480560"/>
          </a:xfrm>
          <a:prstGeom prst="roundRect">
            <a:avLst>
              <a:gd name="adj" fmla="val 1633"/>
            </a:avLst>
          </a:prstGeom>
          <a:solidFill>
            <a:srgbClr val="F0F4EC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783080"/>
            <a:ext cx="493776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 nous sommes
</a:t>
            </a:r>
            <a:endParaRPr lang="en-US" sz="17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Poule qui Chante élève et vend du poulet sous label </a:t>
            </a:r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Agriculture Biologique</a:t>
            </a:r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Notre activité est aujourd'hui 100 % française.
</a:t>
            </a:r>
            <a:endParaRPr lang="en-US" sz="17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mission
</a:t>
            </a:r>
            <a:endParaRPr lang="en-US" sz="17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Évaluer une expansion à l'international. Aucun pays ni continent n'est écarté a priori : le champ des possibles est mondial.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355080" y="1554480"/>
            <a:ext cx="5257800" cy="4480560"/>
          </a:xfrm>
          <a:prstGeom prst="roundRect">
            <a:avLst>
              <a:gd name="adj" fmla="val 1633"/>
            </a:avLst>
          </a:prstGeom>
          <a:solidFill>
            <a:srgbClr val="2C5F2D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537960" y="17830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D4A0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 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6720840" y="2651760"/>
            <a:ext cx="45720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Proposer une analyse des groupements de pays que l'on peut cibler pour exporter nos poulets — puis un point de méthode, mais pas trop technique.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720840" y="51206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Patrick, PDG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DÉMARCHE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D'environ 195 pays à une short-list défendable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1051560" y="1783080"/>
            <a:ext cx="10058400" cy="841248"/>
          </a:xfrm>
          <a:prstGeom prst="roundRect">
            <a:avLst>
              <a:gd name="adj" fmla="val 6522"/>
            </a:avLst>
          </a:prstGeom>
          <a:solidFill>
            <a:srgbClr val="2C5F2D"/>
          </a:solidFill>
          <a:ln/>
        </p:spPr>
      </p:sp>
      <p:sp>
        <p:nvSpPr>
          <p:cNvPr id="5" name="Text 3"/>
          <p:cNvSpPr/>
          <p:nvPr/>
        </p:nvSpPr>
        <p:spPr>
          <a:xfrm>
            <a:off x="1051560" y="1783080"/>
            <a:ext cx="100584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~195 pays dans le monde   </a:t>
            </a:r>
            <a:pPr algn="ctr" indent="0" marL="0">
              <a:buNone/>
            </a:pPr>
            <a:r>
              <a:rPr lang="en-US" sz="1250" i="1" dirty="0">
                <a:solidFill>
                  <a:srgbClr val="E5EE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champ de départ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2148840" y="2843784"/>
            <a:ext cx="7863840" cy="841248"/>
          </a:xfrm>
          <a:prstGeom prst="roundRect">
            <a:avLst>
              <a:gd name="adj" fmla="val 6522"/>
            </a:avLst>
          </a:prstGeom>
          <a:solidFill>
            <a:srgbClr val="3E7B3F"/>
          </a:solidFill>
          <a:ln/>
        </p:spPr>
      </p:sp>
      <p:sp>
        <p:nvSpPr>
          <p:cNvPr id="7" name="Text 5"/>
          <p:cNvSpPr/>
          <p:nvPr/>
        </p:nvSpPr>
        <p:spPr>
          <a:xfrm>
            <a:off x="2148840" y="2843784"/>
            <a:ext cx="78638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127 pays analysés   </a:t>
            </a:r>
            <a:pPr algn="ctr" indent="0" marL="0">
              <a:buNone/>
            </a:pPr>
            <a:r>
              <a:rPr lang="en-US" sz="1250" i="1" dirty="0">
                <a:solidFill>
                  <a:srgbClr val="E5EE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couvrant 94 % de la population mondiale, 0 donnée manquante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3429000" y="3904488"/>
            <a:ext cx="5303520" cy="841248"/>
          </a:xfrm>
          <a:prstGeom prst="roundRect">
            <a:avLst>
              <a:gd name="adj" fmla="val 6522"/>
            </a:avLst>
          </a:prstGeom>
          <a:solidFill>
            <a:srgbClr val="97BC62"/>
          </a:solidFill>
          <a:ln/>
        </p:spPr>
      </p:sp>
      <p:sp>
        <p:nvSpPr>
          <p:cNvPr id="9" name="Text 7"/>
          <p:cNvSpPr/>
          <p:nvPr/>
        </p:nvSpPr>
        <p:spPr>
          <a:xfrm>
            <a:off x="3429000" y="3904488"/>
            <a:ext cx="53035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familles de pays   </a:t>
            </a:r>
            <a:pPr algn="ctr" indent="0" marL="0">
              <a:buNone/>
            </a:pPr>
            <a:r>
              <a:rPr lang="en-US" sz="1250" i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regroupées par ressemblance (ACP + clustering)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4526280" y="4965192"/>
            <a:ext cx="3108960" cy="841248"/>
          </a:xfrm>
          <a:prstGeom prst="roundRect">
            <a:avLst>
              <a:gd name="adj" fmla="val 6522"/>
            </a:avLst>
          </a:prstGeom>
          <a:solidFill>
            <a:srgbClr val="D4A017"/>
          </a:solidFill>
          <a:ln/>
        </p:spPr>
      </p:sp>
      <p:sp>
        <p:nvSpPr>
          <p:cNvPr id="11" name="Text 9"/>
          <p:cNvSpPr/>
          <p:nvPr/>
        </p:nvSpPr>
        <p:spPr>
          <a:xfrm>
            <a:off x="4526280" y="4965192"/>
            <a:ext cx="31089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~15 cibles prioritaires   </a:t>
            </a:r>
            <a:pPr algn="ctr" indent="0" marL="0">
              <a:buNone/>
            </a:pPr>
            <a:r>
              <a:rPr lang="en-US" sz="1250" i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classées par un score métier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548640" y="61264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temps :   ①  Collecter &amp; nettoyer les données      ②  Analyser (ACP + clustering)      ③  Recommander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DONNÉES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 sources ouvertes et reconnues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F0F4EC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856232"/>
            <a:ext cx="2606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127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2624328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310128" y="169164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F0F4EC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310128" y="1856232"/>
            <a:ext cx="2606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D4A0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94 %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3401568" y="2624328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population mondiale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071616" y="169164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F0F4EC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071616" y="1856232"/>
            <a:ext cx="2606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6163056" y="2624328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indicateurs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833104" y="169164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F0F4EC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833104" y="1856232"/>
            <a:ext cx="2606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D4A0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8924544" y="2624328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de données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3611880"/>
            <a:ext cx="11064240" cy="2423160"/>
          </a:xfrm>
          <a:prstGeom prst="roundRect">
            <a:avLst>
              <a:gd name="adj" fmla="val 3019"/>
            </a:avLst>
          </a:prstGeom>
          <a:solidFill>
            <a:srgbClr val="F0F4EC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68680" y="3840480"/>
            <a:ext cx="104241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7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D'où viennent les données ?
</a:t>
            </a:r>
            <a:endParaRPr lang="en-US" sz="17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FAO</a:t>
            </a:r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(Organisation des Nations unies pour l'alimentation) — consommation, production, échanges, disponibilité alimentaire.   </a:t>
            </a:r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Banque mondiale</a:t>
            </a:r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richesse, gouvernance, logistique, urbanisation.
</a:t>
            </a:r>
            <a:endParaRPr lang="en-US" sz="17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choix des 17 indicateurs suit la grille </a:t>
            </a:r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PESTEL</a:t>
            </a:r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(Politique, Économique, Social, Technologique, Environnemental, Légal) pour couvrir tous les angles du marché.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17 INDICATEURS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dimensions du marché (PESTEL)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66160" cy="1920240"/>
          </a:xfrm>
          <a:prstGeom prst="roundRect">
            <a:avLst>
              <a:gd name="adj" fmla="val 3810"/>
            </a:avLst>
          </a:prstGeom>
          <a:solidFill>
            <a:srgbClr val="F0F4EC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993392"/>
            <a:ext cx="502920" cy="502920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9933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17320" y="1993392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Politique / Légal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804672" y="2670048"/>
            <a:ext cx="3063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Gouvernance &amp; stabilité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233672" y="1737360"/>
            <a:ext cx="3566160" cy="1920240"/>
          </a:xfrm>
          <a:prstGeom prst="roundRect">
            <a:avLst>
              <a:gd name="adj" fmla="val 3810"/>
            </a:avLst>
          </a:prstGeom>
          <a:solidFill>
            <a:srgbClr val="F0F4EC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462272" y="1993392"/>
            <a:ext cx="502920" cy="502920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11" name="Text 9"/>
          <p:cNvSpPr/>
          <p:nvPr/>
        </p:nvSpPr>
        <p:spPr>
          <a:xfrm>
            <a:off x="4462272" y="19933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102352" y="1993392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Économique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4489704" y="2670048"/>
            <a:ext cx="3063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PIB/hab, dépendance import, prix, croissance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918704" y="1737360"/>
            <a:ext cx="3566160" cy="1920240"/>
          </a:xfrm>
          <a:prstGeom prst="roundRect">
            <a:avLst>
              <a:gd name="adj" fmla="val 3810"/>
            </a:avLst>
          </a:prstGeom>
          <a:solidFill>
            <a:srgbClr val="F0F4EC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147304" y="1993392"/>
            <a:ext cx="502920" cy="502920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16" name="Text 14"/>
          <p:cNvSpPr/>
          <p:nvPr/>
        </p:nvSpPr>
        <p:spPr>
          <a:xfrm>
            <a:off x="8147304" y="19933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787384" y="1993392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Social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8174736" y="2670048"/>
            <a:ext cx="3063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Consommation volaille, population, urbanisation, précarité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3822192"/>
            <a:ext cx="3566160" cy="1920240"/>
          </a:xfrm>
          <a:prstGeom prst="roundRect">
            <a:avLst>
              <a:gd name="adj" fmla="val 3810"/>
            </a:avLst>
          </a:prstGeom>
          <a:solidFill>
            <a:srgbClr val="F0F4EC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77240" y="4078224"/>
            <a:ext cx="502920" cy="502920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407822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417320" y="4078224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Technologique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804672" y="4754880"/>
            <a:ext cx="3063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Efficacité des douanes, distance logistique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233672" y="3822192"/>
            <a:ext cx="3566160" cy="1920240"/>
          </a:xfrm>
          <a:prstGeom prst="roundRect">
            <a:avLst>
              <a:gd name="adj" fmla="val 3810"/>
            </a:avLst>
          </a:prstGeom>
          <a:solidFill>
            <a:srgbClr val="F0F4EC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462272" y="4078224"/>
            <a:ext cx="502920" cy="502920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26" name="Text 24"/>
          <p:cNvSpPr/>
          <p:nvPr/>
        </p:nvSpPr>
        <p:spPr>
          <a:xfrm>
            <a:off x="4462272" y="407822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102352" y="4078224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Environnemental</a:t>
            </a:r>
            <a:endParaRPr lang="en-US" sz="1550" dirty="0"/>
          </a:p>
        </p:txBody>
      </p:sp>
      <p:sp>
        <p:nvSpPr>
          <p:cNvPr id="28" name="Text 26"/>
          <p:cNvSpPr/>
          <p:nvPr/>
        </p:nvSpPr>
        <p:spPr>
          <a:xfrm>
            <a:off x="4489704" y="4754880"/>
            <a:ext cx="3063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Maturité de l'agriculture bio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918704" y="3822192"/>
            <a:ext cx="3566160" cy="1920240"/>
          </a:xfrm>
          <a:prstGeom prst="roundRect">
            <a:avLst>
              <a:gd name="adj" fmla="val 3810"/>
            </a:avLst>
          </a:prstGeom>
          <a:solidFill>
            <a:srgbClr val="F0F4EC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147304" y="4078224"/>
            <a:ext cx="502920" cy="502920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31" name="Text 29"/>
          <p:cNvSpPr/>
          <p:nvPr/>
        </p:nvSpPr>
        <p:spPr>
          <a:xfrm>
            <a:off x="8147304" y="407822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8787384" y="4078224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Marché volaille</a:t>
            </a:r>
            <a:endParaRPr lang="en-US" sz="1550" dirty="0"/>
          </a:p>
        </p:txBody>
      </p:sp>
      <p:sp>
        <p:nvSpPr>
          <p:cNvPr id="33" name="Text 31"/>
          <p:cNvSpPr/>
          <p:nvPr/>
        </p:nvSpPr>
        <p:spPr>
          <a:xfrm>
            <a:off x="8174736" y="4754880"/>
            <a:ext cx="3063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Taille &amp; valeur des importations de volaille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ANALYTIQUE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Résumer 17 indicateurs en quelques facteurs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48640" y="15727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L'analyse en composantes principales (ACP) combine nos 17 indicateurs — souvent liés entre eux — en un petit nombre de « grands facteurs » indépendants. Trois d'entre eux racontent l'essentiel :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548640" y="2651760"/>
            <a:ext cx="3566160" cy="3200400"/>
          </a:xfrm>
          <a:prstGeom prst="roundRect">
            <a:avLst>
              <a:gd name="adj" fmla="val 2286"/>
            </a:avLst>
          </a:prstGeom>
          <a:solidFill>
            <a:srgbClr val="F0F4EC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2651760"/>
            <a:ext cx="3566160" cy="822960"/>
          </a:xfrm>
          <a:prstGeom prst="roundRect">
            <a:avLst>
              <a:gd name="adj" fmla="val 6667"/>
            </a:avLst>
          </a:prstGeom>
          <a:solidFill>
            <a:srgbClr val="2C5F2D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65176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5EE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Facteur 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365760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Richesse &amp; développement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4526280"/>
            <a:ext cx="30175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PIB, gouvernance, logistique, urbanisation. Sépare pays riches et pays pauvres.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233672" y="2651760"/>
            <a:ext cx="3566160" cy="3200400"/>
          </a:xfrm>
          <a:prstGeom prst="roundRect">
            <a:avLst>
              <a:gd name="adj" fmla="val 2286"/>
            </a:avLst>
          </a:prstGeom>
          <a:solidFill>
            <a:srgbClr val="F0F4EC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233672" y="2651760"/>
            <a:ext cx="3566160" cy="822960"/>
          </a:xfrm>
          <a:prstGeom prst="roundRect">
            <a:avLst>
              <a:gd name="adj" fmla="val 6667"/>
            </a:avLst>
          </a:prstGeom>
          <a:solidFill>
            <a:srgbClr val="D4A017"/>
          </a:solidFill>
          <a:ln/>
        </p:spPr>
      </p:sp>
      <p:sp>
        <p:nvSpPr>
          <p:cNvPr id="12" name="Text 10"/>
          <p:cNvSpPr/>
          <p:nvPr/>
        </p:nvSpPr>
        <p:spPr>
          <a:xfrm>
            <a:off x="4507992" y="265176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Facteur 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07992" y="365760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Taille &amp; dépendance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507992" y="4526280"/>
            <a:ext cx="30175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Grands marchés autonomes vs petits marchés très dépendants des importations.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7918704" y="2651760"/>
            <a:ext cx="3566160" cy="3200400"/>
          </a:xfrm>
          <a:prstGeom prst="roundRect">
            <a:avLst>
              <a:gd name="adj" fmla="val 2286"/>
            </a:avLst>
          </a:prstGeom>
          <a:solidFill>
            <a:srgbClr val="F0F4EC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918704" y="2651760"/>
            <a:ext cx="3566160" cy="822960"/>
          </a:xfrm>
          <a:prstGeom prst="roundRect">
            <a:avLst>
              <a:gd name="adj" fmla="val 6667"/>
            </a:avLst>
          </a:prstGeom>
          <a:solidFill>
            <a:srgbClr val="97BC62"/>
          </a:solidFill>
          <a:ln/>
        </p:spPr>
      </p:sp>
      <p:sp>
        <p:nvSpPr>
          <p:cNvPr id="17" name="Text 15"/>
          <p:cNvSpPr/>
          <p:nvPr/>
        </p:nvSpPr>
        <p:spPr>
          <a:xfrm>
            <a:off x="8193024" y="265176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Facteur 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193024" y="365760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Culture volaille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193024" y="4526280"/>
            <a:ext cx="30175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de la volaille dans l'alimentation et niveau de consommation.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ANALYTIQUE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Regrouper les pays qui se ressemblent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486400" cy="4297680"/>
          </a:xfrm>
          <a:prstGeom prst="roundRect">
            <a:avLst>
              <a:gd name="adj" fmla="val 1702"/>
            </a:avLst>
          </a:prstGeom>
          <a:solidFill>
            <a:srgbClr val="F0F4EC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965960"/>
            <a:ext cx="493776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principe
</a:t>
            </a:r>
            <a:endParaRPr lang="en-US" sz="17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partir de ces facteurs, on rapproche automatiquement les pays au profil semblable et on éloigne ceux qui diffèrent.
</a:t>
            </a:r>
            <a:endParaRPr lang="en-US" sz="17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Deux méthodes, un même résultat
</a:t>
            </a:r>
            <a:endParaRPr lang="en-US" sz="17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utilise deux techniques complémentaires (classification hiérarchique puis k-means) qui se confirment mutuellement.
</a:t>
            </a:r>
            <a:endParaRPr lang="en-US" sz="17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résultat : </a:t>
            </a:r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familles de pays.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355080" y="1783080"/>
            <a:ext cx="5257800" cy="713232"/>
          </a:xfrm>
          <a:prstGeom prst="roundRect">
            <a:avLst>
              <a:gd name="adj" fmla="val 6410"/>
            </a:avLst>
          </a:prstGeom>
          <a:solidFill>
            <a:srgbClr val="F0F4EC"/>
          </a:solidFill>
          <a:ln/>
        </p:spPr>
      </p:sp>
      <p:sp>
        <p:nvSpPr>
          <p:cNvPr id="7" name="Shape 5"/>
          <p:cNvSpPr/>
          <p:nvPr/>
        </p:nvSpPr>
        <p:spPr>
          <a:xfrm>
            <a:off x="6583680" y="1956816"/>
            <a:ext cx="365760" cy="36576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8" name="Text 6"/>
          <p:cNvSpPr/>
          <p:nvPr/>
        </p:nvSpPr>
        <p:spPr>
          <a:xfrm>
            <a:off x="7132320" y="1783080"/>
            <a:ext cx="42976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Développés premium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6355080" y="2642616"/>
            <a:ext cx="5257800" cy="713232"/>
          </a:xfrm>
          <a:prstGeom prst="roundRect">
            <a:avLst>
              <a:gd name="adj" fmla="val 6410"/>
            </a:avLst>
          </a:prstGeom>
          <a:solidFill>
            <a:srgbClr val="F0F4EC"/>
          </a:solidFill>
          <a:ln/>
        </p:spPr>
      </p:sp>
      <p:sp>
        <p:nvSpPr>
          <p:cNvPr id="10" name="Shape 8"/>
          <p:cNvSpPr/>
          <p:nvPr/>
        </p:nvSpPr>
        <p:spPr>
          <a:xfrm>
            <a:off x="6583680" y="2816352"/>
            <a:ext cx="365760" cy="365760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11" name="Text 9"/>
          <p:cNvSpPr/>
          <p:nvPr/>
        </p:nvSpPr>
        <p:spPr>
          <a:xfrm>
            <a:off x="7132320" y="2642616"/>
            <a:ext cx="42976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Hubs ultra-premium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6355080" y="3502152"/>
            <a:ext cx="5257800" cy="713232"/>
          </a:xfrm>
          <a:prstGeom prst="roundRect">
            <a:avLst>
              <a:gd name="adj" fmla="val 6410"/>
            </a:avLst>
          </a:prstGeom>
          <a:solidFill>
            <a:srgbClr val="F0F4EC"/>
          </a:solidFill>
          <a:ln/>
        </p:spPr>
      </p:sp>
      <p:sp>
        <p:nvSpPr>
          <p:cNvPr id="13" name="Shape 11"/>
          <p:cNvSpPr/>
          <p:nvPr/>
        </p:nvSpPr>
        <p:spPr>
          <a:xfrm>
            <a:off x="6583680" y="3675888"/>
            <a:ext cx="365760" cy="36576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4" name="Text 12"/>
          <p:cNvSpPr/>
          <p:nvPr/>
        </p:nvSpPr>
        <p:spPr>
          <a:xfrm>
            <a:off x="7132320" y="3502152"/>
            <a:ext cx="42976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Intermédiaires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6355080" y="4361688"/>
            <a:ext cx="5257800" cy="713232"/>
          </a:xfrm>
          <a:prstGeom prst="roundRect">
            <a:avLst>
              <a:gd name="adj" fmla="val 6410"/>
            </a:avLst>
          </a:prstGeom>
          <a:solidFill>
            <a:srgbClr val="F0F4EC"/>
          </a:solidFill>
          <a:ln/>
        </p:spPr>
      </p:sp>
      <p:sp>
        <p:nvSpPr>
          <p:cNvPr id="16" name="Shape 14"/>
          <p:cNvSpPr/>
          <p:nvPr/>
        </p:nvSpPr>
        <p:spPr>
          <a:xfrm>
            <a:off x="6583680" y="4535424"/>
            <a:ext cx="365760" cy="365760"/>
          </a:xfrm>
          <a:prstGeom prst="ellipse">
            <a:avLst/>
          </a:prstGeom>
          <a:solidFill>
            <a:srgbClr val="50808E"/>
          </a:solidFill>
          <a:ln/>
        </p:spPr>
      </p:sp>
      <p:sp>
        <p:nvSpPr>
          <p:cNvPr id="17" name="Text 15"/>
          <p:cNvSpPr/>
          <p:nvPr/>
        </p:nvSpPr>
        <p:spPr>
          <a:xfrm>
            <a:off x="7132320" y="4361688"/>
            <a:ext cx="42976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Géants</a:t>
            </a:r>
            <a:endParaRPr lang="en-US" sz="1550" dirty="0"/>
          </a:p>
        </p:txBody>
      </p:sp>
      <p:sp>
        <p:nvSpPr>
          <p:cNvPr id="18" name="Shape 16"/>
          <p:cNvSpPr/>
          <p:nvPr/>
        </p:nvSpPr>
        <p:spPr>
          <a:xfrm>
            <a:off x="6355080" y="5221224"/>
            <a:ext cx="5257800" cy="713232"/>
          </a:xfrm>
          <a:prstGeom prst="roundRect">
            <a:avLst>
              <a:gd name="adj" fmla="val 6410"/>
            </a:avLst>
          </a:prstGeom>
          <a:solidFill>
            <a:srgbClr val="F0F4EC"/>
          </a:solidFill>
          <a:ln/>
        </p:spPr>
      </p:sp>
      <p:sp>
        <p:nvSpPr>
          <p:cNvPr id="19" name="Shape 17"/>
          <p:cNvSpPr/>
          <p:nvPr/>
        </p:nvSpPr>
        <p:spPr>
          <a:xfrm>
            <a:off x="6583680" y="5394960"/>
            <a:ext cx="365760" cy="365760"/>
          </a:xfrm>
          <a:prstGeom prst="ellipse">
            <a:avLst/>
          </a:prstGeom>
          <a:solidFill>
            <a:srgbClr val="B0B0B0"/>
          </a:solidFill>
          <a:ln/>
        </p:spPr>
      </p:sp>
      <p:sp>
        <p:nvSpPr>
          <p:cNvPr id="20" name="Text 18"/>
          <p:cNvSpPr/>
          <p:nvPr/>
        </p:nvSpPr>
        <p:spPr>
          <a:xfrm>
            <a:off x="7132320" y="5221224"/>
            <a:ext cx="42976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Pauvres (hors cible)</a:t>
            </a:r>
            <a:endParaRPr lang="en-US" sz="15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carte des 5 familles de pays</a:t>
            </a:r>
            <a:endParaRPr lang="en-US" sz="3100" dirty="0"/>
          </a:p>
        </p:txBody>
      </p:sp>
      <p:pic>
        <p:nvPicPr>
          <p:cNvPr id="4" name="Image 0" descr="/tmp/figs/projec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508760"/>
            <a:ext cx="7498080" cy="51206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366760" y="1600200"/>
            <a:ext cx="3246120" cy="4892040"/>
          </a:xfrm>
          <a:prstGeom prst="roundRect">
            <a:avLst>
              <a:gd name="adj" fmla="val 2254"/>
            </a:avLst>
          </a:prstGeom>
          <a:solidFill>
            <a:srgbClr val="2C5F2D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595360" y="182880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0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Comment lire ?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595360" y="2377440"/>
            <a:ext cx="283464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à droite</a:t>
            </a:r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5EE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pays riches &amp; développés
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en bas</a:t>
            </a:r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5EE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les 3 géants (Chine, Inde, USA)
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5EE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en </a:t>
            </a:r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</a:t>
            </a:r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5EE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les hubs ultra-premium, petits mais à très forte valeur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profil des 5 familles</a:t>
            </a:r>
            <a:endParaRPr lang="en-US" sz="3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6424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731520"/>
                <a:gridCol w="1371600"/>
                <a:gridCol w="1554480"/>
                <a:gridCol w="1828800"/>
                <a:gridCol w="329184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Famille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PIB/hab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Conso volaille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Dépendance import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Exemples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Hubs ultra-premium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75 700 $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élevée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D4A0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très forte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Belgique, Pays-Bas, Luxembourg, Irlande, UAE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Développés premium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47 800 $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élevée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modérée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Autriche, Suisse, Suède, Allemagne, Norvège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Intermédiaires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18 100 $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très élevée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faible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gros consommateurs, plutôt autosuffisants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Géants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48 200 $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élevée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quasi nulle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Chine, Inde, États-Unis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6E6E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Pauvres (hors cible)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7 000 $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faible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pouvoir d'achat insuffisant pour un premium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RECOMMANDATION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Deux familles à cibler en priorité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440680" cy="4343400"/>
          </a:xfrm>
          <a:prstGeom prst="roundRect">
            <a:avLst>
              <a:gd name="adj" fmla="val 1684"/>
            </a:avLst>
          </a:prstGeom>
          <a:solidFill>
            <a:srgbClr val="2C5F2D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96596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D4A0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Hubs ultra-premium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822960" y="25146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5EE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pays · petits mais à très forte valeur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3017520"/>
            <a:ext cx="493776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Très riches et fortement importateurs (souvent plateformes de réexport). Pouvoir d'achat maximal, marché premium déjà installé.
</a:t>
            </a:r>
            <a:endParaRPr lang="en-US" sz="14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5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Belgique · Pays-Bas · Luxembourg · Irlande · Émirats arabes unis · Malte · Danemark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172200" y="1737360"/>
            <a:ext cx="5440680" cy="4343400"/>
          </a:xfrm>
          <a:prstGeom prst="roundRect">
            <a:avLst>
              <a:gd name="adj" fmla="val 1684"/>
            </a:avLst>
          </a:prstGeom>
          <a:solidFill>
            <a:srgbClr val="F0F4EC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46520" y="196596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Développés premium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6446520" y="25146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pays · le cœur de cible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46520" y="3017520"/>
            <a:ext cx="493776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Riches, stables, bien gouvernés, matures sur le bio. Volume et pouvoir d'achat au rendez-vous.
</a:t>
            </a:r>
            <a:endParaRPr lang="en-US" sz="14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Autriche · Suède · Suisse · Allemagne · Norvège · Finlande · Estonie · Italie…</a:t>
            </a:r>
            <a:endParaRPr lang="en-US" sz="14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RECOMMANDATION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Classer les cibles : un score sur mesure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48640" y="15727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trier les pays d'un même groupe, on note chacun selon cinq critères pondérés d'après nos priorités de producteur bio premium :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548640" y="251460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Pouvoir d'achat (PIB/hab)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4846320" y="2578608"/>
            <a:ext cx="5669280" cy="329184"/>
          </a:xfrm>
          <a:prstGeom prst="roundRect">
            <a:avLst>
              <a:gd name="adj" fmla="val 11111"/>
            </a:avLst>
          </a:prstGeom>
          <a:solidFill>
            <a:srgbClr val="D4A017"/>
          </a:solidFill>
          <a:ln/>
        </p:spPr>
      </p:sp>
      <p:sp>
        <p:nvSpPr>
          <p:cNvPr id="7" name="Text 5"/>
          <p:cNvSpPr/>
          <p:nvPr/>
        </p:nvSpPr>
        <p:spPr>
          <a:xfrm>
            <a:off x="10652760" y="25146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30 %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3081528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Besoin d'importer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4846320" y="3145536"/>
            <a:ext cx="4724400" cy="329184"/>
          </a:xfrm>
          <a:prstGeom prst="roundRect">
            <a:avLst>
              <a:gd name="adj" fmla="val 11111"/>
            </a:avLst>
          </a:prstGeom>
          <a:solidFill>
            <a:srgbClr val="D4A017"/>
          </a:solidFill>
          <a:ln/>
        </p:spPr>
      </p:sp>
      <p:sp>
        <p:nvSpPr>
          <p:cNvPr id="10" name="Text 8"/>
          <p:cNvSpPr/>
          <p:nvPr/>
        </p:nvSpPr>
        <p:spPr>
          <a:xfrm>
            <a:off x="9707880" y="3081528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25 %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3648456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Marché déjà premium (prix)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4846320" y="3712464"/>
            <a:ext cx="3779520" cy="329184"/>
          </a:xfrm>
          <a:prstGeom prst="roundRect">
            <a:avLst>
              <a:gd name="adj" fmla="val 11111"/>
            </a:avLst>
          </a:prstGeom>
          <a:solidFill>
            <a:srgbClr val="2C5F2D"/>
          </a:solidFill>
          <a:ln/>
        </p:spPr>
      </p:sp>
      <p:sp>
        <p:nvSpPr>
          <p:cNvPr id="13" name="Text 11"/>
          <p:cNvSpPr/>
          <p:nvPr/>
        </p:nvSpPr>
        <p:spPr>
          <a:xfrm>
            <a:off x="8763000" y="3648456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20 %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48640" y="4215384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Maturité du bio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4846320" y="4279392"/>
            <a:ext cx="2834640" cy="329184"/>
          </a:xfrm>
          <a:prstGeom prst="roundRect">
            <a:avLst>
              <a:gd name="adj" fmla="val 11111"/>
            </a:avLst>
          </a:prstGeom>
          <a:solidFill>
            <a:srgbClr val="2C5F2D"/>
          </a:solidFill>
          <a:ln/>
        </p:spPr>
      </p:sp>
      <p:sp>
        <p:nvSpPr>
          <p:cNvPr id="16" name="Text 14"/>
          <p:cNvSpPr/>
          <p:nvPr/>
        </p:nvSpPr>
        <p:spPr>
          <a:xfrm>
            <a:off x="7818120" y="4215384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15 %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48640" y="478231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Efficacité des douanes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4846320" y="4846320"/>
            <a:ext cx="1889760" cy="329184"/>
          </a:xfrm>
          <a:prstGeom prst="roundRect">
            <a:avLst>
              <a:gd name="adj" fmla="val 11111"/>
            </a:avLst>
          </a:prstGeom>
          <a:solidFill>
            <a:srgbClr val="2C5F2D"/>
          </a:solidFill>
          <a:ln/>
        </p:spPr>
      </p:sp>
      <p:sp>
        <p:nvSpPr>
          <p:cNvPr id="19" name="Text 17"/>
          <p:cNvSpPr/>
          <p:nvPr/>
        </p:nvSpPr>
        <p:spPr>
          <a:xfrm>
            <a:off x="6873240" y="4782312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10 %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548640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0F4EC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68680" y="5650992"/>
            <a:ext cx="10424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Garde-fou : </a:t>
            </a:r>
            <a:pPr indent="0" marL="0">
              <a:buNone/>
            </a:pP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plancher de « matérialité marché » (≥ 10 Md$ de marché total) écarte les micro-marchés — un pays 100 % dépendant mais minuscule n'est pas une vraie opportunité.</a:t>
            </a:r>
            <a:endParaRPr lang="en-US" sz="14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RECOMMANDATION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palmarès des pays cibles</a:t>
            </a:r>
            <a:endParaRPr lang="en-US" sz="31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600200"/>
          <a:ext cx="7955280" cy="4937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869680" y="2194560"/>
            <a:ext cx="2743200" cy="2011680"/>
          </a:xfrm>
          <a:prstGeom prst="roundRect">
            <a:avLst>
              <a:gd name="adj" fmla="val 3636"/>
            </a:avLst>
          </a:prstGeom>
          <a:solidFill>
            <a:srgbClr val="F0F4EC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9098280" y="23774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Familles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9098280" y="2926080"/>
            <a:ext cx="320040" cy="320040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8" name="Text 5"/>
          <p:cNvSpPr/>
          <p:nvPr/>
        </p:nvSpPr>
        <p:spPr>
          <a:xfrm>
            <a:off x="9509760" y="2862072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Hubs ultra-premium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9098280" y="3429000"/>
            <a:ext cx="320040" cy="32004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0" name="Text 7"/>
          <p:cNvSpPr/>
          <p:nvPr/>
        </p:nvSpPr>
        <p:spPr>
          <a:xfrm>
            <a:off x="9509760" y="3364992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Développés premium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9006840" y="4572000"/>
            <a:ext cx="26060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São Tomé et 7 micro-marchés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sont écartés par le plancher.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3D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389120"/>
            <a:ext cx="4114800" cy="411480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3" name="Shape 1"/>
          <p:cNvSpPr/>
          <p:nvPr/>
        </p:nvSpPr>
        <p:spPr>
          <a:xfrm>
            <a:off x="10515600" y="-1371600"/>
            <a:ext cx="3657600" cy="3657600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822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SYNTHÈSE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Cibler les hubs ultra-premium et les marchés développés premium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31520" y="301752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Ces pays combinent pouvoir d'achat élevé, besoin d'importer de la volaille, marché déjà premium et appétence pour le bio.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731520" y="4023360"/>
            <a:ext cx="10698480" cy="1920240"/>
          </a:xfrm>
          <a:prstGeom prst="roundRect">
            <a:avLst>
              <a:gd name="adj" fmla="val 3810"/>
            </a:avLst>
          </a:prstGeom>
          <a:solidFill>
            <a:srgbClr val="2C5F2D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05840" y="420624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0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Priorité 1 — les cibles de tête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05840" y="4709160"/>
            <a:ext cx="101498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Luxembourg · Pays-Bas · Belgique · Autriche · Suède · Suisse · Danemark · Irlande · Émirats arabes unis · Allemagne</a:t>
            </a:r>
            <a:endParaRPr lang="en-US" sz="1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ENSUITE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Prochaines étapes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1280160"/>
          </a:xfrm>
          <a:prstGeom prst="roundRect">
            <a:avLst>
              <a:gd name="adj" fmla="val 5714"/>
            </a:avLst>
          </a:prstGeom>
          <a:solidFill>
            <a:srgbClr val="F0F4EC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103120"/>
            <a:ext cx="640080" cy="640080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1031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691640" y="1984248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Approfondir la short-list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691640" y="2441448"/>
            <a:ext cx="9692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Étude de marché détaillée sur les 10-15 cibles : concurrence, prix de vente, distribution.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48640" y="3246120"/>
            <a:ext cx="11064240" cy="1280160"/>
          </a:xfrm>
          <a:prstGeom prst="roundRect">
            <a:avLst>
              <a:gd name="adj" fmla="val 5714"/>
            </a:avLst>
          </a:prstGeom>
          <a:solidFill>
            <a:srgbClr val="F0F4EC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3566160"/>
            <a:ext cx="640080" cy="640080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5661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691640" y="3447288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Vérifier la faisabilité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691640" y="3904488"/>
            <a:ext cx="9692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Contraintes réglementaires (export bio, sanitaire), logistique du frais, accords douaniers.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548640" y="4709160"/>
            <a:ext cx="11064240" cy="1280160"/>
          </a:xfrm>
          <a:prstGeom prst="roundRect">
            <a:avLst>
              <a:gd name="adj" fmla="val 5714"/>
            </a:avLst>
          </a:prstGeom>
          <a:solidFill>
            <a:srgbClr val="F0F4EC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" y="5029200"/>
            <a:ext cx="640080" cy="640080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50292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691640" y="4910328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Tester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691640" y="5367528"/>
            <a:ext cx="9692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ou deux marchés pilotes parmi les hubs ultra-premium pour valider avant un déploiement plus large.</a:t>
            </a:r>
            <a:endParaRPr lang="en-US" sz="14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3D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280160"/>
            <a:ext cx="5029200" cy="502920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3" name="Shape 1"/>
          <p:cNvSpPr/>
          <p:nvPr/>
        </p:nvSpPr>
        <p:spPr>
          <a:xfrm>
            <a:off x="10515600" y="2011680"/>
            <a:ext cx="2743200" cy="2743200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46888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Merci de votre attention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822960" y="3566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ANNEXE · MÉTHODE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Combien de facteurs retenir ?</a:t>
            </a:r>
            <a:endParaRPr lang="en-US" sz="3100" dirty="0"/>
          </a:p>
        </p:txBody>
      </p:sp>
      <p:pic>
        <p:nvPicPr>
          <p:cNvPr id="4" name="Image 0" descr="/tmp/figs/scre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645920"/>
            <a:ext cx="6766560" cy="42062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635240" y="1737360"/>
            <a:ext cx="3977640" cy="4206240"/>
          </a:xfrm>
          <a:prstGeom prst="roundRect">
            <a:avLst>
              <a:gd name="adj" fmla="val 1839"/>
            </a:avLst>
          </a:prstGeom>
          <a:solidFill>
            <a:srgbClr val="F0F4EC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863840" y="196596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 retient 5 facteurs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7863840" y="2514600"/>
            <a:ext cx="35661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Critère de Kaiser</a:t>
            </a:r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5 facteurs ont une valeur propre &gt; 1 (chacun apporte plus qu'un indicateur seul).
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Coude de la courbe</a:t>
            </a:r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la pente se casse à la 5ᵉ.
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Ces 5 facteurs conservent </a:t>
            </a:r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72 % de l'information</a:t>
            </a:r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d'origine.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ANNEXE · MÉTHODE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Cercle des corrélations</a:t>
            </a:r>
            <a:endParaRPr lang="en-US" sz="3100" dirty="0"/>
          </a:p>
        </p:txBody>
      </p:sp>
      <p:pic>
        <p:nvPicPr>
          <p:cNvPr id="4" name="Image 0" descr="/tmp/figs/cerc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600200"/>
            <a:ext cx="5120640" cy="5029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217920" y="1737360"/>
            <a:ext cx="5394960" cy="4846320"/>
          </a:xfrm>
          <a:prstGeom prst="roundRect">
            <a:avLst>
              <a:gd name="adj" fmla="val 1509"/>
            </a:avLst>
          </a:prstGeom>
          <a:solidFill>
            <a:srgbClr val="F0F4EC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492240" y="19659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Lecture des deux premiers axes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492240" y="2514600"/>
            <a:ext cx="484632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Axe 1 — richesse &amp; développement</a:t>
            </a:r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PIB/hab, gouvernance, douanes, urbanisation à droite ; précarité alimentaire à gauche.
</a:t>
            </a:r>
            <a:endParaRPr lang="en-US" sz="14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Axe 2 — taille &amp; dépendance</a:t>
            </a:r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Oppose grands marchés autonomes et petits marchés dépendants des imports.
</a:t>
            </a:r>
            <a:endParaRPr lang="en-US" sz="14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flèches proches = indicateurs corrélés ; opposées = anti-corrélés.</a:t>
            </a:r>
            <a:endParaRPr lang="en-US" sz="14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ANNEXE · MÉTHODE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Deux méthodes de clustering &amp; robustesse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440680" cy="4343400"/>
          </a:xfrm>
          <a:prstGeom prst="roundRect">
            <a:avLst>
              <a:gd name="adj" fmla="val 1684"/>
            </a:avLst>
          </a:prstGeom>
          <a:solidFill>
            <a:srgbClr val="F0F4EC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96596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CAH puis k-means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2514600"/>
            <a:ext cx="493776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applique d'abord une classification hiérarchique (qui suggère le nombre de groupes), puis k-means.
</a:t>
            </a:r>
            <a:endParaRPr lang="en-US" sz="14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Accord entre les deux : ARI = 0,65</a:t>
            </a:r>
            <a:pPr indent="0" marL="0">
              <a:spcAft>
                <a:spcPts val="200"/>
              </a:spcAft>
              <a:buNone/>
            </a:pP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même cœur de clusters, écarts sur les pays-frontières.
</a:t>
            </a:r>
            <a:endParaRPr lang="en-US" sz="14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 fait sur les facteurs ACP</a:t>
            </a:r>
            <a:pPr indent="0" marL="0">
              <a:spcAft>
                <a:spcPts val="200"/>
              </a:spcAft>
              <a:buNone/>
            </a:pP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(décorrélés, débruités), pas sur les données brutes.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172200" y="1737360"/>
            <a:ext cx="5440680" cy="4343400"/>
          </a:xfrm>
          <a:prstGeom prst="roundRect">
            <a:avLst>
              <a:gd name="adj" fmla="val 1684"/>
            </a:avLst>
          </a:prstGeom>
          <a:solidFill>
            <a:srgbClr val="2C5F2D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46520" y="196596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4A0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qu'on assume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446520" y="2514600"/>
            <a:ext cx="493776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 de clusters : 5</a:t>
            </a:r>
            <a:pPr indent="0" marL="0">
              <a:spcAft>
                <a:spcPts val="200"/>
              </a:spcAft>
              <a:buNone/>
            </a:pPr>
            <a:r>
              <a:rPr lang="en-US" sz="1450" dirty="0">
                <a:solidFill>
                  <a:srgbClr val="E5EE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la statistique seule favoriserait 2 groupes (riches/pauvres), trop grossier ; 5 est actionnable.
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 honnête</a:t>
            </a:r>
            <a:pPr indent="0" marL="0">
              <a:spcAft>
                <a:spcPts val="200"/>
              </a:spcAft>
              <a:buNone/>
            </a:pPr>
            <a:r>
              <a:rPr lang="en-US" sz="1450" dirty="0">
                <a:solidFill>
                  <a:srgbClr val="E5EE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à ce niveau de séparation, l'appartenance d'un pays isolé à un cluster n'est pas garantie. La recommandation s'appuie donc sur le </a:t>
            </a:r>
            <a:pPr indent="0" marL="0">
              <a:spcAft>
                <a:spcPts val="200"/>
              </a:spcAft>
              <a:buNone/>
            </a:pPr>
            <a:r>
              <a:rPr lang="en-US" sz="145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classement composite</a:t>
            </a:r>
            <a:pPr indent="0" marL="0">
              <a:spcAft>
                <a:spcPts val="200"/>
              </a:spcAft>
              <a:buNone/>
            </a:pPr>
            <a:r>
              <a:rPr lang="en-US" sz="1450" dirty="0">
                <a:solidFill>
                  <a:srgbClr val="E5EE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et les profils, plus robustes.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La Poule qui Chante</dc:creator>
  <cp:lastModifiedBy>La Poule qui Chante</cp:lastModifiedBy>
  <cp:revision>1</cp:revision>
  <dcterms:created xsi:type="dcterms:W3CDTF">2026-07-17T14:22:42Z</dcterms:created>
  <dcterms:modified xsi:type="dcterms:W3CDTF">2026-07-17T14:22:42Z</dcterms:modified>
</cp:coreProperties>
</file>