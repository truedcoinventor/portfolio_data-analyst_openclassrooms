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/>
              <a:t>Corentin DERVOUT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/>
              <a:t>Étude sur l’alimentation dans le monde</a:t>
            </a: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1CC6BB8-EAF7-0701-A2AB-CBDB6BA06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608" y="4278943"/>
            <a:ext cx="6847001" cy="231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F4848-708D-C255-ECA2-CC15A00AB1D9}"/>
              </a:ext>
            </a:extLst>
          </p:cNvPr>
          <p:cNvSpPr txBox="1"/>
          <p:nvPr/>
        </p:nvSpPr>
        <p:spPr>
          <a:xfrm>
            <a:off x="717550" y="2349500"/>
            <a:ext cx="71310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 </a:t>
            </a:r>
            <a:r>
              <a:rPr lang="en-US" dirty="0" err="1">
                <a:solidFill>
                  <a:schemeClr val="bg1"/>
                </a:solidFill>
              </a:rPr>
              <a:t>faim</a:t>
            </a:r>
            <a:r>
              <a:rPr lang="en-US" dirty="0">
                <a:solidFill>
                  <a:schemeClr val="bg1"/>
                </a:solidFill>
              </a:rPr>
              <a:t> est un </a:t>
            </a:r>
            <a:r>
              <a:rPr lang="en-US" dirty="0" err="1">
                <a:solidFill>
                  <a:schemeClr val="bg1"/>
                </a:solidFill>
              </a:rPr>
              <a:t>enjeu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mondial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majeur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En se </a:t>
            </a:r>
            <a:r>
              <a:rPr lang="en-US" dirty="0" err="1">
                <a:solidFill>
                  <a:schemeClr val="bg1"/>
                </a:solidFill>
              </a:rPr>
              <a:t>basant</a:t>
            </a:r>
            <a:r>
              <a:rPr lang="en-US" dirty="0">
                <a:solidFill>
                  <a:schemeClr val="bg1"/>
                </a:solidFill>
              </a:rPr>
              <a:t> sur les données FAO sur </a:t>
            </a:r>
            <a:r>
              <a:rPr lang="en-US" dirty="0" err="1">
                <a:solidFill>
                  <a:schemeClr val="bg1"/>
                </a:solidFill>
              </a:rPr>
              <a:t>l’aide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alimentaire</a:t>
            </a:r>
            <a:r>
              <a:rPr lang="en-US" dirty="0">
                <a:solidFill>
                  <a:schemeClr val="bg1"/>
                </a:solidFill>
              </a:rPr>
              <a:t>, la </a:t>
            </a:r>
            <a:r>
              <a:rPr lang="en-US" dirty="0" err="1">
                <a:solidFill>
                  <a:schemeClr val="bg1"/>
                </a:solidFill>
              </a:rPr>
              <a:t>disponiblité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alimentaire</a:t>
            </a:r>
            <a:r>
              <a:rPr lang="en-US" dirty="0">
                <a:solidFill>
                  <a:schemeClr val="bg1"/>
                </a:solidFill>
              </a:rPr>
              <a:t>, la population et les données de sous-nutrition, les </a:t>
            </a:r>
            <a:r>
              <a:rPr lang="en-US" dirty="0" err="1">
                <a:solidFill>
                  <a:schemeClr val="bg1"/>
                </a:solidFill>
              </a:rPr>
              <a:t>objectifs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étaient</a:t>
            </a:r>
            <a:r>
              <a:rPr lang="en-US" dirty="0">
                <a:solidFill>
                  <a:schemeClr val="bg1"/>
                </a:solidFill>
              </a:rPr>
              <a:t> de: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Analyser</a:t>
            </a:r>
            <a:r>
              <a:rPr lang="en-US" dirty="0">
                <a:solidFill>
                  <a:schemeClr val="bg1"/>
                </a:solidFill>
              </a:rPr>
              <a:t> la </a:t>
            </a:r>
            <a:r>
              <a:rPr lang="en-US" dirty="0" err="1">
                <a:solidFill>
                  <a:schemeClr val="bg1"/>
                </a:solidFill>
              </a:rPr>
              <a:t>disponibilité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alimentaire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mondiale</a:t>
            </a:r>
            <a:r>
              <a:rPr lang="en-US" dirty="0">
                <a:solidFill>
                  <a:schemeClr val="bg1"/>
                </a:solidFill>
              </a:rPr>
              <a:t> et </a:t>
            </a:r>
            <a:r>
              <a:rPr lang="en-US" dirty="0" err="1">
                <a:solidFill>
                  <a:schemeClr val="bg1"/>
                </a:solidFill>
              </a:rPr>
              <a:t>sa</a:t>
            </a:r>
            <a:r>
              <a:rPr lang="en-US" dirty="0">
                <a:solidFill>
                  <a:schemeClr val="bg1"/>
                </a:solidFill>
              </a:rPr>
              <a:t> repartition</a:t>
            </a:r>
          </a:p>
          <a:p>
            <a:r>
              <a:rPr lang="en-US" dirty="0">
                <a:solidFill>
                  <a:schemeClr val="bg1"/>
                </a:solidFill>
              </a:rPr>
              <a:t>- Identifier les </a:t>
            </a:r>
            <a:r>
              <a:rPr lang="en-US" dirty="0" err="1">
                <a:solidFill>
                  <a:schemeClr val="bg1"/>
                </a:solidFill>
              </a:rPr>
              <a:t>déséquilibres</a:t>
            </a:r>
            <a:r>
              <a:rPr lang="en-US" dirty="0">
                <a:solidFill>
                  <a:schemeClr val="bg1"/>
                </a:solidFill>
              </a:rPr>
              <a:t> entre production, consummation et sous-nutrition</a:t>
            </a:r>
          </a:p>
          <a:p>
            <a:r>
              <a:rPr lang="en-US" dirty="0">
                <a:solidFill>
                  <a:schemeClr val="bg1"/>
                </a:solidFill>
              </a:rPr>
              <a:t>- Mettre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evidence les </a:t>
            </a:r>
            <a:r>
              <a:rPr lang="en-US" dirty="0" err="1">
                <a:solidFill>
                  <a:schemeClr val="bg1"/>
                </a:solidFill>
              </a:rPr>
              <a:t>limites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structurelle</a:t>
            </a:r>
            <a:r>
              <a:rPr lang="en-US" dirty="0">
                <a:solidFill>
                  <a:schemeClr val="bg1"/>
                </a:solidFill>
              </a:rPr>
              <a:t> du </a:t>
            </a:r>
            <a:r>
              <a:rPr lang="en-US" dirty="0" err="1">
                <a:solidFill>
                  <a:schemeClr val="bg1"/>
                </a:solidFill>
              </a:rPr>
              <a:t>système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alimentaire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mondial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A243F6-C12A-048D-36DF-BF970FAA1611}"/>
              </a:ext>
            </a:extLst>
          </p:cNvPr>
          <p:cNvSpPr txBox="1"/>
          <p:nvPr/>
        </p:nvSpPr>
        <p:spPr>
          <a:xfrm>
            <a:off x="717550" y="2349500"/>
            <a:ext cx="71310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1- </a:t>
            </a:r>
            <a:r>
              <a:rPr lang="en-US" dirty="0" err="1">
                <a:solidFill>
                  <a:schemeClr val="bg1"/>
                </a:solidFill>
              </a:rPr>
              <a:t>Découverte</a:t>
            </a:r>
            <a:r>
              <a:rPr lang="en-US" dirty="0">
                <a:solidFill>
                  <a:schemeClr val="bg1"/>
                </a:solidFill>
              </a:rPr>
              <a:t> des données</a:t>
            </a:r>
          </a:p>
          <a:p>
            <a:r>
              <a:rPr lang="en-US" dirty="0">
                <a:solidFill>
                  <a:schemeClr val="bg1"/>
                </a:solidFill>
              </a:rPr>
              <a:t>	Appropriation des données et de </a:t>
            </a:r>
            <a:r>
              <a:rPr lang="en-US" dirty="0" err="1">
                <a:solidFill>
                  <a:schemeClr val="bg1"/>
                </a:solidFill>
              </a:rPr>
              <a:t>leur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contexte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Ciblage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stratégique</a:t>
            </a:r>
            <a:r>
              <a:rPr lang="en-US" dirty="0">
                <a:solidFill>
                  <a:schemeClr val="bg1"/>
                </a:solidFill>
              </a:rPr>
              <a:t> et exploration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2- </a:t>
            </a:r>
            <a:r>
              <a:rPr lang="en-US" dirty="0" err="1">
                <a:solidFill>
                  <a:schemeClr val="bg1"/>
                </a:solidFill>
              </a:rPr>
              <a:t>Nettoyage</a:t>
            </a:r>
            <a:r>
              <a:rPr lang="en-US" dirty="0">
                <a:solidFill>
                  <a:schemeClr val="bg1"/>
                </a:solidFill>
              </a:rPr>
              <a:t> des données</a:t>
            </a:r>
          </a:p>
          <a:p>
            <a:r>
              <a:rPr lang="en-US" dirty="0">
                <a:solidFill>
                  <a:schemeClr val="bg1"/>
                </a:solidFill>
              </a:rPr>
              <a:t>	Correction des </a:t>
            </a:r>
            <a:r>
              <a:rPr lang="en-US" dirty="0" err="1">
                <a:solidFill>
                  <a:schemeClr val="bg1"/>
                </a:solidFill>
              </a:rPr>
              <a:t>valeurs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nulles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Standardisation</a:t>
            </a:r>
            <a:r>
              <a:rPr lang="en-US" dirty="0">
                <a:solidFill>
                  <a:schemeClr val="bg1"/>
                </a:solidFill>
              </a:rPr>
              <a:t> des unites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3- </a:t>
            </a:r>
            <a:r>
              <a:rPr lang="en-US" dirty="0" err="1">
                <a:solidFill>
                  <a:schemeClr val="bg1"/>
                </a:solidFill>
              </a:rPr>
              <a:t>Analyse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thématique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Création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d’indicateurs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Observation de patterns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4- </a:t>
            </a:r>
            <a:r>
              <a:rPr lang="en-US" dirty="0" err="1">
                <a:solidFill>
                  <a:schemeClr val="bg1"/>
                </a:solidFill>
              </a:rPr>
              <a:t>Synthèse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visuelle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Traduire</a:t>
            </a:r>
            <a:r>
              <a:rPr lang="en-US" dirty="0">
                <a:solidFill>
                  <a:schemeClr val="bg1"/>
                </a:solidFill>
              </a:rPr>
              <a:t> les données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graphiques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Un </a:t>
            </a:r>
            <a:r>
              <a:rPr lang="en-US" dirty="0" err="1">
                <a:solidFill>
                  <a:schemeClr val="bg1"/>
                </a:solidFill>
              </a:rPr>
              <a:t>graphique</a:t>
            </a:r>
            <a:r>
              <a:rPr lang="en-US" dirty="0">
                <a:solidFill>
                  <a:schemeClr val="bg1"/>
                </a:solidFill>
              </a:rPr>
              <a:t> par donnée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4D0D2-5EC4-CE95-B161-B9024EBDC760}"/>
              </a:ext>
            </a:extLst>
          </p:cNvPr>
          <p:cNvSpPr txBox="1"/>
          <p:nvPr/>
        </p:nvSpPr>
        <p:spPr>
          <a:xfrm>
            <a:off x="717550" y="5924550"/>
            <a:ext cx="7131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Note: Pas de donnée </a:t>
            </a:r>
            <a:r>
              <a:rPr lang="en-US" dirty="0" err="1">
                <a:solidFill>
                  <a:schemeClr val="bg1"/>
                </a:solidFill>
              </a:rPr>
              <a:t>personnelle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donc</a:t>
            </a:r>
            <a:r>
              <a:rPr lang="en-US" dirty="0">
                <a:solidFill>
                  <a:schemeClr val="bg1"/>
                </a:solidFill>
              </a:rPr>
              <a:t> pas de RGPD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1) Proportion de personnes en état de sous-nutrition en 2017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FC63D-5667-19AF-C5D8-7DD9D6ED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994" y="1903307"/>
            <a:ext cx="5178672" cy="4954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25E9C0-B5B6-8CA4-E843-C520D4F971E2}"/>
              </a:ext>
            </a:extLst>
          </p:cNvPr>
          <p:cNvSpPr txBox="1"/>
          <p:nvPr/>
        </p:nvSpPr>
        <p:spPr>
          <a:xfrm>
            <a:off x="762000" y="3641989"/>
            <a:ext cx="365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Population </a:t>
            </a:r>
            <a:r>
              <a:rPr lang="en-US" dirty="0" err="1">
                <a:solidFill>
                  <a:schemeClr val="bg1"/>
                </a:solidFill>
              </a:rPr>
              <a:t>mondiale</a:t>
            </a:r>
            <a:r>
              <a:rPr lang="en-US" dirty="0">
                <a:solidFill>
                  <a:schemeClr val="bg1"/>
                </a:solidFill>
              </a:rPr>
              <a:t> : 7 543 798 779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Population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sous-nutrition : 535 700 000</a:t>
            </a:r>
          </a:p>
          <a:p>
            <a:r>
              <a:rPr lang="en-US" dirty="0">
                <a:solidFill>
                  <a:schemeClr val="bg1"/>
                </a:solidFill>
              </a:rPr>
              <a:t>Proportion : environ 7.1%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29FA2-3C07-6989-52A4-6D49E7842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425" y="1898802"/>
            <a:ext cx="6542075" cy="4959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CE36A9-8922-3DC7-DE45-023CE5C13BF6}"/>
              </a:ext>
            </a:extLst>
          </p:cNvPr>
          <p:cNvSpPr txBox="1"/>
          <p:nvPr/>
        </p:nvSpPr>
        <p:spPr>
          <a:xfrm>
            <a:off x="317500" y="370607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Population </a:t>
            </a:r>
            <a:r>
              <a:rPr lang="en-US" dirty="0" err="1">
                <a:solidFill>
                  <a:schemeClr val="bg1"/>
                </a:solidFill>
              </a:rPr>
              <a:t>mondiale</a:t>
            </a:r>
            <a:r>
              <a:rPr lang="en-US" dirty="0">
                <a:solidFill>
                  <a:schemeClr val="bg1"/>
                </a:solidFill>
              </a:rPr>
              <a:t> : 7 543 798 779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Population </a:t>
            </a:r>
            <a:r>
              <a:rPr lang="en-US" dirty="0" err="1">
                <a:solidFill>
                  <a:schemeClr val="bg1"/>
                </a:solidFill>
              </a:rPr>
              <a:t>nourrissable</a:t>
            </a:r>
            <a:r>
              <a:rPr lang="en-US" dirty="0">
                <a:solidFill>
                  <a:schemeClr val="bg1"/>
                </a:solidFill>
              </a:rPr>
              <a:t> : 8 045 763 318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F640B-804A-7A99-DE81-8901E59B6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1906020"/>
            <a:ext cx="6442664" cy="4951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683FF9-6CCB-E412-1A08-16B36D5E83A9}"/>
              </a:ext>
            </a:extLst>
          </p:cNvPr>
          <p:cNvSpPr txBox="1"/>
          <p:nvPr/>
        </p:nvSpPr>
        <p:spPr>
          <a:xfrm>
            <a:off x="584200" y="3643346"/>
            <a:ext cx="365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Population </a:t>
            </a:r>
            <a:r>
              <a:rPr lang="en-US" dirty="0" err="1">
                <a:solidFill>
                  <a:schemeClr val="bg1"/>
                </a:solidFill>
              </a:rPr>
              <a:t>mondiale</a:t>
            </a:r>
            <a:r>
              <a:rPr lang="en-US" dirty="0">
                <a:solidFill>
                  <a:schemeClr val="bg1"/>
                </a:solidFill>
              </a:rPr>
              <a:t> : 7 543 798 779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Population </a:t>
            </a:r>
            <a:r>
              <a:rPr lang="en-US" dirty="0" err="1">
                <a:solidFill>
                  <a:schemeClr val="bg1"/>
                </a:solidFill>
              </a:rPr>
              <a:t>nourrissable</a:t>
            </a:r>
            <a:r>
              <a:rPr lang="en-US" dirty="0">
                <a:solidFill>
                  <a:schemeClr val="bg1"/>
                </a:solidFill>
              </a:rPr>
              <a:t> : 6 638 755 465</a:t>
            </a:r>
          </a:p>
          <a:p>
            <a:r>
              <a:rPr lang="en-US" dirty="0">
                <a:solidFill>
                  <a:schemeClr val="bg1"/>
                </a:solidFill>
              </a:rPr>
              <a:t>Proportion : 88%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1D5BA-CAC5-97C8-02E6-9B439ABC1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990" y="1892300"/>
            <a:ext cx="5569917" cy="4965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DE935B-3E77-E6F2-FDAB-075E4F7B5632}"/>
              </a:ext>
            </a:extLst>
          </p:cNvPr>
          <p:cNvSpPr txBox="1"/>
          <p:nvPr/>
        </p:nvSpPr>
        <p:spPr>
          <a:xfrm>
            <a:off x="431800" y="378862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Disponibilité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intérieure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mondiale</a:t>
            </a:r>
            <a:r>
              <a:rPr lang="en-US" dirty="0">
                <a:solidFill>
                  <a:schemeClr val="bg1"/>
                </a:solidFill>
              </a:rPr>
              <a:t> :</a:t>
            </a:r>
          </a:p>
          <a:p>
            <a:r>
              <a:rPr lang="en-US" dirty="0">
                <a:solidFill>
                  <a:schemeClr val="bg1"/>
                </a:solidFill>
              </a:rPr>
              <a:t>Environ 9.85 milliards de </a:t>
            </a:r>
            <a:r>
              <a:rPr lang="en-US" dirty="0" err="1">
                <a:solidFill>
                  <a:schemeClr val="bg1"/>
                </a:solidFill>
              </a:rPr>
              <a:t>tonnes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5987B-B6B5-99CF-C19D-857AD7264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48" y="1892300"/>
            <a:ext cx="7530471" cy="4965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B38D24-96F7-3ADD-2C9D-F0DF647AEF6C}"/>
              </a:ext>
            </a:extLst>
          </p:cNvPr>
          <p:cNvSpPr txBox="1"/>
          <p:nvPr/>
        </p:nvSpPr>
        <p:spPr>
          <a:xfrm>
            <a:off x="0" y="277391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Rie, Millet et </a:t>
            </a:r>
            <a:r>
              <a:rPr lang="en-US" dirty="0" err="1">
                <a:solidFill>
                  <a:schemeClr val="bg1"/>
                </a:solidFill>
              </a:rPr>
              <a:t>moindre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mesure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Blé</a:t>
            </a:r>
            <a:r>
              <a:rPr lang="en-US" dirty="0">
                <a:solidFill>
                  <a:schemeClr val="bg1"/>
                </a:solidFill>
              </a:rPr>
              <a:t> pour</a:t>
            </a:r>
          </a:p>
          <a:p>
            <a:r>
              <a:rPr lang="en-US" dirty="0" err="1">
                <a:solidFill>
                  <a:schemeClr val="bg1"/>
                </a:solidFill>
              </a:rPr>
              <a:t>l’alimentation</a:t>
            </a:r>
            <a:r>
              <a:rPr lang="en-US" dirty="0">
                <a:solidFill>
                  <a:schemeClr val="bg1"/>
                </a:solidFill>
              </a:rPr>
              <a:t> humaine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0C54C-958B-7B76-DAA2-FCF18BA85494}"/>
              </a:ext>
            </a:extLst>
          </p:cNvPr>
          <p:cNvSpPr txBox="1"/>
          <p:nvPr/>
        </p:nvSpPr>
        <p:spPr>
          <a:xfrm>
            <a:off x="50800" y="556791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Orge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Avoine</a:t>
            </a:r>
            <a:r>
              <a:rPr lang="en-US" dirty="0">
                <a:solidFill>
                  <a:schemeClr val="bg1"/>
                </a:solidFill>
              </a:rPr>
              <a:t> et </a:t>
            </a:r>
            <a:r>
              <a:rPr lang="en-US" dirty="0" err="1">
                <a:solidFill>
                  <a:schemeClr val="bg1"/>
                </a:solidFill>
              </a:rPr>
              <a:t>moindre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mesure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Maïs</a:t>
            </a:r>
            <a:r>
              <a:rPr lang="en-US" dirty="0">
                <a:solidFill>
                  <a:schemeClr val="bg1"/>
                </a:solidFill>
              </a:rPr>
              <a:t> pour</a:t>
            </a:r>
          </a:p>
          <a:p>
            <a:r>
              <a:rPr lang="en-US" dirty="0" err="1">
                <a:solidFill>
                  <a:schemeClr val="bg1"/>
                </a:solidFill>
              </a:rPr>
              <a:t>l’alimentation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animale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37F33-6C54-0781-F548-20B1373ED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46" y="1898651"/>
            <a:ext cx="8497641" cy="4959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E8F68-759E-18B8-D7C9-F7C97FD6BB94}"/>
              </a:ext>
            </a:extLst>
          </p:cNvPr>
          <p:cNvSpPr txBox="1"/>
          <p:nvPr/>
        </p:nvSpPr>
        <p:spPr>
          <a:xfrm>
            <a:off x="0" y="2773918"/>
            <a:ext cx="3657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 </a:t>
            </a:r>
            <a:r>
              <a:rPr lang="en-US" dirty="0" err="1">
                <a:solidFill>
                  <a:schemeClr val="bg1"/>
                </a:solidFill>
              </a:rPr>
              <a:t>Haïti</a:t>
            </a:r>
            <a:r>
              <a:rPr lang="en-US" dirty="0">
                <a:solidFill>
                  <a:schemeClr val="bg1"/>
                </a:solidFill>
              </a:rPr>
              <a:t> et </a:t>
            </a:r>
            <a:r>
              <a:rPr lang="en-US" dirty="0" err="1">
                <a:solidFill>
                  <a:schemeClr val="bg1"/>
                </a:solidFill>
              </a:rPr>
              <a:t>Corée</a:t>
            </a:r>
            <a:r>
              <a:rPr lang="en-US" dirty="0">
                <a:solidFill>
                  <a:schemeClr val="bg1"/>
                </a:solidFill>
              </a:rPr>
              <a:t> du Nord, quasi </a:t>
            </a:r>
          </a:p>
          <a:p>
            <a:r>
              <a:rPr lang="en-US" dirty="0">
                <a:solidFill>
                  <a:schemeClr val="bg1"/>
                </a:solidFill>
              </a:rPr>
              <a:t>un habitant sur deux est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insécurité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alimentaire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Un habitant sur trois ne mange pas à </a:t>
            </a:r>
            <a:r>
              <a:rPr lang="en-US" dirty="0" err="1">
                <a:solidFill>
                  <a:schemeClr val="bg1"/>
                </a:solidFill>
              </a:rPr>
              <a:t>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faim</a:t>
            </a:r>
            <a:r>
              <a:rPr lang="en-US" dirty="0">
                <a:solidFill>
                  <a:schemeClr val="bg1"/>
                </a:solidFill>
              </a:rPr>
              <a:t>, au Congo, et encore un peu plus au Rwanda et Sierra Leone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BAFE4B-D38D-B646-3905-517E584FBF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30"/>
          <a:stretch>
            <a:fillRect/>
          </a:stretch>
        </p:blipFill>
        <p:spPr>
          <a:xfrm>
            <a:off x="3027671" y="1890357"/>
            <a:ext cx="9164329" cy="49676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45EA2D-BEBC-6F08-A024-1615D2768FBC}"/>
              </a:ext>
            </a:extLst>
          </p:cNvPr>
          <p:cNvSpPr txBox="1"/>
          <p:nvPr/>
        </p:nvSpPr>
        <p:spPr>
          <a:xfrm>
            <a:off x="0" y="2773918"/>
            <a:ext cx="365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 Syrie, </a:t>
            </a:r>
            <a:r>
              <a:rPr lang="en-US" dirty="0" err="1">
                <a:solidFill>
                  <a:schemeClr val="bg1"/>
                </a:solidFill>
              </a:rPr>
              <a:t>l’Éthiopie</a:t>
            </a:r>
            <a:r>
              <a:rPr lang="en-US" dirty="0">
                <a:solidFill>
                  <a:schemeClr val="bg1"/>
                </a:solidFill>
              </a:rPr>
              <a:t> et le </a:t>
            </a:r>
            <a:r>
              <a:rPr lang="en-US" dirty="0" err="1">
                <a:solidFill>
                  <a:schemeClr val="bg1"/>
                </a:solidFill>
              </a:rPr>
              <a:t>Yémen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tête avec 40% de </a:t>
            </a:r>
            <a:r>
              <a:rPr lang="en-US" dirty="0" err="1">
                <a:solidFill>
                  <a:schemeClr val="bg1"/>
                </a:solidFill>
              </a:rPr>
              <a:t>l’aide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alimentaire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mondiale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5DBD75-347F-A789-D881-E592A418F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424" y="1892300"/>
            <a:ext cx="8610581" cy="4965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0A64CB-418F-4F10-88BA-03A97D0A8609}"/>
              </a:ext>
            </a:extLst>
          </p:cNvPr>
          <p:cNvSpPr txBox="1"/>
          <p:nvPr/>
        </p:nvSpPr>
        <p:spPr>
          <a:xfrm>
            <a:off x="0" y="3364468"/>
            <a:ext cx="370205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Malgré des contexts </a:t>
            </a:r>
            <a:r>
              <a:rPr lang="en-US" dirty="0" err="1">
                <a:solidFill>
                  <a:schemeClr val="bg1"/>
                </a:solidFill>
              </a:rPr>
              <a:t>géopolitiques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compliques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moins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d’aide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été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nécessaire</a:t>
            </a:r>
            <a:r>
              <a:rPr lang="en-US" dirty="0">
                <a:solidFill>
                  <a:schemeClr val="bg1"/>
                </a:solidFill>
              </a:rPr>
              <a:t> le long de </a:t>
            </a:r>
            <a:r>
              <a:rPr lang="en-US" dirty="0" err="1">
                <a:solidFill>
                  <a:schemeClr val="bg1"/>
                </a:solidFill>
              </a:rPr>
              <a:t>cette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période</a:t>
            </a:r>
            <a:r>
              <a:rPr lang="en-US" dirty="0">
                <a:solidFill>
                  <a:schemeClr val="bg1"/>
                </a:solidFill>
              </a:rPr>
              <a:t>, pour 4 des 5 pays les plus </a:t>
            </a:r>
            <a:r>
              <a:rPr lang="en-US" dirty="0" err="1">
                <a:solidFill>
                  <a:schemeClr val="bg1"/>
                </a:solidFill>
              </a:rPr>
              <a:t>demandeurs</a:t>
            </a:r>
            <a:r>
              <a:rPr lang="en-US" dirty="0">
                <a:solidFill>
                  <a:schemeClr val="bg1"/>
                </a:solidFill>
              </a:rPr>
              <a:t> pendant la </a:t>
            </a:r>
            <a:r>
              <a:rPr lang="en-US" dirty="0" err="1">
                <a:solidFill>
                  <a:schemeClr val="bg1"/>
                </a:solidFill>
              </a:rPr>
              <a:t>période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Le Yemen a vu </a:t>
            </a:r>
            <a:r>
              <a:rPr lang="en-US" dirty="0" err="1">
                <a:solidFill>
                  <a:schemeClr val="bg1"/>
                </a:solidFill>
              </a:rPr>
              <a:t>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demande</a:t>
            </a:r>
            <a:r>
              <a:rPr lang="en-US" dirty="0">
                <a:solidFill>
                  <a:schemeClr val="bg1"/>
                </a:solidFill>
              </a:rPr>
              <a:t> augmentee, à cause de guerre, </a:t>
            </a:r>
            <a:r>
              <a:rPr lang="en-US" dirty="0" err="1">
                <a:solidFill>
                  <a:schemeClr val="bg1"/>
                </a:solidFill>
              </a:rPr>
              <a:t>blocus</a:t>
            </a:r>
            <a:r>
              <a:rPr lang="en-US" dirty="0">
                <a:solidFill>
                  <a:schemeClr val="bg1"/>
                </a:solidFill>
              </a:rPr>
              <a:t> et crise </a:t>
            </a:r>
            <a:r>
              <a:rPr lang="en-US" dirty="0" err="1">
                <a:solidFill>
                  <a:schemeClr val="bg1"/>
                </a:solidFill>
              </a:rPr>
              <a:t>humanitaire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C9CFE5-779B-E93F-E3E0-924D1717E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1891089"/>
            <a:ext cx="7035800" cy="49669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FB666B-DA34-1129-B66C-56FD929C768A}"/>
              </a:ext>
            </a:extLst>
          </p:cNvPr>
          <p:cNvSpPr txBox="1"/>
          <p:nvPr/>
        </p:nvSpPr>
        <p:spPr>
          <a:xfrm>
            <a:off x="810000" y="3923268"/>
            <a:ext cx="37020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Les pays </a:t>
            </a:r>
            <a:r>
              <a:rPr lang="en-US" dirty="0" err="1">
                <a:solidFill>
                  <a:schemeClr val="bg1"/>
                </a:solidFill>
              </a:rPr>
              <a:t>disposant</a:t>
            </a:r>
            <a:r>
              <a:rPr lang="en-US" dirty="0">
                <a:solidFill>
                  <a:schemeClr val="bg1"/>
                </a:solidFill>
              </a:rPr>
              <a:t> du plus de </a:t>
            </a:r>
            <a:r>
              <a:rPr lang="en-US" dirty="0" err="1">
                <a:solidFill>
                  <a:schemeClr val="bg1"/>
                </a:solidFill>
              </a:rPr>
              <a:t>nourriture</a:t>
            </a:r>
            <a:r>
              <a:rPr lang="en-US" dirty="0">
                <a:solidFill>
                  <a:schemeClr val="bg1"/>
                </a:solidFill>
              </a:rPr>
              <a:t> par habitant </a:t>
            </a:r>
            <a:r>
              <a:rPr lang="en-US" dirty="0" err="1">
                <a:solidFill>
                  <a:schemeClr val="bg1"/>
                </a:solidFill>
              </a:rPr>
              <a:t>pourraient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fournir</a:t>
            </a:r>
            <a:r>
              <a:rPr lang="en-US" dirty="0">
                <a:solidFill>
                  <a:schemeClr val="bg1"/>
                </a:solidFill>
              </a:rPr>
              <a:t> environ 1.5 </a:t>
            </a:r>
            <a:r>
              <a:rPr lang="en-US" dirty="0" err="1">
                <a:solidFill>
                  <a:schemeClr val="bg1"/>
                </a:solidFill>
              </a:rPr>
              <a:t>fois</a:t>
            </a:r>
            <a:r>
              <a:rPr lang="en-US" dirty="0">
                <a:solidFill>
                  <a:schemeClr val="bg1"/>
                </a:solidFill>
              </a:rPr>
              <a:t> le </a:t>
            </a:r>
            <a:r>
              <a:rPr lang="en-US" dirty="0" err="1">
                <a:solidFill>
                  <a:schemeClr val="bg1"/>
                </a:solidFill>
              </a:rPr>
              <a:t>besoin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calorique</a:t>
            </a:r>
            <a:r>
              <a:rPr lang="en-US" dirty="0">
                <a:solidFill>
                  <a:schemeClr val="bg1"/>
                </a:solidFill>
              </a:rPr>
              <a:t> par habitant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5D1CD-59C6-9466-FC67-5A4F6812A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696" y="1917700"/>
            <a:ext cx="7520304" cy="4940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E1A45E-5169-F16C-559C-FCCBC692D4E0}"/>
              </a:ext>
            </a:extLst>
          </p:cNvPr>
          <p:cNvSpPr txBox="1"/>
          <p:nvPr/>
        </p:nvSpPr>
        <p:spPr>
          <a:xfrm>
            <a:off x="270250" y="2462768"/>
            <a:ext cx="37020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Les pays </a:t>
            </a:r>
            <a:r>
              <a:rPr lang="en-US" dirty="0" err="1">
                <a:solidFill>
                  <a:schemeClr val="bg1"/>
                </a:solidFill>
              </a:rPr>
              <a:t>disposant</a:t>
            </a:r>
            <a:r>
              <a:rPr lang="en-US" dirty="0">
                <a:solidFill>
                  <a:schemeClr val="bg1"/>
                </a:solidFill>
              </a:rPr>
              <a:t> du </a:t>
            </a:r>
            <a:r>
              <a:rPr lang="en-US" dirty="0" err="1">
                <a:solidFill>
                  <a:schemeClr val="bg1"/>
                </a:solidFill>
              </a:rPr>
              <a:t>moins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nourriture</a:t>
            </a:r>
            <a:r>
              <a:rPr lang="en-US" dirty="0">
                <a:solidFill>
                  <a:schemeClr val="bg1"/>
                </a:solidFill>
              </a:rPr>
              <a:t> par habitant ne </a:t>
            </a:r>
            <a:r>
              <a:rPr lang="en-US" dirty="0" err="1">
                <a:solidFill>
                  <a:schemeClr val="bg1"/>
                </a:solidFill>
              </a:rPr>
              <a:t>peuvent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fournir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qu’environ</a:t>
            </a:r>
            <a:r>
              <a:rPr lang="en-US" dirty="0">
                <a:solidFill>
                  <a:schemeClr val="bg1"/>
                </a:solidFill>
              </a:rPr>
              <a:t> 82% du </a:t>
            </a:r>
            <a:r>
              <a:rPr lang="en-US" dirty="0" err="1">
                <a:solidFill>
                  <a:schemeClr val="bg1"/>
                </a:solidFill>
              </a:rPr>
              <a:t>besoin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calorique</a:t>
            </a:r>
            <a:r>
              <a:rPr lang="en-US" dirty="0">
                <a:solidFill>
                  <a:schemeClr val="bg1"/>
                </a:solidFill>
              </a:rPr>
              <a:t> par habitant pour la </a:t>
            </a:r>
            <a:r>
              <a:rPr lang="en-US" dirty="0" err="1">
                <a:solidFill>
                  <a:schemeClr val="bg1"/>
                </a:solidFill>
              </a:rPr>
              <a:t>Somalie</a:t>
            </a:r>
            <a:r>
              <a:rPr lang="en-US" dirty="0">
                <a:solidFill>
                  <a:schemeClr val="bg1"/>
                </a:solidFill>
              </a:rPr>
              <a:t>, et le chiffre descend </a:t>
            </a:r>
            <a:r>
              <a:rPr lang="en-US" dirty="0" err="1">
                <a:solidFill>
                  <a:schemeClr val="bg1"/>
                </a:solidFill>
              </a:rPr>
              <a:t>jusqu’à</a:t>
            </a:r>
            <a:r>
              <a:rPr lang="en-US" dirty="0">
                <a:solidFill>
                  <a:schemeClr val="bg1"/>
                </a:solidFill>
              </a:rPr>
              <a:t> environ 70% pour </a:t>
            </a:r>
            <a:r>
              <a:rPr lang="en-US" dirty="0" err="1">
                <a:solidFill>
                  <a:schemeClr val="bg1"/>
                </a:solidFill>
              </a:rPr>
              <a:t>Haïti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84FC1-1A86-D621-0D16-35129BC8A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0" y="1898780"/>
            <a:ext cx="8089900" cy="4959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F142FC-5C04-6C82-1855-D24DE55D5E7C}"/>
              </a:ext>
            </a:extLst>
          </p:cNvPr>
          <p:cNvSpPr txBox="1"/>
          <p:nvPr/>
        </p:nvSpPr>
        <p:spPr>
          <a:xfrm>
            <a:off x="346450" y="3793614"/>
            <a:ext cx="37020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83.4% </a:t>
            </a:r>
            <a:r>
              <a:rPr lang="en-US" dirty="0" err="1">
                <a:solidFill>
                  <a:schemeClr val="bg1"/>
                </a:solidFill>
              </a:rPr>
              <a:t>exporté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2.9% </a:t>
            </a:r>
            <a:r>
              <a:rPr lang="en-US" dirty="0" err="1">
                <a:solidFill>
                  <a:schemeClr val="bg1"/>
                </a:solidFill>
              </a:rPr>
              <a:t>nourrit</a:t>
            </a:r>
            <a:r>
              <a:rPr lang="en-US" dirty="0">
                <a:solidFill>
                  <a:schemeClr val="bg1"/>
                </a:solidFill>
              </a:rPr>
              <a:t> les </a:t>
            </a:r>
            <a:r>
              <a:rPr lang="en-US" dirty="0" err="1">
                <a:solidFill>
                  <a:schemeClr val="bg1"/>
                </a:solidFill>
              </a:rPr>
              <a:t>locaux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9% des </a:t>
            </a:r>
            <a:r>
              <a:rPr lang="en-US" dirty="0" err="1">
                <a:solidFill>
                  <a:schemeClr val="bg1"/>
                </a:solidFill>
              </a:rPr>
              <a:t>locaux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sous-</a:t>
            </a:r>
            <a:r>
              <a:rPr lang="en-US" dirty="0" err="1">
                <a:solidFill>
                  <a:schemeClr val="bg1"/>
                </a:solidFill>
              </a:rPr>
              <a:t>nutritions</a:t>
            </a:r>
            <a:r>
              <a:rPr lang="en-US" dirty="0">
                <a:solidFill>
                  <a:schemeClr val="bg1"/>
                </a:solidFill>
              </a:rPr>
              <a:t>,</a:t>
            </a:r>
          </a:p>
          <a:p>
            <a:r>
              <a:rPr lang="en-US" dirty="0" err="1">
                <a:solidFill>
                  <a:schemeClr val="bg1"/>
                </a:solidFill>
              </a:rPr>
              <a:t>soit</a:t>
            </a:r>
            <a:r>
              <a:rPr lang="en-US" dirty="0">
                <a:solidFill>
                  <a:schemeClr val="bg1"/>
                </a:solidFill>
              </a:rPr>
              <a:t> environ 6.5 millions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8D0E3-CE86-2EE9-176A-FC2FC1582A63}"/>
              </a:ext>
            </a:extLst>
          </p:cNvPr>
          <p:cNvSpPr txBox="1"/>
          <p:nvPr/>
        </p:nvSpPr>
        <p:spPr>
          <a:xfrm>
            <a:off x="1949448" y="2311400"/>
            <a:ext cx="82931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 production </a:t>
            </a:r>
            <a:r>
              <a:rPr lang="en-US" dirty="0" err="1">
                <a:solidFill>
                  <a:schemeClr val="bg1"/>
                </a:solidFill>
              </a:rPr>
              <a:t>alimentaire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mondiale</a:t>
            </a:r>
            <a:r>
              <a:rPr lang="en-US" dirty="0">
                <a:solidFill>
                  <a:schemeClr val="bg1"/>
                </a:solidFill>
              </a:rPr>
              <a:t> est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théorie</a:t>
            </a:r>
            <a:r>
              <a:rPr lang="en-US" dirty="0">
                <a:solidFill>
                  <a:schemeClr val="bg1"/>
                </a:solidFill>
              </a:rPr>
              <a:t> suffisante pour </a:t>
            </a:r>
            <a:r>
              <a:rPr lang="en-US" dirty="0" err="1">
                <a:solidFill>
                  <a:schemeClr val="bg1"/>
                </a:solidFill>
              </a:rPr>
              <a:t>nourrir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convenablement</a:t>
            </a:r>
            <a:r>
              <a:rPr lang="en-US" dirty="0">
                <a:solidFill>
                  <a:schemeClr val="bg1"/>
                </a:solidFill>
              </a:rPr>
              <a:t> la population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EB17F-EA30-254F-ADF6-AC8842F8489F}"/>
              </a:ext>
            </a:extLst>
          </p:cNvPr>
          <p:cNvSpPr txBox="1"/>
          <p:nvPr/>
        </p:nvSpPr>
        <p:spPr>
          <a:xfrm>
            <a:off x="1949447" y="3121223"/>
            <a:ext cx="82931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 sous-nutrition est </a:t>
            </a:r>
            <a:r>
              <a:rPr lang="en-US" dirty="0" err="1">
                <a:solidFill>
                  <a:schemeClr val="bg1"/>
                </a:solidFill>
              </a:rPr>
              <a:t>donc</a:t>
            </a:r>
            <a:r>
              <a:rPr lang="en-US" dirty="0">
                <a:solidFill>
                  <a:schemeClr val="bg1"/>
                </a:solidFill>
              </a:rPr>
              <a:t> un </a:t>
            </a:r>
            <a:r>
              <a:rPr lang="en-US" dirty="0" err="1">
                <a:solidFill>
                  <a:schemeClr val="bg1"/>
                </a:solidFill>
              </a:rPr>
              <a:t>problème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d’accès</a:t>
            </a:r>
            <a:r>
              <a:rPr lang="en-US" dirty="0">
                <a:solidFill>
                  <a:schemeClr val="bg1"/>
                </a:solidFill>
              </a:rPr>
              <a:t>, de </a:t>
            </a:r>
            <a:r>
              <a:rPr lang="en-US" dirty="0" err="1">
                <a:solidFill>
                  <a:schemeClr val="bg1"/>
                </a:solidFill>
              </a:rPr>
              <a:t>répartition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866AE-6C37-F1BE-61E9-BF022FC2DFDB}"/>
              </a:ext>
            </a:extLst>
          </p:cNvPr>
          <p:cNvSpPr txBox="1"/>
          <p:nvPr/>
        </p:nvSpPr>
        <p:spPr>
          <a:xfrm>
            <a:off x="1949446" y="3931046"/>
            <a:ext cx="82931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L’aide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alimentaire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n’apportera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qu’une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réponse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temporaire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399BE-99BD-85AE-6EA1-2A600BF2D16C}"/>
              </a:ext>
            </a:extLst>
          </p:cNvPr>
          <p:cNvSpPr txBox="1"/>
          <p:nvPr/>
        </p:nvSpPr>
        <p:spPr>
          <a:xfrm>
            <a:off x="1949445" y="4740869"/>
            <a:ext cx="82931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Des </a:t>
            </a:r>
            <a:r>
              <a:rPr lang="en-US" dirty="0" err="1">
                <a:solidFill>
                  <a:schemeClr val="bg1"/>
                </a:solidFill>
              </a:rPr>
              <a:t>réformes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structurelles</a:t>
            </a:r>
            <a:r>
              <a:rPr lang="en-US" dirty="0">
                <a:solidFill>
                  <a:schemeClr val="bg1"/>
                </a:solidFill>
              </a:rPr>
              <a:t> des </a:t>
            </a:r>
            <a:r>
              <a:rPr lang="en-US" dirty="0" err="1">
                <a:solidFill>
                  <a:schemeClr val="bg1"/>
                </a:solidFill>
              </a:rPr>
              <a:t>systèmes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alimentaires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mondiaux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nécessaires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611</Words>
  <Application>Microsoft Office PowerPoint</Application>
  <PresentationFormat>Widescreen</PresentationFormat>
  <Paragraphs>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Century Gothic</vt:lpstr>
      <vt:lpstr>Arial</vt:lpstr>
      <vt:lpstr>Calibri</vt:lpstr>
      <vt:lpstr>Noto Sans Symbols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Corentin DERVOUT</cp:lastModifiedBy>
  <cp:revision>2</cp:revision>
  <dcterms:created xsi:type="dcterms:W3CDTF">2023-03-17T20:58:30Z</dcterms:created>
  <dcterms:modified xsi:type="dcterms:W3CDTF">2026-02-19T22:48:40Z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