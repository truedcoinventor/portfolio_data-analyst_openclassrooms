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51" autoAdjust="0"/>
  </p:normalViewPr>
  <p:slideViewPr>
    <p:cSldViewPr snapToGrid="0">
      <p:cViewPr varScale="1">
        <p:scale>
          <a:sx n="143" d="100"/>
          <a:sy n="143" d="100"/>
        </p:scale>
        <p:origin x="93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CC5AD8-1CF7-4AA5-9354-3DD9B7D0DD18}" type="datetimeFigureOut">
              <a:rPr lang="en-US" smtClean="0"/>
              <a:t>2025-12-15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4DE022-5AEA-46FE-AF98-997327ACA93D}" type="slidenum">
              <a:rPr lang="en-US" smtClean="0"/>
              <a:t>‹#›</a:t>
            </a:fld>
            <a:endParaRPr lang="en-US"/>
          </a:p>
        </p:txBody>
      </p:sp>
    </p:spTree>
    <p:extLst>
      <p:ext uri="{BB962C8B-B14F-4D97-AF65-F5344CB8AC3E}">
        <p14:creationId xmlns:p14="http://schemas.microsoft.com/office/powerpoint/2010/main" val="83797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Objectifs</a:t>
            </a:r>
            <a:r>
              <a:rPr lang="en-US" dirty="0"/>
              <a:t>: </a:t>
            </a:r>
            <a:r>
              <a:rPr lang="en-US" dirty="0" err="1"/>
              <a:t>comprendre</a:t>
            </a:r>
            <a:r>
              <a:rPr lang="en-US" dirty="0"/>
              <a:t> </a:t>
            </a:r>
            <a:r>
              <a:rPr lang="en-US" dirty="0" err="1"/>
              <a:t>baisse</a:t>
            </a:r>
            <a:r>
              <a:rPr lang="en-US" dirty="0"/>
              <a:t> CA &amp; </a:t>
            </a:r>
            <a:r>
              <a:rPr lang="en-US" dirty="0" err="1"/>
              <a:t>établir</a:t>
            </a:r>
            <a:r>
              <a:rPr lang="en-US" dirty="0"/>
              <a:t> </a:t>
            </a:r>
            <a:r>
              <a:rPr lang="en-US" dirty="0" err="1"/>
              <a:t>évolution</a:t>
            </a:r>
            <a:r>
              <a:rPr lang="en-US" dirty="0"/>
              <a:t> moyen </a:t>
            </a:r>
            <a:r>
              <a:rPr lang="en-US" dirty="0" err="1"/>
              <a:t>terme</a:t>
            </a:r>
            <a:r>
              <a:rPr lang="en-US" dirty="0"/>
              <a:t> </a:t>
            </a:r>
            <a:r>
              <a:rPr lang="en-US" dirty="0" err="1"/>
              <a:t>prochains</a:t>
            </a:r>
            <a:r>
              <a:rPr lang="en-US" dirty="0"/>
              <a:t> </a:t>
            </a:r>
            <a:r>
              <a:rPr lang="en-US" dirty="0" err="1"/>
              <a:t>mois</a:t>
            </a:r>
            <a:endParaRPr lang="en-US" dirty="0"/>
          </a:p>
        </p:txBody>
      </p:sp>
      <p:sp>
        <p:nvSpPr>
          <p:cNvPr id="4" name="Slide Number Placeholder 3"/>
          <p:cNvSpPr>
            <a:spLocks noGrp="1"/>
          </p:cNvSpPr>
          <p:nvPr>
            <p:ph type="sldNum" sz="quarter" idx="5"/>
          </p:nvPr>
        </p:nvSpPr>
        <p:spPr/>
        <p:txBody>
          <a:bodyPr/>
          <a:lstStyle/>
          <a:p>
            <a:fld id="{DA4DE022-5AEA-46FE-AF98-997327ACA93D}" type="slidenum">
              <a:rPr lang="en-US" smtClean="0"/>
              <a:t>1</a:t>
            </a:fld>
            <a:endParaRPr lang="en-US"/>
          </a:p>
        </p:txBody>
      </p:sp>
    </p:spTree>
    <p:extLst>
      <p:ext uri="{BB962C8B-B14F-4D97-AF65-F5344CB8AC3E}">
        <p14:creationId xmlns:p14="http://schemas.microsoft.com/office/powerpoint/2010/main" val="587015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Graphique</a:t>
            </a:r>
            <a:r>
              <a:rPr lang="en-US" dirty="0"/>
              <a:t> montre ventes VERT, CA BLEU.</a:t>
            </a:r>
            <a:br>
              <a:rPr lang="en-US" dirty="0"/>
            </a:br>
            <a:r>
              <a:rPr lang="en-US" dirty="0"/>
              <a:t>Forte acceleration ventes </a:t>
            </a:r>
            <a:r>
              <a:rPr lang="en-US" dirty="0" err="1"/>
              <a:t>depuis</a:t>
            </a:r>
            <a:r>
              <a:rPr lang="en-US" dirty="0"/>
              <a:t> Octobre, </a:t>
            </a:r>
            <a:r>
              <a:rPr lang="en-US" dirty="0" err="1"/>
              <a:t>exponentielle</a:t>
            </a:r>
            <a:r>
              <a:rPr lang="en-US" dirty="0"/>
              <a:t> </a:t>
            </a:r>
            <a:r>
              <a:rPr lang="en-US" dirty="0" err="1"/>
              <a:t>depuis</a:t>
            </a:r>
            <a:r>
              <a:rPr lang="en-US" dirty="0"/>
              <a:t> </a:t>
            </a:r>
            <a:r>
              <a:rPr lang="en-US" dirty="0" err="1"/>
              <a:t>décembre</a:t>
            </a:r>
            <a:endParaRPr lang="en-US" dirty="0"/>
          </a:p>
          <a:p>
            <a:r>
              <a:rPr lang="en-US" dirty="0"/>
              <a:t>Côté CA, augmentation progressive, chute sur </a:t>
            </a:r>
            <a:r>
              <a:rPr lang="en-US" dirty="0" err="1"/>
              <a:t>janvier</a:t>
            </a:r>
            <a:endParaRPr lang="en-US" dirty="0"/>
          </a:p>
        </p:txBody>
      </p:sp>
      <p:sp>
        <p:nvSpPr>
          <p:cNvPr id="4" name="Slide Number Placeholder 3"/>
          <p:cNvSpPr>
            <a:spLocks noGrp="1"/>
          </p:cNvSpPr>
          <p:nvPr>
            <p:ph type="sldNum" sz="quarter" idx="5"/>
          </p:nvPr>
        </p:nvSpPr>
        <p:spPr/>
        <p:txBody>
          <a:bodyPr/>
          <a:lstStyle/>
          <a:p>
            <a:fld id="{DA4DE022-5AEA-46FE-AF98-997327ACA93D}" type="slidenum">
              <a:rPr lang="en-US" smtClean="0"/>
              <a:t>2</a:t>
            </a:fld>
            <a:endParaRPr lang="en-US"/>
          </a:p>
        </p:txBody>
      </p:sp>
    </p:spTree>
    <p:extLst>
      <p:ext uri="{BB962C8B-B14F-4D97-AF65-F5344CB8AC3E}">
        <p14:creationId xmlns:p14="http://schemas.microsoft.com/office/powerpoint/2010/main" val="2786124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Graphique</a:t>
            </a:r>
            <a:r>
              <a:rPr lang="en-US" dirty="0"/>
              <a:t> montre ventes/</a:t>
            </a:r>
            <a:r>
              <a:rPr lang="en-US" dirty="0" err="1"/>
              <a:t>cétégorie</a:t>
            </a:r>
            <a:r>
              <a:rPr lang="en-US" dirty="0"/>
              <a:t>/</a:t>
            </a:r>
            <a:r>
              <a:rPr lang="en-US" dirty="0" err="1"/>
              <a:t>mois</a:t>
            </a:r>
            <a:r>
              <a:rPr lang="en-US" dirty="0"/>
              <a:t>, </a:t>
            </a:r>
            <a:r>
              <a:rPr lang="en-US" dirty="0" err="1"/>
              <a:t>biens</a:t>
            </a:r>
            <a:r>
              <a:rPr lang="en-US" dirty="0"/>
              <a:t> de </a:t>
            </a:r>
            <a:r>
              <a:rPr lang="en-US" dirty="0" err="1"/>
              <a:t>conso</a:t>
            </a:r>
            <a:r>
              <a:rPr lang="en-US" dirty="0"/>
              <a:t> VERT, </a:t>
            </a:r>
            <a:r>
              <a:rPr lang="en-US" dirty="0" err="1"/>
              <a:t>nourriture</a:t>
            </a:r>
            <a:r>
              <a:rPr lang="en-US" dirty="0"/>
              <a:t> BLEU, high tech ROUGE</a:t>
            </a:r>
          </a:p>
          <a:p>
            <a:r>
              <a:rPr lang="en-US" sz="1200" dirty="0"/>
              <a:t>VERT </a:t>
            </a:r>
            <a:r>
              <a:rPr lang="en-US" sz="1200" dirty="0" err="1"/>
              <a:t>maintien</a:t>
            </a:r>
            <a:r>
              <a:rPr lang="en-US" sz="1200" dirty="0"/>
              <a:t>, BLEU augmentation progressive, ROUGE diminution </a:t>
            </a:r>
            <a:r>
              <a:rPr lang="en-US" sz="1200" dirty="0" err="1"/>
              <a:t>puis</a:t>
            </a:r>
            <a:r>
              <a:rPr lang="en-US" sz="1200" dirty="0"/>
              <a:t> </a:t>
            </a:r>
            <a:r>
              <a:rPr lang="en-US" sz="1200" dirty="0" err="1"/>
              <a:t>disparition</a:t>
            </a:r>
            <a:r>
              <a:rPr lang="en-US" sz="1200" dirty="0"/>
              <a:t> </a:t>
            </a:r>
            <a:r>
              <a:rPr lang="en-US" sz="1200" dirty="0" err="1"/>
              <a:t>liée</a:t>
            </a:r>
            <a:r>
              <a:rPr lang="en-US" sz="1200" dirty="0"/>
              <a:t> à </a:t>
            </a:r>
            <a:r>
              <a:rPr lang="en-US" sz="1200" dirty="0" err="1"/>
              <a:t>l’arrêt</a:t>
            </a:r>
            <a:r>
              <a:rPr lang="en-US" sz="1200" dirty="0"/>
              <a:t> segment high tech</a:t>
            </a:r>
          </a:p>
          <a:p>
            <a:r>
              <a:rPr lang="en-US" sz="1200" dirty="0"/>
              <a:t>Ce </a:t>
            </a:r>
            <a:r>
              <a:rPr lang="en-US" sz="1200" dirty="0" err="1"/>
              <a:t>graphique</a:t>
            </a:r>
            <a:r>
              <a:rPr lang="en-US" sz="1200" dirty="0"/>
              <a:t> </a:t>
            </a:r>
            <a:r>
              <a:rPr lang="en-US" sz="1200" dirty="0" err="1"/>
              <a:t>répond</a:t>
            </a:r>
            <a:r>
              <a:rPr lang="en-US" sz="1200" dirty="0"/>
              <a:t> à </a:t>
            </a:r>
            <a:r>
              <a:rPr lang="en-US" sz="1200" dirty="0" err="1"/>
              <a:t>lui</a:t>
            </a:r>
            <a:r>
              <a:rPr lang="en-US" sz="1200" dirty="0"/>
              <a:t> seul aux 2 questions, la </a:t>
            </a:r>
            <a:r>
              <a:rPr lang="en-US" sz="1200" dirty="0" err="1"/>
              <a:t>légère</a:t>
            </a:r>
            <a:r>
              <a:rPr lang="en-US" sz="1200" dirty="0"/>
              <a:t> </a:t>
            </a:r>
            <a:r>
              <a:rPr lang="en-US" sz="1200" dirty="0" err="1"/>
              <a:t>baisse</a:t>
            </a:r>
            <a:r>
              <a:rPr lang="en-US" sz="1200" dirty="0"/>
              <a:t> du chiffre </a:t>
            </a:r>
            <a:r>
              <a:rPr lang="en-US" sz="1200" dirty="0" err="1"/>
              <a:t>d’affaire</a:t>
            </a:r>
            <a:r>
              <a:rPr lang="en-US" sz="1200" dirty="0"/>
              <a:t> </a:t>
            </a:r>
            <a:r>
              <a:rPr lang="en-US" sz="1200" dirty="0" err="1"/>
              <a:t>dûe</a:t>
            </a:r>
            <a:r>
              <a:rPr lang="en-US" sz="1200" dirty="0"/>
              <a:t> à </a:t>
            </a:r>
            <a:r>
              <a:rPr lang="en-US" sz="1200" dirty="0" err="1"/>
              <a:t>une</a:t>
            </a:r>
            <a:r>
              <a:rPr lang="en-US" sz="1200" dirty="0"/>
              <a:t> </a:t>
            </a:r>
            <a:r>
              <a:rPr lang="en-US" sz="1200" dirty="0" err="1"/>
              <a:t>légère</a:t>
            </a:r>
            <a:r>
              <a:rPr lang="en-US" sz="1200" dirty="0"/>
              <a:t> </a:t>
            </a:r>
            <a:r>
              <a:rPr lang="en-US" sz="1200" dirty="0" err="1"/>
              <a:t>surprédiction</a:t>
            </a:r>
            <a:r>
              <a:rPr lang="en-US" sz="1200" dirty="0"/>
              <a:t> de </a:t>
            </a:r>
            <a:r>
              <a:rPr lang="en-US" sz="1200" dirty="0" err="1"/>
              <a:t>l’augmentation</a:t>
            </a:r>
            <a:r>
              <a:rPr lang="en-US" sz="1200" dirty="0"/>
              <a:t> des ventes de </a:t>
            </a:r>
            <a:r>
              <a:rPr lang="en-US" sz="1200" dirty="0" err="1"/>
              <a:t>nourriture</a:t>
            </a:r>
            <a:r>
              <a:rPr lang="en-US" sz="1200" dirty="0"/>
              <a:t>, qui sera </a:t>
            </a:r>
            <a:r>
              <a:rPr lang="en-US" sz="1200" dirty="0" err="1"/>
              <a:t>compensée</a:t>
            </a:r>
            <a:r>
              <a:rPr lang="en-US" sz="1200" dirty="0"/>
              <a:t> </a:t>
            </a:r>
            <a:r>
              <a:rPr lang="en-US" sz="1200" dirty="0" err="1"/>
              <a:t>dès</a:t>
            </a:r>
            <a:r>
              <a:rPr lang="en-US" sz="1200" dirty="0"/>
              <a:t> le </a:t>
            </a:r>
            <a:r>
              <a:rPr lang="en-US" sz="1200" dirty="0" err="1"/>
              <a:t>mois</a:t>
            </a:r>
            <a:r>
              <a:rPr lang="en-US" sz="1200" dirty="0"/>
              <a:t> prochain.</a:t>
            </a:r>
          </a:p>
          <a:p>
            <a:r>
              <a:rPr lang="en-US" sz="1200" dirty="0"/>
              <a:t>Cette presentation </a:t>
            </a:r>
            <a:r>
              <a:rPr lang="en-US" sz="1200" dirty="0" err="1"/>
              <a:t>n’est</a:t>
            </a:r>
            <a:r>
              <a:rPr lang="en-US" sz="1200" dirty="0"/>
              <a:t> </a:t>
            </a:r>
            <a:r>
              <a:rPr lang="en-US" sz="1200" dirty="0" err="1"/>
              <a:t>néanmoins</a:t>
            </a:r>
            <a:r>
              <a:rPr lang="en-US" sz="1200" dirty="0"/>
              <a:t> pas </a:t>
            </a:r>
            <a:r>
              <a:rPr lang="en-US" sz="1200" dirty="0" err="1"/>
              <a:t>terminée</a:t>
            </a:r>
            <a:r>
              <a:rPr lang="en-US" sz="1200" dirty="0"/>
              <a:t>, car </a:t>
            </a:r>
            <a:r>
              <a:rPr lang="en-US" sz="1200" dirty="0" err="1"/>
              <a:t>cette</a:t>
            </a:r>
            <a:r>
              <a:rPr lang="en-US" sz="1200" dirty="0"/>
              <a:t> </a:t>
            </a:r>
            <a:r>
              <a:rPr lang="en-US" sz="1200" dirty="0" err="1"/>
              <a:t>analyse</a:t>
            </a:r>
            <a:r>
              <a:rPr lang="en-US" sz="1200" dirty="0"/>
              <a:t> </a:t>
            </a:r>
            <a:r>
              <a:rPr lang="en-US" sz="1200" dirty="0" err="1"/>
              <a:t>m’a</a:t>
            </a:r>
            <a:r>
              <a:rPr lang="en-US" sz="1200" dirty="0"/>
              <a:t> </a:t>
            </a:r>
            <a:r>
              <a:rPr lang="en-US" sz="1200" dirty="0" err="1"/>
              <a:t>permis</a:t>
            </a:r>
            <a:r>
              <a:rPr lang="en-US" sz="1200" dirty="0"/>
              <a:t> de </a:t>
            </a:r>
            <a:r>
              <a:rPr lang="en-US" sz="1200" dirty="0" err="1"/>
              <a:t>mettre</a:t>
            </a:r>
            <a:r>
              <a:rPr lang="en-US" sz="1200" dirty="0"/>
              <a:t> </a:t>
            </a:r>
            <a:r>
              <a:rPr lang="en-US" sz="1200" dirty="0" err="1"/>
              <a:t>en</a:t>
            </a:r>
            <a:r>
              <a:rPr lang="en-US" sz="1200" dirty="0"/>
              <a:t> lumière un </a:t>
            </a:r>
            <a:r>
              <a:rPr lang="en-US" sz="1200" dirty="0" err="1"/>
              <a:t>potentiel</a:t>
            </a:r>
            <a:r>
              <a:rPr lang="en-US" sz="1200" dirty="0"/>
              <a:t> non </a:t>
            </a:r>
            <a:r>
              <a:rPr lang="en-US" sz="1200" dirty="0" err="1"/>
              <a:t>exploité</a:t>
            </a:r>
            <a:endParaRPr lang="en-US" dirty="0"/>
          </a:p>
        </p:txBody>
      </p:sp>
      <p:sp>
        <p:nvSpPr>
          <p:cNvPr id="4" name="Slide Number Placeholder 3"/>
          <p:cNvSpPr>
            <a:spLocks noGrp="1"/>
          </p:cNvSpPr>
          <p:nvPr>
            <p:ph type="sldNum" sz="quarter" idx="5"/>
          </p:nvPr>
        </p:nvSpPr>
        <p:spPr/>
        <p:txBody>
          <a:bodyPr/>
          <a:lstStyle/>
          <a:p>
            <a:fld id="{DA4DE022-5AEA-46FE-AF98-997327ACA93D}" type="slidenum">
              <a:rPr lang="en-US" smtClean="0"/>
              <a:t>3</a:t>
            </a:fld>
            <a:endParaRPr lang="en-US"/>
          </a:p>
        </p:txBody>
      </p:sp>
    </p:spTree>
    <p:extLst>
      <p:ext uri="{BB962C8B-B14F-4D97-AF65-F5344CB8AC3E}">
        <p14:creationId xmlns:p14="http://schemas.microsoft.com/office/powerpoint/2010/main" val="3944148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Graphique</a:t>
            </a:r>
            <a:r>
              <a:rPr lang="en-US" dirty="0"/>
              <a:t> montre ventes </a:t>
            </a:r>
            <a:r>
              <a:rPr lang="en-US" dirty="0" err="1"/>
              <a:t>cette</a:t>
            </a:r>
            <a:r>
              <a:rPr lang="en-US" dirty="0"/>
              <a:t> </a:t>
            </a:r>
            <a:r>
              <a:rPr lang="en-US" dirty="0" err="1"/>
              <a:t>fois</a:t>
            </a:r>
            <a:r>
              <a:rPr lang="en-US" dirty="0"/>
              <a:t>-ci BLEU et </a:t>
            </a:r>
            <a:r>
              <a:rPr lang="en-US" dirty="0" err="1"/>
              <a:t>visites</a:t>
            </a:r>
            <a:r>
              <a:rPr lang="en-US" dirty="0"/>
              <a:t> VERT</a:t>
            </a:r>
          </a:p>
          <a:p>
            <a:r>
              <a:rPr lang="en-US" dirty="0" err="1"/>
              <a:t>Évoqué</a:t>
            </a:r>
            <a:r>
              <a:rPr lang="en-US" dirty="0"/>
              <a:t> </a:t>
            </a:r>
            <a:r>
              <a:rPr lang="en-US" dirty="0" err="1"/>
              <a:t>quelques</a:t>
            </a:r>
            <a:r>
              <a:rPr lang="en-US" dirty="0"/>
              <a:t> minutes Forte acceleration ventes </a:t>
            </a:r>
            <a:r>
              <a:rPr lang="en-US" dirty="0" err="1"/>
              <a:t>depuis</a:t>
            </a:r>
            <a:r>
              <a:rPr lang="en-US" dirty="0"/>
              <a:t> Octobre, </a:t>
            </a:r>
            <a:r>
              <a:rPr lang="en-US" dirty="0" err="1"/>
              <a:t>exponentielle</a:t>
            </a:r>
            <a:r>
              <a:rPr lang="en-US" dirty="0"/>
              <a:t> </a:t>
            </a:r>
            <a:r>
              <a:rPr lang="en-US" dirty="0" err="1"/>
              <a:t>depuis</a:t>
            </a:r>
            <a:r>
              <a:rPr lang="en-US" dirty="0"/>
              <a:t> </a:t>
            </a:r>
            <a:r>
              <a:rPr lang="en-US" dirty="0" err="1"/>
              <a:t>décembre</a:t>
            </a:r>
            <a:br>
              <a:rPr lang="en-US" dirty="0"/>
            </a:br>
            <a:r>
              <a:rPr lang="en-US" dirty="0" err="1"/>
              <a:t>Comparé</a:t>
            </a:r>
            <a:r>
              <a:rPr lang="en-US" dirty="0"/>
              <a:t> à </a:t>
            </a:r>
            <a:r>
              <a:rPr lang="en-US" dirty="0" err="1"/>
              <a:t>ça</a:t>
            </a:r>
            <a:r>
              <a:rPr lang="en-US" dirty="0"/>
              <a:t>, </a:t>
            </a:r>
            <a:r>
              <a:rPr lang="en-US" dirty="0" err="1"/>
              <a:t>visites</a:t>
            </a:r>
            <a:r>
              <a:rPr lang="en-US" dirty="0"/>
              <a:t> EX-PO-NEN-TIELLES. </a:t>
            </a:r>
            <a:r>
              <a:rPr lang="en-US" dirty="0" err="1"/>
              <a:t>Pourquoi</a:t>
            </a:r>
            <a:r>
              <a:rPr lang="en-US" dirty="0"/>
              <a:t> impact </a:t>
            </a:r>
            <a:r>
              <a:rPr lang="en-US" dirty="0" err="1"/>
              <a:t>négligeable</a:t>
            </a:r>
            <a:r>
              <a:rPr lang="en-US" dirty="0"/>
              <a:t> de augmentation </a:t>
            </a:r>
            <a:r>
              <a:rPr lang="en-US" dirty="0" err="1"/>
              <a:t>visite</a:t>
            </a:r>
            <a:r>
              <a:rPr lang="en-US" dirty="0"/>
              <a:t> sur ventes?</a:t>
            </a:r>
          </a:p>
        </p:txBody>
      </p:sp>
      <p:sp>
        <p:nvSpPr>
          <p:cNvPr id="4" name="Slide Number Placeholder 3"/>
          <p:cNvSpPr>
            <a:spLocks noGrp="1"/>
          </p:cNvSpPr>
          <p:nvPr>
            <p:ph type="sldNum" sz="quarter" idx="5"/>
          </p:nvPr>
        </p:nvSpPr>
        <p:spPr/>
        <p:txBody>
          <a:bodyPr/>
          <a:lstStyle/>
          <a:p>
            <a:fld id="{DA4DE022-5AEA-46FE-AF98-997327ACA93D}" type="slidenum">
              <a:rPr lang="en-US" smtClean="0"/>
              <a:t>4</a:t>
            </a:fld>
            <a:endParaRPr lang="en-US"/>
          </a:p>
        </p:txBody>
      </p:sp>
    </p:spTree>
    <p:extLst>
      <p:ext uri="{BB962C8B-B14F-4D97-AF65-F5344CB8AC3E}">
        <p14:creationId xmlns:p14="http://schemas.microsoft.com/office/powerpoint/2010/main" val="4260270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Là</a:t>
            </a:r>
            <a:r>
              <a:rPr lang="en-US" dirty="0"/>
              <a:t> </a:t>
            </a:r>
            <a:r>
              <a:rPr lang="en-US" dirty="0" err="1"/>
              <a:t>ou</a:t>
            </a:r>
            <a:r>
              <a:rPr lang="en-US" dirty="0"/>
              <a:t> </a:t>
            </a:r>
            <a:r>
              <a:rPr lang="en-US" dirty="0" err="1"/>
              <a:t>utilisateur</a:t>
            </a:r>
            <a:r>
              <a:rPr lang="en-US" dirty="0"/>
              <a:t> entre </a:t>
            </a:r>
            <a:r>
              <a:rPr lang="en-US" dirty="0" err="1"/>
              <a:t>moins</a:t>
            </a:r>
            <a:r>
              <a:rPr lang="en-US" dirty="0"/>
              <a:t> 7 et </a:t>
            </a:r>
            <a:r>
              <a:rPr lang="en-US" dirty="0" err="1"/>
              <a:t>moins</a:t>
            </a:r>
            <a:r>
              <a:rPr lang="en-US" dirty="0"/>
              <a:t> 8 pour vente, plus 4 et 10 !!!</a:t>
            </a:r>
          </a:p>
          <a:p>
            <a:r>
              <a:rPr lang="en-US" dirty="0"/>
              <a:t>Bague verte </a:t>
            </a:r>
            <a:r>
              <a:rPr lang="en-US" dirty="0" err="1"/>
              <a:t>médiane</a:t>
            </a:r>
            <a:r>
              <a:rPr lang="en-US" dirty="0"/>
              <a:t> </a:t>
            </a:r>
            <a:r>
              <a:rPr lang="en-US" dirty="0" err="1"/>
              <a:t>diminue</a:t>
            </a:r>
            <a:r>
              <a:rPr lang="en-US" dirty="0"/>
              <a:t> progressive, </a:t>
            </a:r>
            <a:r>
              <a:rPr lang="en-US" dirty="0" err="1"/>
              <a:t>donc</a:t>
            </a:r>
            <a:r>
              <a:rPr lang="en-US" dirty="0"/>
              <a:t> Coeur clients habitué à catalogue &amp; site</a:t>
            </a:r>
          </a:p>
          <a:p>
            <a:r>
              <a:rPr lang="en-US" dirty="0" err="1"/>
              <a:t>Même</a:t>
            </a:r>
            <a:r>
              <a:rPr lang="en-US" dirty="0"/>
              <a:t> chose pour les rectangles, Quartile 1 et 3, </a:t>
            </a:r>
            <a:r>
              <a:rPr lang="en-US" dirty="0" err="1"/>
              <a:t>une</a:t>
            </a:r>
            <a:r>
              <a:rPr lang="en-US" dirty="0"/>
              <a:t> masse de clients fait sessions </a:t>
            </a:r>
            <a:r>
              <a:rPr lang="en-US" dirty="0" err="1"/>
              <a:t>rapides</a:t>
            </a:r>
            <a:endParaRPr lang="en-US" dirty="0"/>
          </a:p>
          <a:p>
            <a:r>
              <a:rPr lang="en-US" dirty="0" err="1"/>
              <a:t>Problématique</a:t>
            </a:r>
            <a:r>
              <a:rPr lang="en-US" dirty="0"/>
              <a:t>, les traits ! </a:t>
            </a:r>
            <a:r>
              <a:rPr lang="en-US" dirty="0" err="1"/>
              <a:t>Démontre</a:t>
            </a:r>
            <a:r>
              <a:rPr lang="en-US" dirty="0"/>
              <a:t> </a:t>
            </a:r>
            <a:r>
              <a:rPr lang="fr-FR" dirty="0"/>
              <a:t>les nouveaux utilisateurs sont "perdus" </a:t>
            </a:r>
            <a:endParaRPr lang="en-US" dirty="0"/>
          </a:p>
        </p:txBody>
      </p:sp>
      <p:sp>
        <p:nvSpPr>
          <p:cNvPr id="4" name="Slide Number Placeholder 3"/>
          <p:cNvSpPr>
            <a:spLocks noGrp="1"/>
          </p:cNvSpPr>
          <p:nvPr>
            <p:ph type="sldNum" sz="quarter" idx="5"/>
          </p:nvPr>
        </p:nvSpPr>
        <p:spPr/>
        <p:txBody>
          <a:bodyPr/>
          <a:lstStyle/>
          <a:p>
            <a:fld id="{DA4DE022-5AEA-46FE-AF98-997327ACA93D}" type="slidenum">
              <a:rPr lang="en-US" smtClean="0"/>
              <a:t>5</a:t>
            </a:fld>
            <a:endParaRPr lang="en-US"/>
          </a:p>
        </p:txBody>
      </p:sp>
    </p:spTree>
    <p:extLst>
      <p:ext uri="{BB962C8B-B14F-4D97-AF65-F5344CB8AC3E}">
        <p14:creationId xmlns:p14="http://schemas.microsoft.com/office/powerpoint/2010/main" val="265148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En conséquence le </a:t>
            </a:r>
            <a:r>
              <a:rPr lang="fr-FR" dirty="0"/>
              <a:t>taux de conversion chute.</a:t>
            </a:r>
            <a:br>
              <a:rPr lang="fr-FR" dirty="0"/>
            </a:br>
            <a:r>
              <a:rPr lang="fr-FR" dirty="0"/>
              <a:t>Même si ce phénomène a un impact très négligeable sur le CA pour l’instant, il peut potentiellement expliquer la légère </a:t>
            </a:r>
            <a:r>
              <a:rPr lang="fr-FR" dirty="0" err="1"/>
              <a:t>surprédiction</a:t>
            </a:r>
            <a:r>
              <a:rPr lang="fr-FR" dirty="0"/>
              <a:t> vue en première partie, et est indicateur d’une faiblesse, soit du côté SEO (on attire des utilisateurs qui ne sont pas intéressés), soit du côté design du site (nos nouveaux utilisateurs n’arrivent pas à trouver ce qu’ils cherchent), ces pistes seront à explorer par les départements appropriés</a:t>
            </a:r>
            <a:endParaRPr lang="en-US" dirty="0"/>
          </a:p>
        </p:txBody>
      </p:sp>
      <p:sp>
        <p:nvSpPr>
          <p:cNvPr id="4" name="Slide Number Placeholder 3"/>
          <p:cNvSpPr>
            <a:spLocks noGrp="1"/>
          </p:cNvSpPr>
          <p:nvPr>
            <p:ph type="sldNum" sz="quarter" idx="5"/>
          </p:nvPr>
        </p:nvSpPr>
        <p:spPr/>
        <p:txBody>
          <a:bodyPr/>
          <a:lstStyle/>
          <a:p>
            <a:fld id="{DA4DE022-5AEA-46FE-AF98-997327ACA93D}" type="slidenum">
              <a:rPr lang="en-US" smtClean="0"/>
              <a:t>6</a:t>
            </a:fld>
            <a:endParaRPr lang="en-US"/>
          </a:p>
        </p:txBody>
      </p:sp>
    </p:spTree>
    <p:extLst>
      <p:ext uri="{BB962C8B-B14F-4D97-AF65-F5344CB8AC3E}">
        <p14:creationId xmlns:p14="http://schemas.microsoft.com/office/powerpoint/2010/main" val="1968680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1EDCB-91B3-1ECF-C4BE-8488F6DF43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BFE737-2E13-CA70-14A5-19AEA4D088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7C16F0-3D75-3987-80CD-1AAA5789794C}"/>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0E96C618-9613-4B21-3DE4-52DAE44A4F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40F6B7-EEA9-4218-B403-00B93B5FE2A7}"/>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202947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2CB30-19EC-4D2B-0783-7F703C9FD5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913EF6-EE3E-97AF-CAB6-77DD009D8F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7A7876-66F6-FB89-59CA-678BC7D98086}"/>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C0E78837-DE7D-9BFB-B948-0214947644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EDABC-B154-13A6-17A1-2A4EF5A30563}"/>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2606870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38C58-D5ED-04DD-A5E2-306C3F9AAC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344D6F-DB3B-0B78-0D6C-033B4DC9D7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6D8FE3-94CE-791B-FE07-D29C2759C79D}"/>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33D03893-5552-015C-1217-3AB80D39A9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473467-4C2F-43F0-4C67-9EB72BF47597}"/>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848617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C2EF-4665-46A4-C4FF-8D409194E8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4C873E-95BF-4F5D-83B3-3F7899AB24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3BA0D4-C10E-F2FE-7387-05CE62A5C4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92C7B2-2A78-7FFB-10C8-DB9A2028A8E4}"/>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6" name="Footer Placeholder 5">
            <a:extLst>
              <a:ext uri="{FF2B5EF4-FFF2-40B4-BE49-F238E27FC236}">
                <a16:creationId xmlns:a16="http://schemas.microsoft.com/office/drawing/2014/main" id="{2E214532-ABF9-0202-D816-77009A0809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00A32C-D653-C40D-109C-F6675906B263}"/>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360234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B925-2FAE-FBFF-8B83-544C49C1BB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6F8DAB-22AC-E9CF-0C61-2E3AE85F82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0684D-4B5D-AC6B-B845-FCED24678A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928DE5-90D1-8284-DA7C-27E0D2E1D3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5A289F-CDB4-50B2-0089-200A05910B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EAE12C-F978-12C6-9A37-69CB29D77A6D}"/>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8" name="Footer Placeholder 7">
            <a:extLst>
              <a:ext uri="{FF2B5EF4-FFF2-40B4-BE49-F238E27FC236}">
                <a16:creationId xmlns:a16="http://schemas.microsoft.com/office/drawing/2014/main" id="{2C20C5D9-85FE-F4F5-1165-033C13F213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36F75B-1849-6476-9DDA-94E2CD3024AD}"/>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4186806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3B4D-D090-AC71-ED6E-2C9DB98913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1E9AAF-7180-5225-BCAF-7FD3F113D413}"/>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4" name="Footer Placeholder 3">
            <a:extLst>
              <a:ext uri="{FF2B5EF4-FFF2-40B4-BE49-F238E27FC236}">
                <a16:creationId xmlns:a16="http://schemas.microsoft.com/office/drawing/2014/main" id="{11C69860-C288-182A-A33D-A810F1AA2F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BD57FC-5FE4-B24D-3667-C711EA833690}"/>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3594491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E8A886-BCAA-119C-D30C-275D3824FCA4}"/>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3" name="Footer Placeholder 2">
            <a:extLst>
              <a:ext uri="{FF2B5EF4-FFF2-40B4-BE49-F238E27FC236}">
                <a16:creationId xmlns:a16="http://schemas.microsoft.com/office/drawing/2014/main" id="{8F899193-F6F6-866A-1A32-32C73E1CA1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F83B58-6605-3704-8599-601A56256A63}"/>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1129034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5513-3EB8-2101-97BB-B6C7D7F23E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D60832-FD66-D0EF-4615-02554B444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C5E40A-93B5-E5DE-9EC9-0673F4E2D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9EE494-4958-BA38-6F9C-B62BD8DDB8CC}"/>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6" name="Footer Placeholder 5">
            <a:extLst>
              <a:ext uri="{FF2B5EF4-FFF2-40B4-BE49-F238E27FC236}">
                <a16:creationId xmlns:a16="http://schemas.microsoft.com/office/drawing/2014/main" id="{45A3DA5F-F6C1-E1BE-D8B3-8812281B5D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5C2A3-86D9-1774-5EAD-56BF5B878D21}"/>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3842759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CE7E9-FD5D-43B0-8855-CBDB4DD0F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D4D56D-0D42-ECF9-4281-62A7C6AA58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6BDD8-7383-83BB-E0F2-5BFBAA602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CAE0D-A683-6944-8575-650486E274EF}"/>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6" name="Footer Placeholder 5">
            <a:extLst>
              <a:ext uri="{FF2B5EF4-FFF2-40B4-BE49-F238E27FC236}">
                <a16:creationId xmlns:a16="http://schemas.microsoft.com/office/drawing/2014/main" id="{33905B30-9D44-F945-AE88-0146E8F13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5CA263-2753-B71C-D44B-6ABCF2324E9D}"/>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3479775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F812-1D03-8667-2A0F-19A6DD560C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D2C4A9-8DFA-0B42-9E04-7F98ACDABD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208537-3D5F-A295-1B44-568C0964F238}"/>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32C84AD0-6620-05B4-24F0-D9A775E42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95546-6A5C-577A-4A07-507688FF07AC}"/>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2817732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0934D-A56A-CACE-98F2-45AD446F11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77F069-469A-A8DB-2F8E-102B212E4F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ACFE73-4527-3A6F-CCA2-C59D9F8F1D9E}"/>
              </a:ext>
            </a:extLst>
          </p:cNvPr>
          <p:cNvSpPr>
            <a:spLocks noGrp="1"/>
          </p:cNvSpPr>
          <p:nvPr>
            <p:ph type="dt" sz="half" idx="10"/>
          </p:nvPr>
        </p:nvSpPr>
        <p:spPr/>
        <p:txBody>
          <a:body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36E4E0C3-DF61-716B-23BB-E8EEEB6703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9F3B3-DB11-E523-BA1D-DE5EE7B75711}"/>
              </a:ext>
            </a:extLst>
          </p:cNvPr>
          <p:cNvSpPr>
            <a:spLocks noGrp="1"/>
          </p:cNvSpPr>
          <p:nvPr>
            <p:ph type="sldNum" sz="quarter" idx="12"/>
          </p:nvPr>
        </p:nvSpPr>
        <p:spPr/>
        <p:txBody>
          <a:bodyPr/>
          <a:lstStyle/>
          <a:p>
            <a:fld id="{72DC0D4A-8B65-447F-9460-7B47BDDBE9CF}" type="slidenum">
              <a:rPr lang="en-US" smtClean="0"/>
              <a:t>‹#›</a:t>
            </a:fld>
            <a:endParaRPr lang="en-US"/>
          </a:p>
        </p:txBody>
      </p:sp>
    </p:spTree>
    <p:extLst>
      <p:ext uri="{BB962C8B-B14F-4D97-AF65-F5344CB8AC3E}">
        <p14:creationId xmlns:p14="http://schemas.microsoft.com/office/powerpoint/2010/main" val="2809223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949BE7-CF8D-2716-3186-C5F734551A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E838A9B-494D-94A6-4A40-B637450330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B12E3-E9B9-9EBD-1E29-4AC87039C7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4B51BB-A216-4085-B815-039D032FA4A3}" type="datetimeFigureOut">
              <a:rPr lang="en-US" smtClean="0"/>
              <a:t>2025-12-15</a:t>
            </a:fld>
            <a:endParaRPr lang="en-US"/>
          </a:p>
        </p:txBody>
      </p:sp>
      <p:sp>
        <p:nvSpPr>
          <p:cNvPr id="5" name="Footer Placeholder 4">
            <a:extLst>
              <a:ext uri="{FF2B5EF4-FFF2-40B4-BE49-F238E27FC236}">
                <a16:creationId xmlns:a16="http://schemas.microsoft.com/office/drawing/2014/main" id="{B8F29394-EC61-A0EB-CB30-5A4606EB2E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EB519C5-9AA1-2244-02BE-4290E107AE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DC0D4A-8B65-447F-9460-7B47BDDBE9CF}" type="slidenum">
              <a:rPr lang="en-US" smtClean="0"/>
              <a:t>‹#›</a:t>
            </a:fld>
            <a:endParaRPr lang="en-US"/>
          </a:p>
        </p:txBody>
      </p:sp>
    </p:spTree>
    <p:extLst>
      <p:ext uri="{BB962C8B-B14F-4D97-AF65-F5344CB8AC3E}">
        <p14:creationId xmlns:p14="http://schemas.microsoft.com/office/powerpoint/2010/main" val="2305134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A4371-5D5A-73D0-3D59-1B4FDA9F9445}"/>
              </a:ext>
            </a:extLst>
          </p:cNvPr>
          <p:cNvSpPr>
            <a:spLocks noGrp="1"/>
          </p:cNvSpPr>
          <p:nvPr>
            <p:ph type="ctrTitle"/>
          </p:nvPr>
        </p:nvSpPr>
        <p:spPr/>
        <p:txBody>
          <a:bodyPr/>
          <a:lstStyle/>
          <a:p>
            <a:r>
              <a:rPr lang="en-US" dirty="0"/>
              <a:t>Rapport marketing </a:t>
            </a:r>
            <a:r>
              <a:rPr lang="en-US" dirty="0" err="1"/>
              <a:t>mensuel</a:t>
            </a:r>
            <a:endParaRPr lang="en-US" dirty="0"/>
          </a:p>
        </p:txBody>
      </p:sp>
      <p:sp>
        <p:nvSpPr>
          <p:cNvPr id="3" name="Subtitle 2">
            <a:extLst>
              <a:ext uri="{FF2B5EF4-FFF2-40B4-BE49-F238E27FC236}">
                <a16:creationId xmlns:a16="http://schemas.microsoft.com/office/drawing/2014/main" id="{D0AB65EB-212D-D6FE-BB63-9C5A14218B63}"/>
              </a:ext>
            </a:extLst>
          </p:cNvPr>
          <p:cNvSpPr>
            <a:spLocks noGrp="1"/>
          </p:cNvSpPr>
          <p:nvPr>
            <p:ph type="subTitle" idx="1"/>
          </p:nvPr>
        </p:nvSpPr>
        <p:spPr/>
        <p:txBody>
          <a:bodyPr/>
          <a:lstStyle/>
          <a:p>
            <a:r>
              <a:rPr lang="en-US" dirty="0"/>
              <a:t>Le Grand Marché</a:t>
            </a:r>
          </a:p>
        </p:txBody>
      </p:sp>
    </p:spTree>
    <p:extLst>
      <p:ext uri="{BB962C8B-B14F-4D97-AF65-F5344CB8AC3E}">
        <p14:creationId xmlns:p14="http://schemas.microsoft.com/office/powerpoint/2010/main" val="108497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A05E1-FED5-C8AB-B709-FE1BB96A5E0E}"/>
              </a:ext>
            </a:extLst>
          </p:cNvPr>
          <p:cNvSpPr>
            <a:spLocks noGrp="1"/>
          </p:cNvSpPr>
          <p:nvPr>
            <p:ph type="title"/>
          </p:nvPr>
        </p:nvSpPr>
        <p:spPr/>
        <p:txBody>
          <a:bodyPr>
            <a:normAutofit/>
          </a:bodyPr>
          <a:lstStyle/>
          <a:p>
            <a:pPr algn="ctr"/>
            <a:r>
              <a:rPr lang="en-US" sz="2800" dirty="0" err="1"/>
              <a:t>Baisse</a:t>
            </a:r>
            <a:r>
              <a:rPr lang="en-US" sz="2800" dirty="0"/>
              <a:t> du CA malgré </a:t>
            </a:r>
            <a:r>
              <a:rPr lang="en-US" sz="2800" dirty="0" err="1"/>
              <a:t>une</a:t>
            </a:r>
            <a:r>
              <a:rPr lang="en-US" sz="2800" dirty="0"/>
              <a:t> augmentation </a:t>
            </a:r>
            <a:r>
              <a:rPr lang="en-US" sz="2800" dirty="0" err="1"/>
              <a:t>exponentielle</a:t>
            </a:r>
            <a:r>
              <a:rPr lang="en-US" sz="2800" dirty="0"/>
              <a:t> des ventes</a:t>
            </a:r>
          </a:p>
        </p:txBody>
      </p:sp>
      <p:pic>
        <p:nvPicPr>
          <p:cNvPr id="5" name="Content Placeholder 4" descr="A graph with a green line and a blue line&#10;&#10;AI-generated content may be incorrect.">
            <a:extLst>
              <a:ext uri="{FF2B5EF4-FFF2-40B4-BE49-F238E27FC236}">
                <a16:creationId xmlns:a16="http://schemas.microsoft.com/office/drawing/2014/main" id="{30ABB744-E139-63A0-B50D-5033D929ED0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98712" y="1825625"/>
            <a:ext cx="5594576" cy="4351338"/>
          </a:xfrm>
        </p:spPr>
      </p:pic>
    </p:spTree>
    <p:extLst>
      <p:ext uri="{BB962C8B-B14F-4D97-AF65-F5344CB8AC3E}">
        <p14:creationId xmlns:p14="http://schemas.microsoft.com/office/powerpoint/2010/main" val="1716177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A5AC6-C286-C935-DE65-A38B81501592}"/>
              </a:ext>
            </a:extLst>
          </p:cNvPr>
          <p:cNvSpPr>
            <a:spLocks noGrp="1"/>
          </p:cNvSpPr>
          <p:nvPr>
            <p:ph type="title"/>
          </p:nvPr>
        </p:nvSpPr>
        <p:spPr/>
        <p:txBody>
          <a:bodyPr>
            <a:normAutofit/>
          </a:bodyPr>
          <a:lstStyle/>
          <a:p>
            <a:pPr algn="ctr"/>
            <a:r>
              <a:rPr lang="en-US" sz="2800" dirty="0"/>
              <a:t>Augmentation des ventes de </a:t>
            </a:r>
            <a:r>
              <a:rPr lang="en-US" sz="2800" dirty="0" err="1"/>
              <a:t>nourriture</a:t>
            </a:r>
            <a:r>
              <a:rPr lang="en-US" sz="2800" dirty="0"/>
              <a:t> </a:t>
            </a:r>
            <a:r>
              <a:rPr lang="en-US" sz="2800" dirty="0" err="1"/>
              <a:t>insuffisante</a:t>
            </a:r>
            <a:r>
              <a:rPr lang="en-US" sz="2800" dirty="0"/>
              <a:t> à </a:t>
            </a:r>
            <a:r>
              <a:rPr lang="en-US" sz="2800" dirty="0" err="1"/>
              <a:t>compenser</a:t>
            </a:r>
            <a:r>
              <a:rPr lang="en-US" sz="2800" dirty="0"/>
              <a:t> </a:t>
            </a:r>
            <a:r>
              <a:rPr lang="en-US" sz="2800" dirty="0" err="1"/>
              <a:t>l’abandon</a:t>
            </a:r>
            <a:r>
              <a:rPr lang="en-US" sz="2800" dirty="0"/>
              <a:t> du </a:t>
            </a:r>
            <a:r>
              <a:rPr lang="en-US" sz="2800" dirty="0" err="1"/>
              <a:t>secteur</a:t>
            </a:r>
            <a:r>
              <a:rPr lang="en-US" sz="2800" dirty="0"/>
              <a:t> high-tech pour </a:t>
            </a:r>
            <a:r>
              <a:rPr lang="en-US" sz="2800" dirty="0" err="1"/>
              <a:t>l’instant</a:t>
            </a:r>
            <a:endParaRPr lang="en-US" sz="2800" dirty="0"/>
          </a:p>
        </p:txBody>
      </p:sp>
      <p:pic>
        <p:nvPicPr>
          <p:cNvPr id="5" name="Content Placeholder 4" descr="A graph of a bar chart&#10;&#10;AI-generated content may be incorrect.">
            <a:extLst>
              <a:ext uri="{FF2B5EF4-FFF2-40B4-BE49-F238E27FC236}">
                <a16:creationId xmlns:a16="http://schemas.microsoft.com/office/drawing/2014/main" id="{59E0BAC6-50BE-37FC-783E-67DF7E178E3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98712" y="1825625"/>
            <a:ext cx="5594576" cy="4351338"/>
          </a:xfrm>
        </p:spPr>
      </p:pic>
    </p:spTree>
    <p:extLst>
      <p:ext uri="{BB962C8B-B14F-4D97-AF65-F5344CB8AC3E}">
        <p14:creationId xmlns:p14="http://schemas.microsoft.com/office/powerpoint/2010/main" val="1856195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51C40-D30F-A4E4-57C0-775524A703B2}"/>
              </a:ext>
            </a:extLst>
          </p:cNvPr>
          <p:cNvSpPr>
            <a:spLocks noGrp="1"/>
          </p:cNvSpPr>
          <p:nvPr>
            <p:ph type="title"/>
          </p:nvPr>
        </p:nvSpPr>
        <p:spPr/>
        <p:txBody>
          <a:bodyPr>
            <a:normAutofit/>
          </a:bodyPr>
          <a:lstStyle/>
          <a:p>
            <a:pPr algn="ctr"/>
            <a:r>
              <a:rPr lang="en-US" sz="2800" dirty="0"/>
              <a:t>Augmentation </a:t>
            </a:r>
            <a:r>
              <a:rPr lang="en-US" sz="2800" dirty="0" err="1"/>
              <a:t>exponentielle</a:t>
            </a:r>
            <a:r>
              <a:rPr lang="en-US" sz="2800" dirty="0"/>
              <a:t> des </a:t>
            </a:r>
            <a:r>
              <a:rPr lang="en-US" sz="2800" dirty="0" err="1"/>
              <a:t>visites</a:t>
            </a:r>
            <a:r>
              <a:rPr lang="en-US" sz="2800" dirty="0"/>
              <a:t> </a:t>
            </a:r>
            <a:r>
              <a:rPr lang="en-US" sz="2800" dirty="0" err="1"/>
              <a:t>comparées</a:t>
            </a:r>
            <a:r>
              <a:rPr lang="en-US" sz="2800" dirty="0"/>
              <a:t> aux ventes </a:t>
            </a:r>
            <a:r>
              <a:rPr lang="en-US" sz="2800" dirty="0" err="1"/>
              <a:t>elles-même</a:t>
            </a:r>
            <a:r>
              <a:rPr lang="en-US" sz="2800" dirty="0"/>
              <a:t> </a:t>
            </a:r>
            <a:r>
              <a:rPr lang="en-US" sz="2800" dirty="0" err="1"/>
              <a:t>exponentielles</a:t>
            </a:r>
            <a:endParaRPr lang="en-US" sz="2800" dirty="0"/>
          </a:p>
        </p:txBody>
      </p:sp>
      <p:pic>
        <p:nvPicPr>
          <p:cNvPr id="5" name="Content Placeholder 4" descr="A graph with a green line and a blue line&#10;&#10;AI-generated content may be incorrect.">
            <a:extLst>
              <a:ext uri="{FF2B5EF4-FFF2-40B4-BE49-F238E27FC236}">
                <a16:creationId xmlns:a16="http://schemas.microsoft.com/office/drawing/2014/main" id="{213B6B3C-3284-F680-E891-561A1CB8684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98712" y="1825625"/>
            <a:ext cx="5594576" cy="4351338"/>
          </a:xfrm>
        </p:spPr>
      </p:pic>
    </p:spTree>
    <p:extLst>
      <p:ext uri="{BB962C8B-B14F-4D97-AF65-F5344CB8AC3E}">
        <p14:creationId xmlns:p14="http://schemas.microsoft.com/office/powerpoint/2010/main" val="2565893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836D-9EE9-7939-F295-B2C6A5F44FC3}"/>
              </a:ext>
            </a:extLst>
          </p:cNvPr>
          <p:cNvSpPr>
            <a:spLocks noGrp="1"/>
          </p:cNvSpPr>
          <p:nvPr>
            <p:ph type="title"/>
          </p:nvPr>
        </p:nvSpPr>
        <p:spPr/>
        <p:txBody>
          <a:bodyPr>
            <a:normAutofit/>
          </a:bodyPr>
          <a:lstStyle/>
          <a:p>
            <a:r>
              <a:rPr lang="en-US" sz="2800" dirty="0"/>
              <a:t>La </a:t>
            </a:r>
            <a:r>
              <a:rPr lang="en-US" sz="2800" dirty="0" err="1"/>
              <a:t>variabilité</a:t>
            </a:r>
            <a:r>
              <a:rPr lang="en-US" sz="2800" dirty="0"/>
              <a:t> du temps passé avant </a:t>
            </a:r>
            <a:r>
              <a:rPr lang="en-US" sz="2800" dirty="0" err="1"/>
              <a:t>une</a:t>
            </a:r>
            <a:r>
              <a:rPr lang="en-US" sz="2800" dirty="0"/>
              <a:t> vente </a:t>
            </a:r>
            <a:r>
              <a:rPr lang="en-US" sz="2800" dirty="0" err="1"/>
              <a:t>augmente</a:t>
            </a:r>
            <a:r>
              <a:rPr lang="en-US" sz="2800" dirty="0"/>
              <a:t> </a:t>
            </a:r>
            <a:r>
              <a:rPr lang="en-US" sz="2800" dirty="0" err="1"/>
              <a:t>grandement</a:t>
            </a:r>
            <a:endParaRPr lang="en-US" sz="2800" dirty="0"/>
          </a:p>
        </p:txBody>
      </p:sp>
      <p:pic>
        <p:nvPicPr>
          <p:cNvPr id="5" name="Content Placeholder 4" descr="A graph with numbers and lines&#10;&#10;AI-generated content may be incorrect.">
            <a:extLst>
              <a:ext uri="{FF2B5EF4-FFF2-40B4-BE49-F238E27FC236}">
                <a16:creationId xmlns:a16="http://schemas.microsoft.com/office/drawing/2014/main" id="{9016A9B7-2C27-A603-4BFD-704548CADD1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98712" y="1825625"/>
            <a:ext cx="5594576" cy="4351338"/>
          </a:xfrm>
        </p:spPr>
      </p:pic>
    </p:spTree>
    <p:extLst>
      <p:ext uri="{BB962C8B-B14F-4D97-AF65-F5344CB8AC3E}">
        <p14:creationId xmlns:p14="http://schemas.microsoft.com/office/powerpoint/2010/main" val="1609885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377-12B0-330E-41E4-67B3782BC722}"/>
              </a:ext>
            </a:extLst>
          </p:cNvPr>
          <p:cNvSpPr>
            <a:spLocks noGrp="1"/>
          </p:cNvSpPr>
          <p:nvPr>
            <p:ph type="title"/>
          </p:nvPr>
        </p:nvSpPr>
        <p:spPr/>
        <p:txBody>
          <a:bodyPr>
            <a:normAutofit/>
          </a:bodyPr>
          <a:lstStyle/>
          <a:p>
            <a:pPr algn="ctr"/>
            <a:r>
              <a:rPr lang="en-US" sz="2800" dirty="0" err="1"/>
              <a:t>Taux</a:t>
            </a:r>
            <a:r>
              <a:rPr lang="en-US" sz="2800" dirty="0"/>
              <a:t> de conversion </a:t>
            </a:r>
            <a:r>
              <a:rPr lang="en-US" sz="2800" dirty="0" err="1"/>
              <a:t>en</a:t>
            </a:r>
            <a:r>
              <a:rPr lang="en-US" sz="2800" dirty="0"/>
              <a:t> diminution </a:t>
            </a:r>
            <a:r>
              <a:rPr lang="en-US" sz="2800" dirty="0" err="1"/>
              <a:t>exponentielle</a:t>
            </a:r>
            <a:endParaRPr lang="en-US" sz="2800" dirty="0"/>
          </a:p>
        </p:txBody>
      </p:sp>
      <p:pic>
        <p:nvPicPr>
          <p:cNvPr id="5" name="Content Placeholder 4" descr="A graph with a line going up&#10;&#10;AI-generated content may be incorrect.">
            <a:extLst>
              <a:ext uri="{FF2B5EF4-FFF2-40B4-BE49-F238E27FC236}">
                <a16:creationId xmlns:a16="http://schemas.microsoft.com/office/drawing/2014/main" id="{EC4F67B4-EAFC-7840-8C30-7B413771D37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26906" y="2080887"/>
            <a:ext cx="4938188" cy="3840813"/>
          </a:xfrm>
        </p:spPr>
      </p:pic>
    </p:spTree>
    <p:extLst>
      <p:ext uri="{BB962C8B-B14F-4D97-AF65-F5344CB8AC3E}">
        <p14:creationId xmlns:p14="http://schemas.microsoft.com/office/powerpoint/2010/main" val="2642405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375</Words>
  <Application>Microsoft Office PowerPoint</Application>
  <PresentationFormat>Widescreen</PresentationFormat>
  <Paragraphs>27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Rapport marketing mensuel</vt:lpstr>
      <vt:lpstr>Baisse du CA malgré une augmentation exponentielle des ventes</vt:lpstr>
      <vt:lpstr>Augmentation des ventes de nourriture insuffisante à compenser l’abandon du secteur high-tech pour l’instant</vt:lpstr>
      <vt:lpstr>Augmentation exponentielle des visites comparées aux ventes elles-même exponentielles</vt:lpstr>
      <vt:lpstr>La variabilité du temps passé avant une vente augmente grandement</vt:lpstr>
      <vt:lpstr>Taux de conversion en diminution exponentielle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Corentin DERVOUT</dc:creator>
  <cp:lastModifiedBy>Corentin DERVOUT</cp:lastModifiedBy>
  <cp:revision>3</cp:revision>
  <dcterms:created xsi:type="dcterms:W3CDTF">2025-12-07T14:11:55Z</dcterms:created>
  <dcterms:modified xsi:type="dcterms:W3CDTF">2025-12-15T09:16:37Z</dcterms:modified>
</cp:coreProperties>
</file>