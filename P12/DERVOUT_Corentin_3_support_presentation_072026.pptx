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 de Cohen</c:v>
                </c:pt>
              </c:strCache>
            </c:strRef>
          </c:tx>
          <c:spPr>
            <a:solidFill>
              <a:srgbClr val="9AA7B4"/>
            </a:solidFill>
            <a:effectLst/>
          </c:spPr>
          <c:invertIfNegative val="0"/>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9AA7B4"/>
              </a:solidFill>
              <a:effectLst/>
            </c:spPr>
          </c:dPt>
          <c:dPt>
            <c:idx val="1"/>
            <c:invertIfNegative val="0"/>
            <c:bubble3D val="0"/>
            <c:spPr>
              <a:solidFill>
                <a:srgbClr val="9AA7B4"/>
              </a:solidFill>
              <a:effectLst/>
            </c:spPr>
          </c:dPt>
          <c:dPt>
            <c:idx val="2"/>
            <c:invertIfNegative val="0"/>
            <c:bubble3D val="0"/>
            <c:spPr>
              <a:solidFill>
                <a:srgbClr val="5F7789"/>
              </a:solidFill>
              <a:effectLst/>
            </c:spPr>
          </c:dPt>
          <c:dPt>
            <c:idx val="3"/>
            <c:invertIfNegative val="0"/>
            <c:bubble3D val="0"/>
            <c:spPr>
              <a:solidFill>
                <a:srgbClr val="5F7789"/>
              </a:solidFill>
              <a:effectLst/>
            </c:spPr>
          </c:dPt>
          <c:dPt>
            <c:idx val="4"/>
            <c:invertIfNegative val="0"/>
            <c:bubble3D val="0"/>
            <c:spPr>
              <a:solidFill>
                <a:srgbClr val="1F4E6B"/>
              </a:solidFill>
              <a:effectLst/>
            </c:spPr>
          </c:dPt>
          <c:dPt>
            <c:idx val="5"/>
            <c:invertIfNegative val="0"/>
            <c:bubble3D val="0"/>
            <c:spPr>
              <a:solidFill>
                <a:srgbClr val="12263A"/>
              </a:solidFill>
              <a:effectLst/>
            </c:spPr>
          </c:dPt>
          <c:cat>
            <c:multiLvlStrRef>
              <c:f>Sheet1!$A$2:$A$7</c:f>
              <c:multiLvlStrCache>
                <c:ptCount val="6"/>
                <c:lvl>
                  <c:pt idx="0">
                    <c:v>diagonal</c:v>
                  </c:pt>
                  <c:pt idx="1">
                    <c:v>height_left</c:v>
                  </c:pt>
                  <c:pt idx="2">
                    <c:v>height_right</c:v>
                  </c:pt>
                  <c:pt idx="3">
                    <c:v>margin_up</c:v>
                  </c:pt>
                  <c:pt idx="4">
                    <c:v>margin_low</c:v>
                  </c:pt>
                  <c:pt idx="5">
                    <c:v>length</c:v>
                  </c:pt>
                </c:lvl>
              </c:multiLvlStrCache>
            </c:multiLvlStrRef>
          </c:cat>
          <c:val>
            <c:numRef>
              <c:f>Sheet1!$B$2:$B$7</c:f>
              <c:numCache>
                <c:formatCode>General</c:formatCode>
                <c:ptCount val="6"/>
                <c:pt idx="0">
                  <c:v>0.28</c:v>
                </c:pt>
                <c:pt idx="1">
                  <c:v>0.87</c:v>
                </c:pt>
                <c:pt idx="2">
                  <c:v>1.18</c:v>
                </c:pt>
                <c:pt idx="3">
                  <c:v>1.62</c:v>
                </c:pt>
                <c:pt idx="4">
                  <c:v>2.66</c:v>
                </c:pt>
                <c:pt idx="5">
                  <c:v>3.41</c:v>
                </c:pt>
              </c:numCache>
            </c:numRef>
          </c:val>
        </c:ser>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4"/>
        </c:scaling>
        <c:delete val="0"/>
        <c:axPos val="b"/>
        <c:majorGridlines>
          <c:spPr>
            <a:ln w="12700" cap="flat">
              <a:solidFill>
                <a:srgbClr val="DCD8C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RMSE (mm)</c:v>
                </c:pt>
              </c:strCache>
            </c:strRef>
          </c:tx>
          <c:spPr>
            <a:solidFill>
              <a:srgbClr val="B5A99A"/>
            </a:solidFill>
            <a:effectLst/>
          </c:spPr>
          <c:invertIfNegative val="0"/>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B5A99A"/>
              </a:solidFill>
              <a:effectLst/>
            </c:spPr>
          </c:dPt>
          <c:dPt>
            <c:idx val="1"/>
            <c:invertIfNegative val="0"/>
            <c:bubble3D val="0"/>
            <c:spPr>
              <a:solidFill>
                <a:srgbClr val="B5A99A"/>
              </a:solidFill>
              <a:effectLst/>
            </c:spPr>
          </c:dPt>
          <c:dPt>
            <c:idx val="2"/>
            <c:invertIfNegative val="0"/>
            <c:bubble3D val="0"/>
            <c:spPr>
              <a:solidFill>
                <a:srgbClr val="8FA3B0"/>
              </a:solidFill>
              <a:effectLst/>
            </c:spPr>
          </c:dPt>
          <c:dPt>
            <c:idx val="3"/>
            <c:invertIfNegative val="0"/>
            <c:bubble3D val="0"/>
            <c:spPr>
              <a:solidFill>
                <a:srgbClr val="6E8A9B"/>
              </a:solidFill>
              <a:effectLst/>
            </c:spPr>
          </c:dPt>
          <c:dPt>
            <c:idx val="4"/>
            <c:invertIfNegative val="0"/>
            <c:bubble3D val="0"/>
            <c:spPr>
              <a:solidFill>
                <a:srgbClr val="436A85"/>
              </a:solidFill>
              <a:effectLst/>
            </c:spPr>
          </c:dPt>
          <c:dPt>
            <c:idx val="5"/>
            <c:invertIfNegative val="0"/>
            <c:bubble3D val="0"/>
            <c:spPr>
              <a:solidFill>
                <a:srgbClr val="12263A"/>
              </a:solidFill>
              <a:effectLst/>
            </c:spPr>
          </c:dPt>
          <c:cat>
            <c:multiLvlStrRef>
              <c:f>Sheet1!$A$2:$A$7</c:f>
              <c:multiLvlStrCache>
                <c:ptCount val="6"/>
                <c:lvl>
                  <c:pt idx="0">
                    <c:v>Médiane</c:v>
                  </c:pt>
                  <c:pt idx="1">
                    <c:v>Moyenne</c:v>
                  </c:pt>
                  <c:pt idx="2">
                    <c:v>KNN k=5 brut</c:v>
                  </c:pt>
                  <c:pt idx="3">
                    <c:v>KNN k=5 standardisé</c:v>
                  </c:pt>
                  <c:pt idx="4">
                    <c:v>KNN k=10 standardisé</c:v>
                  </c:pt>
                  <c:pt idx="5">
                    <c:v>Régression linéaire</c:v>
                  </c:pt>
                </c:lvl>
              </c:multiLvlStrCache>
            </c:multiLvlStrRef>
          </c:cat>
          <c:val>
            <c:numRef>
              <c:f>Sheet1!$B$2:$B$7</c:f>
              <c:numCache>
                <c:formatCode>General</c:formatCode>
                <c:ptCount val="6"/>
                <c:pt idx="0">
                  <c:v>0.635</c:v>
                </c:pt>
                <c:pt idx="1">
                  <c:v>0.622</c:v>
                </c:pt>
                <c:pt idx="2">
                  <c:v>0.483</c:v>
                </c:pt>
                <c:pt idx="3">
                  <c:v>0.468</c:v>
                </c:pt>
                <c:pt idx="4">
                  <c:v>0.456</c:v>
                </c:pt>
                <c:pt idx="5">
                  <c:v>0.453</c:v>
                </c:pt>
              </c:numCache>
            </c:numRef>
          </c:val>
        </c:ser>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0.8"/>
        </c:scaling>
        <c:delete val="0"/>
        <c:axPos val="b"/>
        <c:majorGridlines>
          <c:spPr>
            <a:ln w="12700" cap="flat">
              <a:solidFill>
                <a:srgbClr val="DCD8C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F-bêta(2)</c:v>
                </c:pt>
              </c:strCache>
            </c:strRef>
          </c:tx>
          <c:spPr>
            <a:solidFill>
              <a:srgbClr val="12263A"/>
            </a:solidFill>
            <a:effectLst/>
          </c:spPr>
          <c:invertIfNegative val="0"/>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12263A"/>
              </a:solidFill>
              <a:effectLst/>
            </c:spPr>
          </c:dPt>
          <c:dPt>
            <c:idx val="1"/>
            <c:invertIfNegative val="0"/>
            <c:bubble3D val="0"/>
            <c:spPr>
              <a:solidFill>
                <a:srgbClr val="5F7789"/>
              </a:solidFill>
              <a:effectLst/>
            </c:spPr>
          </c:dPt>
          <c:dPt>
            <c:idx val="2"/>
            <c:invertIfNegative val="0"/>
            <c:bubble3D val="0"/>
            <c:spPr>
              <a:solidFill>
                <a:srgbClr val="5F7789"/>
              </a:solidFill>
              <a:effectLst/>
            </c:spPr>
          </c:dPt>
          <c:dPt>
            <c:idx val="3"/>
            <c:invertIfNegative val="0"/>
            <c:bubble3D val="0"/>
            <c:spPr>
              <a:solidFill>
                <a:srgbClr val="9AA7B4"/>
              </a:solidFill>
              <a:effectLst/>
            </c:spPr>
          </c:dPt>
          <c:cat>
            <c:multiLvlStrRef>
              <c:f>Sheet1!$A$2:$A$5</c:f>
              <c:multiLvlStrCache>
                <c:ptCount val="4"/>
                <c:lvl>
                  <c:pt idx="0">
                    <c:v>Régression
logistique</c:v>
                  </c:pt>
                  <c:pt idx="1">
                    <c:v>KNN</c:v>
                  </c:pt>
                  <c:pt idx="2">
                    <c:v>Forêt
aléatoire</c:v>
                  </c:pt>
                  <c:pt idx="3">
                    <c:v>K-means</c:v>
                  </c:pt>
                </c:lvl>
              </c:multiLvlStrCache>
            </c:multiLvlStrRef>
          </c:cat>
          <c:val>
            <c:numRef>
              <c:f>Sheet1!$B$2:$B$5</c:f>
              <c:numCache>
                <c:formatCode>General</c:formatCode>
                <c:ptCount val="4"/>
                <c:pt idx="0">
                  <c:v>0.9829</c:v>
                </c:pt>
                <c:pt idx="1">
                  <c:v>0.9829</c:v>
                </c:pt>
                <c:pt idx="2">
                  <c:v>0.9829</c:v>
                </c:pt>
                <c:pt idx="3">
                  <c:v>0.9729</c:v>
                </c:pt>
              </c:numCache>
            </c:numRef>
          </c:val>
        </c:ser>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1"/>
          <c:min val="0.95"/>
        </c:scaling>
        <c:delete val="0"/>
        <c:axPos val="l"/>
        <c:majorGridlines>
          <c:spPr>
            <a:ln w="12700" cap="flat">
              <a:solidFill>
                <a:srgbClr val="DCD8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valeurs distinctes</c:v>
                </c:pt>
              </c:strCache>
            </c:strRef>
          </c:tx>
          <c:spPr>
            <a:solidFill>
              <a:srgbClr val="12263A"/>
            </a:solidFill>
            <a:effectLst/>
          </c:spPr>
          <c:invertIfNegative val="0"/>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12263A"/>
              </a:solidFill>
              <a:effectLst/>
            </c:spPr>
          </c:dPt>
          <c:dPt>
            <c:idx val="1"/>
            <c:invertIfNegative val="0"/>
            <c:bubble3D val="0"/>
            <c:spPr>
              <a:solidFill>
                <a:srgbClr val="5F7789"/>
              </a:solidFill>
              <a:effectLst/>
            </c:spPr>
          </c:dPt>
          <c:dPt>
            <c:idx val="2"/>
            <c:invertIfNegative val="0"/>
            <c:bubble3D val="0"/>
            <c:spPr>
              <a:solidFill>
                <a:srgbClr val="B5A99A"/>
              </a:solidFill>
              <a:effectLst/>
            </c:spPr>
          </c:dPt>
          <c:dPt>
            <c:idx val="3"/>
            <c:invertIfNegative val="0"/>
            <c:bubble3D val="0"/>
            <c:spPr>
              <a:solidFill>
                <a:srgbClr val="B3261E"/>
              </a:solidFill>
              <a:effectLst/>
            </c:spPr>
          </c:dPt>
          <c:cat>
            <c:multiLvlStrRef>
              <c:f>Sheet1!$A$2:$A$5</c:f>
              <c:multiLvlStrCache>
                <c:ptCount val="4"/>
                <c:lvl>
                  <c:pt idx="0">
                    <c:v>Régression
logistique</c:v>
                  </c:pt>
                  <c:pt idx="1">
                    <c:v>Forêt
aléatoire</c:v>
                  </c:pt>
                  <c:pt idx="2">
                    <c:v>KNN</c:v>
                  </c:pt>
                  <c:pt idx="3">
                    <c:v>K-means</c:v>
                  </c:pt>
                </c:lvl>
              </c:multiLvlStrCache>
            </c:multiLvlStrRef>
          </c:cat>
          <c:val>
            <c:numRef>
              <c:f>Sheet1!$B$2:$B$5</c:f>
              <c:numCache>
                <c:formatCode>General</c:formatCode>
                <c:ptCount val="4"/>
                <c:pt idx="0">
                  <c:v>1047</c:v>
                </c:pt>
                <c:pt idx="1">
                  <c:v>265</c:v>
                </c:pt>
                <c:pt idx="2">
                  <c:v>12</c:v>
                </c:pt>
                <c:pt idx="3">
                  <c:v>2</c:v>
                </c:pt>
              </c:numCache>
            </c:numRef>
          </c:val>
        </c:ser>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1200"/>
        </c:scaling>
        <c:delete val="0"/>
        <c:axPos val="l"/>
        <c:majorGridlines>
          <c:spPr>
            <a:ln w="12700" cap="flat">
              <a:solidFill>
                <a:srgbClr val="DCD8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Faux billets non détectés</c:v>
                </c:pt>
              </c:strCache>
            </c:strRef>
          </c:tx>
          <c:spPr>
            <a:solidFill>
              <a:srgbClr val="B3261E"/>
            </a:solidFill>
            <a:ln w="38100" cap="flat">
              <a:solidFill>
                <a:srgbClr val="B3261E"/>
              </a:solidFill>
              <a:prstDash val="solid"/>
              <a:round/>
            </a:ln>
            <a:effectLst/>
          </c:spPr>
          <c:invertIfNegative val="0"/>
          <c:dLbls>
            <c:numFmt formatCode="#,##0" sourceLinked="0"/>
            <c:txPr>
              <a:bodyPr/>
              <a:lstStyle/>
              <a:p>
                <a:pPr>
                  <a:defRPr b="0" i="0" strike="noStrike" sz="1000" u="none">
                    <a:solidFill>
                      <a:srgbClr val="12263A"/>
                    </a:solidFill>
                    <a:latin typeface="Calibri"/>
                  </a:defRPr>
                </a:pPr>
              </a:p>
            </c:txPr>
            <c:dLblPos val="t"/>
            <c:showLegendKey val="0"/>
            <c:showVal val="1"/>
            <c:showCatName val="0"/>
            <c:showSerName val="0"/>
            <c:showPercent val="0"/>
            <c:showBubbleSize val="0"/>
            <c:showLeaderLines val="0"/>
          </c:dLbls>
          <c:marker>
            <c:symbol val="circle"/>
            <c:size val="6"/>
            <c:spPr>
              <a:solidFill>
                <a:srgbClr val="B3261E"/>
              </a:solidFill>
              <a:ln w="9525" cap="flat">
                <a:solidFill>
                  <a:srgbClr val="B3261E"/>
                </a:solidFill>
                <a:prstDash val="solid"/>
                <a:round/>
              </a:ln>
              <a:effectLst/>
            </c:spPr>
          </c:marker>
          <c:cat>
            <c:multiLvlStrRef>
              <c:f>Sheet1!$A$2:$A$7</c:f>
              <c:multiLvlStrCache>
                <c:ptCount val="6"/>
                <c:lvl>
                  <c:pt idx="0">
                    <c:v>0,50</c:v>
                  </c:pt>
                  <c:pt idx="1">
                    <c:v>0,60</c:v>
                  </c:pt>
                  <c:pt idx="2">
                    <c:v>0,70</c:v>
                  </c:pt>
                  <c:pt idx="3">
                    <c:v>0,80</c:v>
                  </c:pt>
                  <c:pt idx="4">
                    <c:v>0,85</c:v>
                  </c:pt>
                  <c:pt idx="5">
                    <c:v>0,90</c:v>
                  </c:pt>
                </c:lvl>
              </c:multiLvlStrCache>
            </c:multiLvlStrRef>
          </c:cat>
          <c:val>
            <c:numRef>
              <c:f>Sheet1!$B$2:$B$7</c:f>
              <c:numCache>
                <c:formatCode>General</c:formatCode>
                <c:ptCount val="6"/>
                <c:pt idx="0">
                  <c:v>8</c:v>
                </c:pt>
                <c:pt idx="1">
                  <c:v>7</c:v>
                </c:pt>
                <c:pt idx="2">
                  <c:v>7</c:v>
                </c:pt>
                <c:pt idx="3">
                  <c:v>5</c:v>
                </c:pt>
                <c:pt idx="4">
                  <c:v>3</c:v>
                </c:pt>
                <c:pt idx="5">
                  <c:v>3</c:v>
                </c:pt>
              </c:numCache>
            </c:numRef>
          </c:val>
          <c:smooth val="0"/>
        </c:ser>
        <c:ser>
          <c:idx val="1"/>
          <c:order val="1"/>
          <c:tx>
            <c:strRef>
              <c:f>Sheet1!$C$1</c:f>
              <c:strCache>
                <c:ptCount val="1"/>
                <c:pt idx="0">
                  <c:v>Vrais billets rejetés à tort</c:v>
                </c:pt>
              </c:strCache>
            </c:strRef>
          </c:tx>
          <c:spPr>
            <a:solidFill>
              <a:srgbClr val="2E6E8E"/>
            </a:solidFill>
            <a:ln w="38100" cap="flat">
              <a:solidFill>
                <a:srgbClr val="2E6E8E"/>
              </a:solidFill>
              <a:prstDash val="solid"/>
              <a:round/>
            </a:ln>
            <a:effectLst/>
          </c:spPr>
          <c:invertIfNegative val="0"/>
          <c:dLbls>
            <c:numFmt formatCode="#,##0" sourceLinked="0"/>
            <c:txPr>
              <a:bodyPr/>
              <a:lstStyle/>
              <a:p>
                <a:pPr>
                  <a:defRPr b="0" i="0" strike="noStrike" sz="1000" u="none">
                    <a:solidFill>
                      <a:srgbClr val="12263A"/>
                    </a:solidFill>
                    <a:latin typeface="Calibri"/>
                  </a:defRPr>
                </a:pPr>
              </a:p>
            </c:txPr>
            <c:dLblPos val="t"/>
            <c:showLegendKey val="0"/>
            <c:showVal val="1"/>
            <c:showCatName val="0"/>
            <c:showSerName val="0"/>
            <c:showPercent val="0"/>
            <c:showBubbleSize val="0"/>
            <c:showLeaderLines val="0"/>
          </c:dLbls>
          <c:marker>
            <c:symbol val="circle"/>
            <c:size val="6"/>
            <c:spPr>
              <a:solidFill>
                <a:srgbClr val="2E6E8E"/>
              </a:solidFill>
              <a:ln w="9525" cap="flat">
                <a:solidFill>
                  <a:srgbClr val="2E6E8E"/>
                </a:solidFill>
                <a:prstDash val="solid"/>
                <a:round/>
              </a:ln>
              <a:effectLst/>
            </c:spPr>
          </c:marker>
          <c:cat>
            <c:multiLvlStrRef>
              <c:f>Sheet1!$A$2:$A$7</c:f>
              <c:multiLvlStrCache>
                <c:ptCount val="6"/>
                <c:lvl>
                  <c:pt idx="0">
                    <c:v>0,50</c:v>
                  </c:pt>
                  <c:pt idx="1">
                    <c:v>0,60</c:v>
                  </c:pt>
                  <c:pt idx="2">
                    <c:v>0,70</c:v>
                  </c:pt>
                  <c:pt idx="3">
                    <c:v>0,80</c:v>
                  </c:pt>
                  <c:pt idx="4">
                    <c:v>0,85</c:v>
                  </c:pt>
                  <c:pt idx="5">
                    <c:v>0,90</c:v>
                  </c:pt>
                </c:lvl>
              </c:multiLvlStrCache>
            </c:multiLvlStrRef>
          </c:cat>
          <c:val>
            <c:numRef>
              <c:f>Sheet1!$C$2:$C$7</c:f>
              <c:numCache>
                <c:formatCode>General</c:formatCode>
                <c:ptCount val="6"/>
                <c:pt idx="0">
                  <c:v>2</c:v>
                </c:pt>
                <c:pt idx="1">
                  <c:v>5</c:v>
                </c:pt>
                <c:pt idx="2">
                  <c:v>7</c:v>
                </c:pt>
                <c:pt idx="3">
                  <c:v>13</c:v>
                </c:pt>
                <c:pt idx="4">
                  <c:v>20</c:v>
                </c:pt>
                <c:pt idx="5">
                  <c:v>24</c:v>
                </c:pt>
              </c:numCache>
            </c:numRef>
          </c:val>
          <c:smooth val="0"/>
        </c:ser>
        <c:dLbls>
          <c:numFmt formatCode="#,##0" sourceLinked="0"/>
          <c:txPr>
            <a:bodyPr/>
            <a:lstStyle/>
            <a:p>
              <a:pPr>
                <a:defRPr b="0" i="0" strike="noStrike" sz="1000" u="none">
                  <a:solidFill>
                    <a:srgbClr val="12263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26"/>
        </c:scaling>
        <c:delete val="0"/>
        <c:axPos val="l"/>
        <c:majorGridlines>
          <c:spPr>
            <a:ln w="12700" cap="flat">
              <a:solidFill>
                <a:srgbClr val="DCD8CF"/>
              </a:solidFill>
              <a:prstDash val="solid"/>
              <a:round/>
            </a:ln>
          </c:spPr>
        </c:majorGridlines>
        <c:title>
          <c:tx>
            <c:rich>
              <a:bodyPr/>
              <a:lstStyle/>
              <a:p>
                <a:pPr>
                  <a:defRPr sz="1000" b="0" i="0" u="none" strike="noStrike">
                    <a:solidFill>
                      <a:srgbClr val="6B7A8C"/>
                    </a:solidFill>
                    <a:latin typeface="Arial"/>
                  </a:defRPr>
                </a:pPr>
                <a:r>
                  <a:rPr sz="1000" b="0" i="0" u="none" strike="noStrike">
                    <a:solidFill>
                      <a:srgbClr val="6B7A8C"/>
                    </a:solidFill>
                    <a:latin typeface="Arial"/>
                  </a:rPr>
                  <a:t>billets (sur 1 200)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majorUnit val="5"/>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coefficient</c:v>
                </c:pt>
              </c:strCache>
            </c:strRef>
          </c:tx>
          <c:spPr>
            <a:solidFill>
              <a:srgbClr val="2E6E8E"/>
            </a:solidFill>
            <a:effectLst/>
          </c:spPr>
          <c:invertIfNegative val="0"/>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2E6E8E"/>
              </a:solidFill>
              <a:effectLst/>
            </c:spPr>
          </c:dPt>
          <c:dPt>
            <c:idx val="1"/>
            <c:invertIfNegative val="0"/>
            <c:bubble3D val="0"/>
            <c:spPr>
              <a:solidFill>
                <a:srgbClr val="B3261E"/>
              </a:solidFill>
              <a:effectLst/>
            </c:spPr>
          </c:dPt>
          <c:dPt>
            <c:idx val="2"/>
            <c:invertIfNegative val="0"/>
            <c:bubble3D val="0"/>
            <c:spPr>
              <a:solidFill>
                <a:srgbClr val="B3261E"/>
              </a:solidFill>
              <a:effectLst/>
            </c:spPr>
          </c:dPt>
          <c:dPt>
            <c:idx val="3"/>
            <c:invertIfNegative val="0"/>
            <c:bubble3D val="0"/>
            <c:spPr>
              <a:solidFill>
                <a:srgbClr val="B3261E"/>
              </a:solidFill>
              <a:effectLst/>
            </c:spPr>
          </c:dPt>
          <c:dPt>
            <c:idx val="4"/>
            <c:invertIfNegative val="0"/>
            <c:bubble3D val="0"/>
            <c:spPr>
              <a:solidFill>
                <a:srgbClr val="B3261E"/>
              </a:solidFill>
              <a:effectLst/>
            </c:spPr>
          </c:dPt>
          <c:dPt>
            <c:idx val="5"/>
            <c:invertIfNegative val="0"/>
            <c:bubble3D val="0"/>
            <c:spPr>
              <a:solidFill>
                <a:srgbClr val="2E6E8E"/>
              </a:solidFill>
              <a:effectLst/>
            </c:spPr>
          </c:dPt>
          <c:cat>
            <c:multiLvlStrRef>
              <c:f>Sheet1!$A$2:$A$7</c:f>
              <c:multiLvlStrCache>
                <c:ptCount val="6"/>
                <c:lvl>
                  <c:pt idx="0">
                    <c:v>length</c:v>
                  </c:pt>
                  <c:pt idx="1">
                    <c:v>margin_low</c:v>
                  </c:pt>
                  <c:pt idx="2">
                    <c:v>margin_up</c:v>
                  </c:pt>
                  <c:pt idx="3">
                    <c:v>height_right</c:v>
                  </c:pt>
                  <c:pt idx="4">
                    <c:v>height_left</c:v>
                  </c:pt>
                  <c:pt idx="5">
                    <c:v>diagonal</c:v>
                  </c:pt>
                </c:lvl>
              </c:multiLvlStrCache>
            </c:multiLvlStrRef>
          </c:cat>
          <c:val>
            <c:numRef>
              <c:f>Sheet1!$B$2:$B$7</c:f>
              <c:numCache>
                <c:formatCode>General</c:formatCode>
                <c:ptCount val="6"/>
                <c:pt idx="0">
                  <c:v>3.69</c:v>
                </c:pt>
                <c:pt idx="1">
                  <c:v>-2.62</c:v>
                </c:pt>
                <c:pt idx="2">
                  <c:v>-1.63</c:v>
                </c:pt>
                <c:pt idx="3">
                  <c:v>-0.65</c:v>
                </c:pt>
                <c:pt idx="4">
                  <c:v>-0.35</c:v>
                </c:pt>
                <c:pt idx="5">
                  <c:v>0.18</c:v>
                </c:pt>
              </c:numCache>
            </c:numRef>
          </c:val>
        </c:ser>
        <c:dLbls>
          <c:numFmt formatCode="#,##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5"/>
          <c:min val="-4"/>
        </c:scaling>
        <c:delete val="0"/>
        <c:axPos val="b"/>
        <c:majorGridlines>
          <c:spPr>
            <a:ln w="12700" cap="flat">
              <a:solidFill>
                <a:srgbClr val="DCD8C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 00:20] · 20 s
MESSAGE
Poser le cadre en une phrase et enchaîner. Ne pas s'attarder.
À DIRE
« Bonjour Marie. Vous m'avez confié la construction d'un algorithme capable de
distinguer les vrais billets des contrefaçons à partir des six mesures que
relève votre machine. Je vais vous présenter ma démarche, les pistes explorées,
et le modèle que je vous recommande. »
TRANSITION
« Un point de cadrage d'abord : il a commandé toutes mes décisions.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 → 01:05] · 45 s
MESSAGE
Le problème n'est pas symétrique. C'est LE point de départ, tout en découle.
Si Marie ne retient qu'une chose, c'est celle-ci.
À DIRE
« Les deux erreurs possibles ne coûtent pas la même chose. Un faux billet que je
déclare authentique entre en circulation : c'est ce que vous combattez. Un vrai
billet que je déclare faux part en vérification manuelle : du temps agent, aucun
préjudice.
Trois conséquences. J'écarte l'accuracy : avec deux vrais pour un faux, répondre
"authentique" à tout donne déjà 66,7 %. Ma métrique devient le rappel sur les
faux, la part des contrefaçons interceptées. Et j'ajuste le seuil de décision au
lieu de le laisser à 0,5, valeur qui suppose deux erreurs de coût égal. »
PIÈGE
Ne pas dire « je maximise le rappel » tout court. On y revient en slide 7 : le
rappel seul est trivialement maximisable.
TRANSITION
« Voyons ce que contiennent les données.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[01:05 → 01:40] · 35 s
MESSAGE
Données saines. Un seul défaut, et j'ai vérifié qu'il ne biaise pas le jeu.
À DIRE
« 1 500 billets, 1 000 vrais et 500 faux, aucun doublon. Un seul défaut :
37 mesures de margin_low absentes.
Le point important n'est pas leur nombre mais leur répartition : 2,9 % des vrais
contre 1,6 % des faux, avec un khi-deux à p = 0,176. Rien n'indique que votre
machine échoue davantage sur les contrefaçons. C'est ce test qui m'autorise à
reconstruire ces valeurs plutôt qu'à supprimer 37 billets. »
PIÈGE — sur les valeurs extrêmes
Je n'en ai supprimé aucune : un billet court aux marges larges n'est pas une
anomalie de mesure, c'est le phénomène recherché.
TRANSITION
« Quelles mesures portent l'information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[01:40 → 02:15] · 35 s
MESSAGE
Deux variables font presque tout. Et j'ai gardé les six, en le justifiant.
À DIRE
« J'ai quantifié le pouvoir discriminant de chaque mesure par le d de Cohen :
l'écart entre les deux classes en écarts-types. Au-delà de 0,8, l'effet est
fort.
length domine largement, à 3,41 : les vrais billets sont en moyenne 1,57 mm plus
longs. margin_low suit à 2,66. Les trois suivantes apportent un signal
décroissant. Et diagonal, à 0,28, est quasiment inutile prise isolément. »
PIÈGE — QUESTION PROBABLE : « Pourquoi l'avoir gardée ? »
« La retirer fait perdre 0,004 de F-bêta en validation croisée. L'écart est
faible mais systématique : une variable peu discriminante seule peut le devenir
en combinaison. Et sa mesure ne coûte rien, votre machine la relève déjà. »
TRANSITION
« Passons au seul traitement qu'exigeaient ces données.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[02:15 → 03:00] · 45 s
MESSAGE
Méthode choisie par la mesure, pas par habitude.
À DIRE
« Pour reconstruire les valeurs manquantes, j'ai mis six méthodes en
concurrence. Le protocole : je masque artificiellement des valeurs que je
connais, chaque méthode les reconstruit, je compare à la vérité. Trente
répétitions, pour que le classement ne dépende pas d'un tirage.
La régression linéaire l'emporte : 0,453 mm d'erreur contre 0,635 pour la
médiane, soit 29 % de moins.
Deux remarques. Imputer par une constante n'exploite aucune information :
l'erreur de la moyenne égale presque l'écart-type de la variable. Et standardiser
avant un KNN améliore le résultat, puisque l'algorithme calcule des distances. »
PIÈGE — QUESTION PROBABLE : « Pourquoi ne pas supprimer les 37 lignes ? »
« C'était possible, mais cela sacrifie des données sans nécessité et surtout ne
règle rien en production : un billet arrivant incomplet devra être classé
quand même. »
TRANSITION
« J'arrive au point le plus important sur le plan méthodologique.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 → 04:00] · 60 s
MESSAGE
Slide clé, celle qui distingue ce travail. Ralentir, articuler.
C'est aussi la réponse à l'une des deux questions annoncées aux consignes.
À DIRE
« Une règle a gouverné tout le projet : toute décision prise en regardant un jeu
de données rend ce jeu inutilisable pour l'évaluer.
J'ai donc procédé en trois temps. Un découpage 80/20 stratifié : 1 200 billets
d'entraînement, 300 de test, en conservant le ratio des classes des deux côtés.
Ensuite, toutes les décisions se prennent sur le seul jeu d'entraînement, par
validation croisée : l'imputation, les hyperparamètres, le choix du modèle, et le
seuil de décision. Ce dernier point est celui qu'on néglige le plus souvent.
Enfin le test n'est ouvert qu'une fois, modèle et seuil figés.
Le piège évité est précis : essayer plusieurs seuils sur le test et retenir le
meilleur donne un chiffre flatteur mais faux. Ce n'est plus une prédiction, c'est
la valeur qu'on a optimisée. »
PRÉCISION, si on creuse
Pour le seuil, j'ai utilisé cross_val_predict : chaque billet d'entraînement
reçoit une probabilité prédite par un modèle ne l'ayant jamais vu.
TRANSITION
« Voyons les algorithmes mis en compétition.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 → 04:45] · 45 s
MESSAGE
Les quatre méthodes demandées, et le critère commun.
À DIRE
« J'ai testé les quatre méthodes de votre cahier des charges. La régression
logistique, qui estime directement une probabilité. Le KNN, dont j'ai balayé le
nombre de voisins de 1 à 29 plutôt que de le laisser par défaut. La forêt
aléatoire, réglée par recherche sur grille. Et le k-means, avec prédiction par
les centroïdes.
Toutes optimisées sur le même critère : le F-bêta avec bêta égal à 2, sur la
classe "faux". »
PIÈGE — QUESTION PROBABLE : « Pourquoi pas le rappel seul ? »
« Parce qu'il est trivialement maximisable : déclarer tous les billets faux donne
un rappel de 1. Optimiser le rappel pur, c'est inviter la recherche
d'hyperparamètres vers cette solution dégénérée. Le F-bêta pondère le rappel
quatre fois plus que la précision, sans autoriser cette dérive. »
PIÈGE — sur la standardisation
Indispensable pour la régression logistique régularisée et pour le KNN. Inutile
pour la forêt, qui découpe par seuils et se moque de l'échelle.
TRANSITION
« Le résultat de cette compétition est inattendu.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[04:45 → 05:30] · 45 s
MESSAGE
Assumer qu'il n'y a pas de vainqueur. Plus solide que d'en désigner un sur du
bruit, et cela prépare la slide suivante.
À DIRE
« Les trois modèles supervisés obtiennent exactement le même score : 0,9829,
avec des écarts-types de 0,012 à 0,018. Leurs barres d'erreur se recouvrent
entièrement.
La conclusion honnête est qu'aucun n'est mesurablement meilleur. Sur 1 200
billets, l'écart d'un pli à l'autre représente deux ou trois billets. Désigner un
vainqueur reviendrait à surinterpréter du bruit.
Ce n'est pas surprenant : la projection en composantes principales montrait deux
nuages presque séparés, le problème est intrinsèquement facile.
Le choix doit donc reposer sur d'autres critères, puisque la performance ne les
départage pas. »
TRANSITION
« Voici les trois critères que j'ai retenus.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[05:30 → 06:30] · 60 s
MESSAGE
Slide décisive : c'est ici que se justifie le choix du modèle. Prendre le temps.
La question sur la forêt aléatoire viendra probablement.
À DIRE
« Trois critères mesurables, tous établis hors-échantillon.
Le premier est le plus important : la précision au point de fonctionnement
réellement visé. Si j'exige d'intercepter 99 % des contrefaçons, la régression
logistique conserve 96,8 % de précision, contre 95 % pour la forêt et 86,3 %
pour le KNN. À niveau égal de détection, elle envoie donc moins de vrais billets
en vérification inutile.
Le deuxième est la calibration, mesurée par le score de Brier. La régression
logistique est la mieux calibrée, et ce n'est pas un hasard : elle optimise la
vraisemblance, donc ses probabilités sont des probabilités au sens propre. Une
forêt produit une proportion de votes, qui n'a aucune raison d'être calibrée.
C'est déterminant puisque toute ma stratégie repose sur un seuil appliqué à ces
probabilités.
Le troisième est la granularité, j'y viens dans deux slides. »
PIÈGE — QUESTION TRÈS PROBABLE
« La forêt a une meilleure average precision, 0,9987 contre 0,9979. »
Réponse : « Exact, mais l'average precision moyenne tous les seuils possibles, y
compris ceux que je n'utiliserai jamais. Ce qui compte est la performance au
point de fonctionnement retenu, et là c'est la régression logistique. »
TRANSITION
« Un mot sur le volet non supervisé.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[06:30 → 07:25] · 55 s
MESSAGE
Le k-means n'est pas un cinquième classifieur : il confirme la séparation sans
étiquettes, et il décrit physiquement les faux.
À DIRE
« J'ai mené une vraie analyse de clustering avant d'utiliser le k-means en
prédiction. Le score de silhouette est maximal à k égal 2 : la structure
naturelle des données comporte bien deux groupes, et ce résultat est obtenu sans
aucun recours aux étiquettes.
Les deux clusters font 394 et 806 billets, très proches du ratio réel, et sont
purs à 98,5 %.
Surtout, ils se caractérisent physiquement. Le cluster 0 regroupe des billets
plus courts, aux marges plus larges et aux hauteurs plus importantes : 388 de ses
394 billets sont effectivement faux. Cette description a une valeur
opérationnelle directe, elle vous dit en quoi les contrefaçons diffèrent. »
PIÈGE — QUESTION PROBABLE : « Est-ce vraiment non supervisé ? »
« Le regroupement, oui. Mais pour prédire il faut savoir quel cluster correspond
aux faux, et cela ne s'établit qu'en consultant les étiquettes, par vote
majoritaire. La méthode est hybride, il faut le dire. »
NUANCE, si on creuse
Une silhouette de 0,345 traduit une structure réelle mais modérée : les groupes
se touchent. Le k-means suppose des clusters sphériques et de tailles
comparables, hypothèse ici violée ; il s'en sort parce que la séparation est
marquée.
TRANSITION
« Pourquoi ne l'ai-je pas retenu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[07:25 → 08:15] · 50 s
MESSAGE
Un argument mesurable, pas une préférence. La slide qui ferme le sujet.
À DIRE
« Toute ma stratégie repose sur l'ajustement d'un seuil. Or déplacer un seuil n'a
de sens que si les probabilités prennent des valeurs nuancées.
La régression logistique en produit plus de mille : une probabilité continue,
réglable au centième près. La forêt en produit quelques centaines. Le KNN n'en
produit que douze, parce qu'avec onze voisins seules douze proportions sont
possibles : le seuil ne peut bouger que par sauts de neuf points. Et le k-means
n'en produit que deux, une par cluster : aucun réglage intermédiaire n'existe.
Le k-means garde sa valeur comme analyse exploratoire, mais il ne peut pas être
le modèle de production, faute de levier pour arbitrer entre faux positifs et
faux négatifs. »
TRANSITION
« Je peux récapituler le choix.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[08:15 → 08:50] · 35 s
MESSAGE
Récapitulatif. Insister : aucune des cinq raisons n'est la performance brute.
À DIRE
« Je retiens la régression logistique, pour cinq raisons dont aucune n'est la
performance brute, puisqu'elle ne départage pas les modèles.
La précision au point de fonctionnement, la meilleure des quatre. La calibration,
qui rend le réglage du seuil fiable. La granularité des probabilités.
L'interprétabilité, sept coefficients lisibles, ce qui compte devant un organisme
public tenu de justifier ses décisions. Et la simplicité d'exploitation : sept
coefficients contre cent arbres. »
TRANSITION
« Reste à régler le seuil.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[08:50 → 09:50] · 60 s
MESSAGE
Deux choses à faire passer : le seuil est robuste, et je ne promets pas 100 %.
À DIRE
« J'ai calibré le seuil hors-échantillon, sans toucher au jeu de test.
Le graphique montre l'arbitrage : en montant le seuil je laisse passer de moins
en moins de contrefaçons, mais je renvoie de plus en plus de vrais billets en
vérification. À 0,80, sur 1 200 billets, cinq faux passent et treize vrais
partent en contrôle.
J'ai retenu 0,80 pour deux raisons. L'optimum médian sur quinze découpages
différents est 0,810. Et surtout le F-bêta forme un large plateau entre 0,535 et
0,865, où il varie de moins de 0,002 : la valeur exacte importe peu, le réglage
n'est donc pas un ajustement fragile sur du bruit.
Concrètement, sur mille billets par jour : environ quatre contrefaçons non
détectées et onze vérifications inutiles. »
POINT À NE PAS OUBLIER
« Aucun seuil n'atteint 100 % de détection dans des conditions acceptables. Même
à 0,99, un faux passe encore, au prix de 190 vrais billets rejetés. »
TRANSITION
« Voici ce que donne ce réglage sur des données jamais vues.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[09:50 → 10:50] · 60 s
MESSAGE
Slide la plus délicate. Le résultat est parfait, et c'est pour cela qu'il faut
le relativiser soi-même avant qu'on ne le fasse.
À DIRE
« Sur les 300 billets de test, ouverts une seule fois, modèle et seuil figés :
les 100 faux billets sont tous interceptés, et 4 vrais billets rejetés à tort.
Il serait tentant d'annoncer 100 % de détection. Je ne le ferai pas, pour deux
raisons.
D'abord, observer zéro échec sur 100 faux billets ne permet d'affirmer, avec
95 % de confiance, que le taux réel est inférieur à environ 3 %. La performance
réelle pourrait être de 97 % sans que ce soit anormal.
Ensuite, mon estimation hors-échantillon repose sur 1 200 billets et donne
98,75 %.
La formulation que je vous propose est donc : environ 99 % des contrefaçons
interceptées, au prix d'environ 1,6 % de vrais billets renvoyés en vérification.
Le résultat du test est cohérent avec cette estimation ; il ne la contredit pas,
il ne la garantit pas non plus. »
POURQUOI CE CHOIX
Annoncer 100 % sur la foi de 100 billets, c'est s'exposer à être démenti dès le
premier lot de production.
TRANSITION
« Un mot sur ce que le modèle a appris.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 → 11:35] · 45 s
MESSAGE
Montrer le bénéfice concret de l'interprétabilité, l'un des arguments du choix.
À DIRE
« C'est l'avantage d'un modèle transparent : je peux vous dire ce qu'il a appris.
length domine, avec un coefficient de 3,69. Concrètement, un billet plus long
d'un écart-type, soit 0,87 mm, voit sa cote d'être authentique multipliée par
près de 40. margin_low joue en sens inverse : une marge inférieure plus large
d'un écart-type divise cette cote par 13,7.
En une phrase : les contrefaçons sont plus courtes et impriment leur image avec
des marges plus larges.
J'ai vérifié ce classement par l'importance par permutation, une méthode qui ne
partage aucune hypothèse avec la régression. Les deux convergent. »
TRANSITION
« Passons à ce qui sera effectivement livré.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 → 12:20] · 45 s
MESSAGE
Montrer que le livrable est robuste, pas seulement performant en laboratoire.
À DIRE
« Le modèle livré est un objet unique qui enchaîne six étapes, de la lecture du
fichier à la décision : validation des colonnes, contrôle d'intégrité,
imputation, standardisation, régression logistique, application du seuil.
Je l'ai éprouvé avant livraison sur les situations qu'il rencontrera : séparateur
inconnu, colonnes dans le désordre, colonne id surnuméraire, mesure manquante,
valeur textuelle, colonne absente, ligne vide. Chaque cas est traité, ou rejeté
avec un message explicite. »
PIÈGE — sur le sélecteur automatique
« J'aurais pu embarquer un sélecteur qui réévalue les modèles à chaque
réentraînement. Je ne l'ai pas fait volontairement : le modèle en production
pourrait alors changer de nature sans intervention humaine. Pour un organisme
public, un modèle figé et auditable vaut mieux. »
TRANSITION
« Et voici l'application.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 → 12:50] · 30 s
MESSAGE
Rester bref : la vraie démonstration a lieu juste après, sur le fichier fourni.
À DIRE
« L'application prend soit un fichier CSV, soit une saisie manuelle. Elle détecte
le séparateur automatiquement, reprend l'identifiant du billet, et affiche la
probabilité à côté de chaque verdict : un billet faux à 99,9 % et un cas limite à
51 % n'appellent pas la même confiance. Les billets en zone d'incertitude sont
signalés pour contrôle manuel.
Nous la testerons ensemble dans un instant. »
RAPPEL POUR LA DÉMONSTRATION
Commande : python Nom_Prenom_2_script_app_072026.py &lt;fichier.csv&gt;
Si problème de format, le mode saisie manuelle fonctionne sans fichier.
Option --seuil pour montrer l'effet du réglage en direct.
TRANSITION
« Avant de conclure, ce que ce modèle ne garantit pas.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 → 13:30] · 40 s
MESSAGE
Énoncer les limites soi-même. C'est ce qui donne du crédit au reste.
À DIRE
« Quatre limites à connaître avant tout déploiement.
Le modèle est calibré sur un seul scanner : un changement de matériel ou une
dérive du capteur dégraderait les performances sans qu'aucun signal ne l'annonce.
Les contrefaçons évoluent : une nouvelle génération qui corrigerait l'écart de
longueur prendrait le modèle en défaut. C'est structurel à toute approche
supervisée face à un adversaire qui s'adapte.
Le taux de faux est supposé stable : l'échantillon comporte 33 % de faux, ce qui
ne reflète sans doute pas votre flux réel.
Et 300 billets ne prouvent pas 100 %. »
TRANSITION
« Ces limites ne remettent pas en cause le modèle : elles définissent les
conditions de son suivi.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14:10] · 40 s
MESSAGE
Enchaîner. Insister sur la troisième, la moins évidente.
À DIRE
« Cinq recommandations. Suivre mensuellement la distribution des mesures et le
taux de billets classés faux, pour détecter une dérive avant que les erreurs ne
deviennent visibles. Instaurer un circuit à trois issues, avec examen humain des
billets en zone grise. Constituer un jeu de contrôle indépendant : faire
expertiser périodiquement un échantillon de billets acceptés, c'est la seule
mesure du taux réel de faux non détectés qui ne dépende pas du modèle lui-même.
Réentraîner à l'arrivée de nouvelles données. Et à terme, enrichir les mesures
au-delà de la géométrie. »
TRANSITION
« Pour résumer.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 → 14:45] · 35 s
MESSAGE
Trois phrases, puis se taire et laisser venir les questions.
À DIRE
« En résumé : environ 99 % des contrefaçons interceptées, environ 1,6 % de vrais
billets renvoyés en vérification, un seuil calibré à 0,80, et six mesures qui
suffisent.
Ce qui fait tenir ces chiffres, c'est qu'aucune décision n'a été prise en
regardant le jeu de test, que le modèle n'a pas été retenu sur sa performance
brute mais sur sa précision au point de fonctionnement réel, et que la
performance annoncée est l'estimation prudente.
Je suis à votre disposition pour vos questions et pour tester l'application. »
APRÈS CETTE SLIDE
Démonstration en direct (5 min), puis questions (10 min).
Les deux questions annoncées aux consignes sont préparées :
· découpage des jeux de données → notes de la slide 6
· autres algorithmes possibles → gradient boosting, SVM à noyau, LDA, mélange
  gaussien ; écartés car les modèles simples atteignent déjà 0,983 sans se
  départager, donc la complexité supplémentaire n'apporterait rien de mesurable.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1005840" y="1691640"/>
            <a:ext cx="10058400" cy="320040"/>
          </a:xfrm>
          <a:prstGeom prst="rect">
            <a:avLst/>
          </a:prstGeom>
          <a:noFill/>
          <a:ln/>
        </p:spPr>
        <p:txBody>
          <a:bodyPr wrap="square" lIns="0" tIns="0" rIns="0" bIns="0" rtlCol="0" anchor="ctr"/>
          <a:lstStyle/>
          <a:p>
            <a:pPr indent="0" marL="0">
              <a:buNone/>
            </a:pPr>
            <a:r>
              <a:rPr lang="en-US" sz="1200" spc="200" kern="0" dirty="0">
                <a:solidFill>
                  <a:srgbClr val="C89B3C"/>
                </a:solidFill>
                <a:latin typeface="Calibri" pitchFamily="34" charset="0"/>
                <a:ea typeface="Calibri" pitchFamily="34" charset="-122"/>
                <a:cs typeface="Calibri" pitchFamily="34" charset="-120"/>
              </a:rPr>
              <a:t>ORGANISATION NATIONALE DE LUTTE CONTRE LE FAUX-MONNAYAGE</a:t>
            </a:r>
            <a:endParaRPr lang="en-US" sz="1200" dirty="0"/>
          </a:p>
        </p:txBody>
      </p:sp>
      <p:sp>
        <p:nvSpPr>
          <p:cNvPr id="3" name="Text 1"/>
          <p:cNvSpPr/>
          <p:nvPr/>
        </p:nvSpPr>
        <p:spPr>
          <a:xfrm>
            <a:off x="1005840" y="2148840"/>
            <a:ext cx="10058400" cy="17373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Détection automatique</a:t>
            </a:r>
            <a:endParaRPr lang="en-US" sz="4400" dirty="0"/>
          </a:p>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de faux billets</a:t>
            </a:r>
            <a:endParaRPr lang="en-US" sz="4400" dirty="0"/>
          </a:p>
        </p:txBody>
      </p:sp>
      <p:sp>
        <p:nvSpPr>
          <p:cNvPr id="4" name="Text 2"/>
          <p:cNvSpPr/>
          <p:nvPr/>
        </p:nvSpPr>
        <p:spPr>
          <a:xfrm>
            <a:off x="1005840" y="3977640"/>
            <a:ext cx="9601200" cy="457200"/>
          </a:xfrm>
          <a:prstGeom prst="rect">
            <a:avLst/>
          </a:prstGeom>
          <a:noFill/>
          <a:ln/>
        </p:spPr>
        <p:txBody>
          <a:bodyPr wrap="square" lIns="0" tIns="0" rIns="0" bIns="0" rtlCol="0" anchor="ctr"/>
          <a:lstStyle/>
          <a:p>
            <a:pPr indent="0" marL="0">
              <a:buNone/>
            </a:pPr>
            <a:r>
              <a:rPr lang="en-US" sz="1500" dirty="0">
                <a:solidFill>
                  <a:srgbClr val="C9D3DE"/>
                </a:solidFill>
                <a:latin typeface="Calibri" pitchFamily="34" charset="0"/>
                <a:ea typeface="Calibri" pitchFamily="34" charset="-122"/>
                <a:cs typeface="Calibri" pitchFamily="34" charset="-120"/>
              </a:rPr>
              <a:t>Un modèle capable d'identifier une contrefaçon à partir de six mesures géométriques</a:t>
            </a:r>
            <a:endParaRPr lang="en-US" sz="1500" dirty="0"/>
          </a:p>
        </p:txBody>
      </p:sp>
      <p:sp>
        <p:nvSpPr>
          <p:cNvPr id="5" name="Shape 3"/>
          <p:cNvSpPr/>
          <p:nvPr/>
        </p:nvSpPr>
        <p:spPr>
          <a:xfrm>
            <a:off x="1005840" y="4709160"/>
            <a:ext cx="2926080" cy="0"/>
          </a:xfrm>
          <a:prstGeom prst="line">
            <a:avLst/>
          </a:prstGeom>
          <a:noFill/>
          <a:ln w="19050">
            <a:solidFill>
              <a:srgbClr val="C89B3C"/>
            </a:solidFill>
            <a:prstDash val="solid"/>
          </a:ln>
        </p:spPr>
      </p:sp>
      <p:sp>
        <p:nvSpPr>
          <p:cNvPr id="6" name="Text 4"/>
          <p:cNvSpPr/>
          <p:nvPr/>
        </p:nvSpPr>
        <p:spPr>
          <a:xfrm>
            <a:off x="1005840" y="4892040"/>
            <a:ext cx="7315200" cy="365760"/>
          </a:xfrm>
          <a:prstGeom prst="rect">
            <a:avLst/>
          </a:prstGeom>
          <a:noFill/>
          <a:ln/>
        </p:spPr>
        <p:txBody>
          <a:bodyPr wrap="square" lIns="0" tIns="0" rIns="0" bIns="0" rtlCol="0" anchor="ctr"/>
          <a:lstStyle/>
          <a:p>
            <a:pPr indent="0" marL="0">
              <a:buNone/>
            </a:pPr>
            <a:r>
              <a:rPr lang="en-US" sz="1300" dirty="0">
                <a:solidFill>
                  <a:srgbClr val="8FA0B3"/>
                </a:solidFill>
                <a:latin typeface="Calibri" pitchFamily="34" charset="0"/>
                <a:ea typeface="Calibri" pitchFamily="34" charset="-122"/>
                <a:cs typeface="Calibri" pitchFamily="34" charset="-120"/>
              </a:rPr>
              <a:t>Data Analyst Senior   ·   Juillet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Le problème n'est pas symétrique</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Ce constat commande toutes les décisions techniques du projet</a:t>
            </a:r>
            <a:endParaRPr lang="en-US" sz="1300" dirty="0"/>
          </a:p>
        </p:txBody>
      </p:sp>
      <p:sp>
        <p:nvSpPr>
          <p:cNvPr id="6" name="Text 4"/>
          <p:cNvSpPr/>
          <p:nvPr/>
        </p:nvSpPr>
        <p:spPr>
          <a:xfrm>
            <a:off x="685800" y="1481328"/>
            <a:ext cx="10817352" cy="502920"/>
          </a:xfrm>
          <a:prstGeom prst="rect">
            <a:avLst/>
          </a:prstGeom>
          <a:noFill/>
          <a:ln/>
        </p:spPr>
        <p:txBody>
          <a:bodyPr wrap="square" lIns="0" tIns="0" rIns="0" bIns="0" rtlCol="0" anchor="ctr"/>
          <a:lstStyle/>
          <a:p>
            <a:pPr indent="0" marL="0">
              <a:buNone/>
            </a:pPr>
            <a:r>
              <a:rPr lang="en-US" sz="1400" dirty="0">
                <a:solidFill>
                  <a:srgbClr val="2B3A47"/>
                </a:solidFill>
                <a:latin typeface="Calibri" pitchFamily="34" charset="0"/>
                <a:ea typeface="Calibri" pitchFamily="34" charset="-122"/>
                <a:cs typeface="Calibri" pitchFamily="34" charset="-120"/>
              </a:rPr>
              <a:t>L'ONCFM mesure six dimensions géométriques sur chaque billet reçu. L'objectif : décider automatiquement, à partir de ces seules mesures, si un billet est authentique.</a:t>
            </a:r>
            <a:endParaRPr lang="en-US" sz="1400" dirty="0"/>
          </a:p>
        </p:txBody>
      </p:sp>
      <p:sp>
        <p:nvSpPr>
          <p:cNvPr id="7" name="Shape 5"/>
          <p:cNvSpPr/>
          <p:nvPr/>
        </p:nvSpPr>
        <p:spPr>
          <a:xfrm>
            <a:off x="685800" y="2194560"/>
            <a:ext cx="5257800" cy="1874520"/>
          </a:xfrm>
          <a:prstGeom prst="roundRect">
            <a:avLst>
              <a:gd name="adj" fmla="val 2927"/>
            </a:avLst>
          </a:prstGeom>
          <a:solidFill>
            <a:srgbClr val="FBEDEC"/>
          </a:solidFill>
          <a:ln w="12700">
            <a:solidFill>
              <a:srgbClr val="E8C4C0"/>
            </a:solidFill>
            <a:prstDash val="solid"/>
          </a:ln>
          <a:effectLst>
            <a:outerShdw sx="100000" sy="100000" kx="0" ky="0" algn="bl" rotWithShape="0" blurRad="101600" dist="25400" dir="5400000">
              <a:srgbClr val="B9B3A8">
                <a:alpha val="35000"/>
              </a:srgbClr>
            </a:outerShdw>
          </a:effectLst>
        </p:spPr>
      </p:sp>
      <p:sp>
        <p:nvSpPr>
          <p:cNvPr id="8" name="Text 6"/>
          <p:cNvSpPr/>
          <p:nvPr/>
        </p:nvSpPr>
        <p:spPr>
          <a:xfrm>
            <a:off x="960120" y="2395728"/>
            <a:ext cx="4709160" cy="320040"/>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Un faux billet déclaré authentique</a:t>
            </a:r>
            <a:endParaRPr lang="en-US" sz="1400" dirty="0"/>
          </a:p>
        </p:txBody>
      </p:sp>
      <p:sp>
        <p:nvSpPr>
          <p:cNvPr id="9" name="Text 7"/>
          <p:cNvSpPr/>
          <p:nvPr/>
        </p:nvSpPr>
        <p:spPr>
          <a:xfrm>
            <a:off x="960120" y="2743200"/>
            <a:ext cx="4709160" cy="640080"/>
          </a:xfrm>
          <a:prstGeom prst="rect">
            <a:avLst/>
          </a:prstGeom>
          <a:noFill/>
          <a:ln/>
        </p:spPr>
        <p:txBody>
          <a:bodyPr wrap="square" lIns="0" tIns="0" rIns="0" bIns="0" rtlCol="0" anchor="ctr"/>
          <a:lstStyle/>
          <a:p>
            <a:pPr indent="0" marL="0">
              <a:lnSpc>
                <a:spcPts val="1800"/>
              </a:lnSpc>
              <a:buNone/>
            </a:pPr>
            <a:r>
              <a:rPr lang="en-US" sz="1300" dirty="0">
                <a:solidFill>
                  <a:srgbClr val="5A4340"/>
                </a:solidFill>
                <a:latin typeface="Calibri" pitchFamily="34" charset="0"/>
                <a:ea typeface="Calibri" pitchFamily="34" charset="-122"/>
                <a:cs typeface="Calibri" pitchFamily="34" charset="-120"/>
              </a:rPr>
              <a:t>La contrefaçon entre en circulation.</a:t>
            </a:r>
            <a:endParaRPr lang="en-US" sz="1300" dirty="0"/>
          </a:p>
          <a:p>
            <a:pPr indent="0" marL="0">
              <a:lnSpc>
                <a:spcPts val="1800"/>
              </a:lnSpc>
              <a:buNone/>
            </a:pPr>
            <a:r>
              <a:rPr lang="en-US" sz="1300" dirty="0">
                <a:solidFill>
                  <a:srgbClr val="5A4340"/>
                </a:solidFill>
                <a:latin typeface="Calibri" pitchFamily="34" charset="0"/>
                <a:ea typeface="Calibri" pitchFamily="34" charset="-122"/>
                <a:cs typeface="Calibri" pitchFamily="34" charset="-120"/>
              </a:rPr>
              <a:t>C'est exactement ce que l'ONCFM combat.</a:t>
            </a:r>
            <a:endParaRPr lang="en-US" sz="1300" dirty="0"/>
          </a:p>
        </p:txBody>
      </p:sp>
      <p:sp>
        <p:nvSpPr>
          <p:cNvPr id="10" name="Text 8"/>
          <p:cNvSpPr/>
          <p:nvPr/>
        </p:nvSpPr>
        <p:spPr>
          <a:xfrm>
            <a:off x="960120" y="3520440"/>
            <a:ext cx="4709160" cy="274320"/>
          </a:xfrm>
          <a:prstGeom prst="rect">
            <a:avLst/>
          </a:prstGeom>
          <a:noFill/>
          <a:ln/>
        </p:spPr>
        <p:txBody>
          <a:bodyPr wrap="square" lIns="0" tIns="0" rIns="0" bIns="0" rtlCol="0" anchor="ctr"/>
          <a:lstStyle/>
          <a:p>
            <a:pPr indent="0" marL="0">
              <a:buNone/>
            </a:pPr>
            <a:r>
              <a:rPr lang="en-US" sz="1100" b="1" spc="100" kern="0" dirty="0">
                <a:solidFill>
                  <a:srgbClr val="B3261E"/>
                </a:solidFill>
                <a:latin typeface="Calibri" pitchFamily="34" charset="0"/>
                <a:ea typeface="Calibri" pitchFamily="34" charset="-122"/>
                <a:cs typeface="Calibri" pitchFamily="34" charset="-120"/>
              </a:rPr>
              <a:t>COÛT ÉLEVÉ</a:t>
            </a:r>
            <a:endParaRPr lang="en-US" sz="1100" dirty="0"/>
          </a:p>
        </p:txBody>
      </p:sp>
      <p:sp>
        <p:nvSpPr>
          <p:cNvPr id="11" name="Shape 9"/>
          <p:cNvSpPr/>
          <p:nvPr/>
        </p:nvSpPr>
        <p:spPr>
          <a:xfrm>
            <a:off x="6217920" y="2194560"/>
            <a:ext cx="5257800" cy="1874520"/>
          </a:xfrm>
          <a:prstGeom prst="roundRect">
            <a:avLst>
              <a:gd name="adj" fmla="val 2927"/>
            </a:avLst>
          </a:prstGeom>
          <a:solidFill>
            <a:srgbClr val="EDF3F6"/>
          </a:solidFill>
          <a:ln w="12700">
            <a:solidFill>
              <a:srgbClr val="C2D6E0"/>
            </a:solidFill>
            <a:prstDash val="solid"/>
          </a:ln>
          <a:effectLst>
            <a:outerShdw sx="100000" sy="100000" kx="0" ky="0" algn="bl" rotWithShape="0" blurRad="101600" dist="25400" dir="5400000">
              <a:srgbClr val="B9B3A8">
                <a:alpha val="35000"/>
              </a:srgbClr>
            </a:outerShdw>
          </a:effectLst>
        </p:spPr>
      </p:sp>
      <p:sp>
        <p:nvSpPr>
          <p:cNvPr id="12" name="Text 10"/>
          <p:cNvSpPr/>
          <p:nvPr/>
        </p:nvSpPr>
        <p:spPr>
          <a:xfrm>
            <a:off x="6492240" y="2395728"/>
            <a:ext cx="4709160" cy="320040"/>
          </a:xfrm>
          <a:prstGeom prst="rect">
            <a:avLst/>
          </a:prstGeom>
          <a:noFill/>
          <a:ln/>
        </p:spPr>
        <p:txBody>
          <a:bodyPr wrap="square" lIns="0" tIns="0" rIns="0" bIns="0" rtlCol="0" anchor="ctr"/>
          <a:lstStyle/>
          <a:p>
            <a:pPr indent="0" marL="0">
              <a:buNone/>
            </a:pPr>
            <a:r>
              <a:rPr lang="en-US" sz="1400" b="1" dirty="0">
                <a:solidFill>
                  <a:srgbClr val="2E6E8E"/>
                </a:solidFill>
                <a:latin typeface="Calibri" pitchFamily="34" charset="0"/>
                <a:ea typeface="Calibri" pitchFamily="34" charset="-122"/>
                <a:cs typeface="Calibri" pitchFamily="34" charset="-120"/>
              </a:rPr>
              <a:t>Un vrai billet déclaré faux</a:t>
            </a:r>
            <a:endParaRPr lang="en-US" sz="1400" dirty="0"/>
          </a:p>
        </p:txBody>
      </p:sp>
      <p:sp>
        <p:nvSpPr>
          <p:cNvPr id="13" name="Text 11"/>
          <p:cNvSpPr/>
          <p:nvPr/>
        </p:nvSpPr>
        <p:spPr>
          <a:xfrm>
            <a:off x="6492240" y="2743200"/>
            <a:ext cx="4709160" cy="640080"/>
          </a:xfrm>
          <a:prstGeom prst="rect">
            <a:avLst/>
          </a:prstGeom>
          <a:noFill/>
          <a:ln/>
        </p:spPr>
        <p:txBody>
          <a:bodyPr wrap="square" lIns="0" tIns="0" rIns="0" bIns="0" rtlCol="0" anchor="ctr"/>
          <a:lstStyle/>
          <a:p>
            <a:pPr indent="0" marL="0">
              <a:lnSpc>
                <a:spcPts val="1800"/>
              </a:lnSpc>
              <a:buNone/>
            </a:pPr>
            <a:r>
              <a:rPr lang="en-US" sz="1300" dirty="0">
                <a:solidFill>
                  <a:srgbClr val="3D4E58"/>
                </a:solidFill>
                <a:latin typeface="Calibri" pitchFamily="34" charset="0"/>
                <a:ea typeface="Calibri" pitchFamily="34" charset="-122"/>
                <a:cs typeface="Calibri" pitchFamily="34" charset="-120"/>
              </a:rPr>
              <a:t>Le billet part en vérification manuelle.</a:t>
            </a:r>
            <a:endParaRPr lang="en-US" sz="1300" dirty="0"/>
          </a:p>
          <a:p>
            <a:pPr indent="0" marL="0">
              <a:lnSpc>
                <a:spcPts val="1800"/>
              </a:lnSpc>
              <a:buNone/>
            </a:pPr>
            <a:r>
              <a:rPr lang="en-US" sz="1300" dirty="0">
                <a:solidFill>
                  <a:srgbClr val="3D4E58"/>
                </a:solidFill>
                <a:latin typeface="Calibri" pitchFamily="34" charset="0"/>
                <a:ea typeface="Calibri" pitchFamily="34" charset="-122"/>
                <a:cs typeface="Calibri" pitchFamily="34" charset="-120"/>
              </a:rPr>
              <a:t>Du temps agent, aucun préjudice.</a:t>
            </a:r>
            <a:endParaRPr lang="en-US" sz="1300" dirty="0"/>
          </a:p>
        </p:txBody>
      </p:sp>
      <p:sp>
        <p:nvSpPr>
          <p:cNvPr id="14" name="Text 12"/>
          <p:cNvSpPr/>
          <p:nvPr/>
        </p:nvSpPr>
        <p:spPr>
          <a:xfrm>
            <a:off x="6492240" y="3520440"/>
            <a:ext cx="4709160" cy="274320"/>
          </a:xfrm>
          <a:prstGeom prst="rect">
            <a:avLst/>
          </a:prstGeom>
          <a:noFill/>
          <a:ln/>
        </p:spPr>
        <p:txBody>
          <a:bodyPr wrap="square" lIns="0" tIns="0" rIns="0" bIns="0" rtlCol="0" anchor="ctr"/>
          <a:lstStyle/>
          <a:p>
            <a:pPr indent="0" marL="0">
              <a:buNone/>
            </a:pPr>
            <a:r>
              <a:rPr lang="en-US" sz="1100" b="1" spc="100" kern="0" dirty="0">
                <a:solidFill>
                  <a:srgbClr val="2E6E8E"/>
                </a:solidFill>
                <a:latin typeface="Calibri" pitchFamily="34" charset="0"/>
                <a:ea typeface="Calibri" pitchFamily="34" charset="-122"/>
                <a:cs typeface="Calibri" pitchFamily="34" charset="-120"/>
              </a:rPr>
              <a:t>COÛT MODÉRÉ</a:t>
            </a:r>
            <a:endParaRPr lang="en-US" sz="1100" dirty="0"/>
          </a:p>
        </p:txBody>
      </p:sp>
      <p:sp>
        <p:nvSpPr>
          <p:cNvPr id="15" name="Shape 13"/>
          <p:cNvSpPr/>
          <p:nvPr/>
        </p:nvSpPr>
        <p:spPr>
          <a:xfrm>
            <a:off x="685800" y="4315968"/>
            <a:ext cx="10817352" cy="1600200"/>
          </a:xfrm>
          <a:prstGeom prst="roundRect">
            <a:avLst>
              <a:gd name="adj" fmla="val 3429"/>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16" name="Text 14"/>
          <p:cNvSpPr/>
          <p:nvPr/>
        </p:nvSpPr>
        <p:spPr>
          <a:xfrm>
            <a:off x="1005840" y="4480560"/>
            <a:ext cx="10515600" cy="292608"/>
          </a:xfrm>
          <a:prstGeom prst="rect">
            <a:avLst/>
          </a:prstGeom>
          <a:noFill/>
          <a:ln/>
        </p:spPr>
        <p:txBody>
          <a:bodyPr wrap="square" lIns="0" tIns="0" rIns="0" bIns="0" rtlCol="0" anchor="ctr"/>
          <a:lstStyle/>
          <a:p>
            <a:pPr indent="0" marL="0">
              <a:buNone/>
            </a:pPr>
            <a:r>
              <a:rPr lang="en-US" sz="1300" b="1" dirty="0">
                <a:solidFill>
                  <a:srgbClr val="C89B3C"/>
                </a:solidFill>
                <a:latin typeface="Calibri" pitchFamily="34" charset="0"/>
                <a:ea typeface="Calibri" pitchFamily="34" charset="-122"/>
                <a:cs typeface="Calibri" pitchFamily="34" charset="-120"/>
              </a:rPr>
              <a:t>Trois conséquences directes</a:t>
            </a:r>
            <a:endParaRPr lang="en-US" sz="1300" dirty="0"/>
          </a:p>
        </p:txBody>
      </p:sp>
      <p:sp>
        <p:nvSpPr>
          <p:cNvPr id="17" name="Text 15"/>
          <p:cNvSpPr/>
          <p:nvPr/>
        </p:nvSpPr>
        <p:spPr>
          <a:xfrm>
            <a:off x="1005840" y="4791456"/>
            <a:ext cx="10515600" cy="96012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DCE4EC"/>
                </a:solidFill>
                <a:latin typeface="Calibri" pitchFamily="34" charset="0"/>
                <a:ea typeface="Calibri" pitchFamily="34" charset="-122"/>
                <a:cs typeface="Calibri" pitchFamily="34" charset="-120"/>
              </a:rPr>
              <a:t>L'accuracy est écartée comme critère : répondre « authentique » à tout donne déjà 66,7 %</a:t>
            </a:r>
            <a:endParaRPr lang="en-US" sz="1300" dirty="0"/>
          </a:p>
          <a:p>
            <a:pPr marL="342900" indent="-342900">
              <a:lnSpc>
                <a:spcPts val="2000"/>
              </a:lnSpc>
              <a:spcAft>
                <a:spcPts val="1000"/>
              </a:spcAft>
              <a:buSzPct val="100000"/>
              <a:buChar char="▪"/>
            </a:pPr>
            <a:r>
              <a:rPr lang="en-US" sz="1300" dirty="0">
                <a:solidFill>
                  <a:srgbClr val="DCE4EC"/>
                </a:solidFill>
                <a:latin typeface="Calibri" pitchFamily="34" charset="0"/>
                <a:ea typeface="Calibri" pitchFamily="34" charset="-122"/>
                <a:cs typeface="Calibri" pitchFamily="34" charset="-120"/>
              </a:rPr>
              <a:t>La métrique prioritaire est le rappel sur la classe « faux » — la part des contrefaçons interceptées</a:t>
            </a:r>
            <a:endParaRPr lang="en-US" sz="1300" dirty="0"/>
          </a:p>
          <a:p>
            <a:pPr marL="342900" indent="-342900">
              <a:lnSpc>
                <a:spcPts val="2000"/>
              </a:lnSpc>
              <a:spcAft>
                <a:spcPts val="1000"/>
              </a:spcAft>
              <a:buSzPct val="100000"/>
              <a:buChar char="▪"/>
            </a:pPr>
            <a:r>
              <a:rPr lang="en-US" sz="1300" dirty="0">
                <a:solidFill>
                  <a:srgbClr val="DCE4EC"/>
                </a:solidFill>
                <a:latin typeface="Calibri" pitchFamily="34" charset="0"/>
                <a:ea typeface="Calibri" pitchFamily="34" charset="-122"/>
                <a:cs typeface="Calibri" pitchFamily="34" charset="-120"/>
              </a:rPr>
              <a:t>Le seuil de décision sera ajusté, et non laissé à 0,5 qui suppose deux erreurs de coût égal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Les données et leur qualité</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1 500 billets scannés et labellisés</a:t>
            </a:r>
            <a:endParaRPr lang="en-US" sz="1300" dirty="0"/>
          </a:p>
        </p:txBody>
      </p:sp>
      <p:sp>
        <p:nvSpPr>
          <p:cNvPr id="6" name="Text 4"/>
          <p:cNvSpPr/>
          <p:nvPr/>
        </p:nvSpPr>
        <p:spPr>
          <a:xfrm>
            <a:off x="685800" y="1600200"/>
            <a:ext cx="2377440" cy="658368"/>
          </a:xfrm>
          <a:prstGeom prst="rect">
            <a:avLst/>
          </a:prstGeom>
          <a:noFill/>
          <a:ln/>
        </p:spPr>
        <p:txBody>
          <a:bodyPr wrap="square" lIns="0" tIns="0" rIns="0" bIns="0" rtlCol="0" anchor="ctr"/>
          <a:lstStyle/>
          <a:p>
            <a:pPr algn="ctr" indent="0" marL="0">
              <a:buNone/>
            </a:pPr>
            <a:r>
              <a:rPr lang="en-US" sz="4000" b="1" dirty="0">
                <a:solidFill>
                  <a:srgbClr val="12263A"/>
                </a:solidFill>
                <a:latin typeface="Cambria" pitchFamily="34" charset="0"/>
                <a:ea typeface="Cambria" pitchFamily="34" charset="-122"/>
                <a:cs typeface="Cambria" pitchFamily="34" charset="-120"/>
              </a:rPr>
              <a:t>1 500</a:t>
            </a:r>
            <a:endParaRPr lang="en-US" sz="4000" dirty="0"/>
          </a:p>
        </p:txBody>
      </p:sp>
      <p:sp>
        <p:nvSpPr>
          <p:cNvPr id="7" name="Text 5"/>
          <p:cNvSpPr/>
          <p:nvPr/>
        </p:nvSpPr>
        <p:spPr>
          <a:xfrm>
            <a:off x="685800" y="2258568"/>
            <a:ext cx="237744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billets fournis</a:t>
            </a:r>
            <a:endParaRPr lang="en-US" sz="1100" dirty="0"/>
          </a:p>
        </p:txBody>
      </p:sp>
      <p:sp>
        <p:nvSpPr>
          <p:cNvPr id="8" name="Text 6"/>
          <p:cNvSpPr/>
          <p:nvPr/>
        </p:nvSpPr>
        <p:spPr>
          <a:xfrm>
            <a:off x="3200400" y="1600200"/>
            <a:ext cx="2377440" cy="658368"/>
          </a:xfrm>
          <a:prstGeom prst="rect">
            <a:avLst/>
          </a:prstGeom>
          <a:noFill/>
          <a:ln/>
        </p:spPr>
        <p:txBody>
          <a:bodyPr wrap="square" lIns="0" tIns="0" rIns="0" bIns="0" rtlCol="0" anchor="ctr"/>
          <a:lstStyle/>
          <a:p>
            <a:pPr algn="ctr" indent="0" marL="0">
              <a:buNone/>
            </a:pPr>
            <a:r>
              <a:rPr lang="en-US" sz="4000" b="1" dirty="0">
                <a:solidFill>
                  <a:srgbClr val="2E6E8E"/>
                </a:solidFill>
                <a:latin typeface="Cambria" pitchFamily="34" charset="0"/>
                <a:ea typeface="Cambria" pitchFamily="34" charset="-122"/>
                <a:cs typeface="Cambria" pitchFamily="34" charset="-120"/>
              </a:rPr>
              <a:t>1 000</a:t>
            </a:r>
            <a:endParaRPr lang="en-US" sz="4000" dirty="0"/>
          </a:p>
        </p:txBody>
      </p:sp>
      <p:sp>
        <p:nvSpPr>
          <p:cNvPr id="9" name="Text 7"/>
          <p:cNvSpPr/>
          <p:nvPr/>
        </p:nvSpPr>
        <p:spPr>
          <a:xfrm>
            <a:off x="3200400" y="2258568"/>
            <a:ext cx="237744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vrais billets (66,7 %)</a:t>
            </a:r>
            <a:endParaRPr lang="en-US" sz="1100" dirty="0"/>
          </a:p>
        </p:txBody>
      </p:sp>
      <p:sp>
        <p:nvSpPr>
          <p:cNvPr id="10" name="Text 8"/>
          <p:cNvSpPr/>
          <p:nvPr/>
        </p:nvSpPr>
        <p:spPr>
          <a:xfrm>
            <a:off x="5715000" y="1600200"/>
            <a:ext cx="2377440" cy="658368"/>
          </a:xfrm>
          <a:prstGeom prst="rect">
            <a:avLst/>
          </a:prstGeom>
          <a:noFill/>
          <a:ln/>
        </p:spPr>
        <p:txBody>
          <a:bodyPr wrap="square" lIns="0" tIns="0" rIns="0" bIns="0" rtlCol="0" anchor="ctr"/>
          <a:lstStyle/>
          <a:p>
            <a:pPr algn="ctr" indent="0" marL="0">
              <a:buNone/>
            </a:pPr>
            <a:r>
              <a:rPr lang="en-US" sz="4000" b="1" dirty="0">
                <a:solidFill>
                  <a:srgbClr val="B3261E"/>
                </a:solidFill>
                <a:latin typeface="Cambria" pitchFamily="34" charset="0"/>
                <a:ea typeface="Cambria" pitchFamily="34" charset="-122"/>
                <a:cs typeface="Cambria" pitchFamily="34" charset="-120"/>
              </a:rPr>
              <a:t>500</a:t>
            </a:r>
            <a:endParaRPr lang="en-US" sz="4000" dirty="0"/>
          </a:p>
        </p:txBody>
      </p:sp>
      <p:sp>
        <p:nvSpPr>
          <p:cNvPr id="11" name="Text 9"/>
          <p:cNvSpPr/>
          <p:nvPr/>
        </p:nvSpPr>
        <p:spPr>
          <a:xfrm>
            <a:off x="5715000" y="2258568"/>
            <a:ext cx="237744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faux billets (33,3 %)</a:t>
            </a:r>
            <a:endParaRPr lang="en-US" sz="1100" dirty="0"/>
          </a:p>
        </p:txBody>
      </p:sp>
      <p:sp>
        <p:nvSpPr>
          <p:cNvPr id="12" name="Text 10"/>
          <p:cNvSpPr/>
          <p:nvPr/>
        </p:nvSpPr>
        <p:spPr>
          <a:xfrm>
            <a:off x="8229600" y="1600200"/>
            <a:ext cx="2377440" cy="658368"/>
          </a:xfrm>
          <a:prstGeom prst="rect">
            <a:avLst/>
          </a:prstGeom>
          <a:noFill/>
          <a:ln/>
        </p:spPr>
        <p:txBody>
          <a:bodyPr wrap="square" lIns="0" tIns="0" rIns="0" bIns="0" rtlCol="0" anchor="ctr"/>
          <a:lstStyle/>
          <a:p>
            <a:pPr algn="ctr" indent="0" marL="0">
              <a:buNone/>
            </a:pPr>
            <a:r>
              <a:rPr lang="en-US" sz="4000" b="1" dirty="0">
                <a:solidFill>
                  <a:srgbClr val="C89B3C"/>
                </a:solidFill>
                <a:latin typeface="Cambria" pitchFamily="34" charset="0"/>
                <a:ea typeface="Cambria" pitchFamily="34" charset="-122"/>
                <a:cs typeface="Cambria" pitchFamily="34" charset="-120"/>
              </a:rPr>
              <a:t>37</a:t>
            </a:r>
            <a:endParaRPr lang="en-US" sz="4000" dirty="0"/>
          </a:p>
        </p:txBody>
      </p:sp>
      <p:sp>
        <p:nvSpPr>
          <p:cNvPr id="13" name="Text 11"/>
          <p:cNvSpPr/>
          <p:nvPr/>
        </p:nvSpPr>
        <p:spPr>
          <a:xfrm>
            <a:off x="8229600" y="2258568"/>
            <a:ext cx="237744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mesures manquantes</a:t>
            </a:r>
            <a:endParaRPr lang="en-US" sz="1100" dirty="0"/>
          </a:p>
        </p:txBody>
      </p:sp>
      <p:sp>
        <p:nvSpPr>
          <p:cNvPr id="14" name="Shape 12"/>
          <p:cNvSpPr/>
          <p:nvPr/>
        </p:nvSpPr>
        <p:spPr>
          <a:xfrm>
            <a:off x="685800" y="3108960"/>
            <a:ext cx="5257800" cy="1371600"/>
          </a:xfrm>
          <a:prstGeom prst="roundRect">
            <a:avLst>
              <a:gd name="adj" fmla="val 4000"/>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5" name="Text 13"/>
          <p:cNvSpPr/>
          <p:nvPr/>
        </p:nvSpPr>
        <p:spPr>
          <a:xfrm>
            <a:off x="960120" y="3273552"/>
            <a:ext cx="4709160" cy="292608"/>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Aucun doublon, aucune valeur aberrante</a:t>
            </a:r>
            <a:endParaRPr lang="en-US" sz="1400" dirty="0"/>
          </a:p>
        </p:txBody>
      </p:sp>
      <p:sp>
        <p:nvSpPr>
          <p:cNvPr id="16" name="Text 14"/>
          <p:cNvSpPr/>
          <p:nvPr/>
        </p:nvSpPr>
        <p:spPr>
          <a:xfrm>
            <a:off x="960120" y="3584448"/>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Les billets courts ou aux marges larges ne sont pas des anomalies de mesure : ils sont le phénomène étudié. Aucun n'a été supprimé.</a:t>
            </a:r>
            <a:endParaRPr lang="en-US" sz="1250" dirty="0"/>
          </a:p>
        </p:txBody>
      </p:sp>
      <p:sp>
        <p:nvSpPr>
          <p:cNvPr id="17" name="Shape 15"/>
          <p:cNvSpPr/>
          <p:nvPr/>
        </p:nvSpPr>
        <p:spPr>
          <a:xfrm>
            <a:off x="6217920" y="3108960"/>
            <a:ext cx="5257800" cy="1371600"/>
          </a:xfrm>
          <a:prstGeom prst="roundRect">
            <a:avLst>
              <a:gd name="adj" fmla="val 4000"/>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8" name="Text 16"/>
          <p:cNvSpPr/>
          <p:nvPr/>
        </p:nvSpPr>
        <p:spPr>
          <a:xfrm>
            <a:off x="6492240" y="3273552"/>
            <a:ext cx="4709160" cy="292608"/>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Les valeurs manquantes le sont au hasard</a:t>
            </a:r>
            <a:endParaRPr lang="en-US" sz="1400" dirty="0"/>
          </a:p>
        </p:txBody>
      </p:sp>
      <p:sp>
        <p:nvSpPr>
          <p:cNvPr id="19" name="Text 17"/>
          <p:cNvSpPr/>
          <p:nvPr/>
        </p:nvSpPr>
        <p:spPr>
          <a:xfrm>
            <a:off x="6492240" y="3584448"/>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2,9 % des vrais contre 1,6 % des faux. Test du khi-deux : p = 0,176. Rien n'indique que la machine échoue davantage sur les contrefaçons.</a:t>
            </a:r>
            <a:endParaRPr lang="en-US" sz="1250" dirty="0"/>
          </a:p>
        </p:txBody>
      </p:sp>
      <p:sp>
        <p:nvSpPr>
          <p:cNvPr id="20" name="Shape 18"/>
          <p:cNvSpPr/>
          <p:nvPr/>
        </p:nvSpPr>
        <p:spPr>
          <a:xfrm>
            <a:off x="685800" y="4754880"/>
            <a:ext cx="10817352" cy="1143000"/>
          </a:xfrm>
          <a:prstGeom prst="roundRect">
            <a:avLst>
              <a:gd name="adj" fmla="val 4800"/>
            </a:avLst>
          </a:prstGeom>
          <a:solidFill>
            <a:srgbClr val="FDF6E7"/>
          </a:solidFill>
          <a:ln w="12700">
            <a:solidFill>
              <a:srgbClr val="E8D5A8"/>
            </a:solidFill>
            <a:prstDash val="solid"/>
          </a:ln>
          <a:effectLst>
            <a:outerShdw sx="100000" sy="100000" kx="0" ky="0" algn="bl" rotWithShape="0" blurRad="101600" dist="25400" dir="5400000">
              <a:srgbClr val="B9B3A8">
                <a:alpha val="35000"/>
              </a:srgbClr>
            </a:outerShdw>
          </a:effectLst>
        </p:spPr>
      </p:sp>
      <p:sp>
        <p:nvSpPr>
          <p:cNvPr id="21" name="Text 19"/>
          <p:cNvSpPr/>
          <p:nvPr/>
        </p:nvSpPr>
        <p:spPr>
          <a:xfrm>
            <a:off x="1005840" y="4919472"/>
            <a:ext cx="10424160" cy="274320"/>
          </a:xfrm>
          <a:prstGeom prst="rect">
            <a:avLst/>
          </a:prstGeom>
          <a:noFill/>
          <a:ln/>
        </p:spPr>
        <p:txBody>
          <a:bodyPr wrap="square" lIns="0" tIns="0" rIns="0" bIns="0" rtlCol="0" anchor="ctr"/>
          <a:lstStyle/>
          <a:p>
            <a:pPr indent="0" marL="0">
              <a:buNone/>
            </a:pPr>
            <a:r>
              <a:rPr lang="en-US" sz="1300" b="1" dirty="0">
                <a:solidFill>
                  <a:srgbClr val="8A6A1E"/>
                </a:solidFill>
                <a:latin typeface="Calibri" pitchFamily="34" charset="0"/>
                <a:ea typeface="Calibri" pitchFamily="34" charset="-122"/>
                <a:cs typeface="Calibri" pitchFamily="34" charset="-120"/>
              </a:rPr>
              <a:t>Pourquoi cette vérification compte</a:t>
            </a:r>
            <a:endParaRPr lang="en-US" sz="1300" dirty="0"/>
          </a:p>
        </p:txBody>
      </p:sp>
      <p:sp>
        <p:nvSpPr>
          <p:cNvPr id="22" name="Text 20"/>
          <p:cNvSpPr/>
          <p:nvPr/>
        </p:nvSpPr>
        <p:spPr>
          <a:xfrm>
            <a:off x="1005840" y="5212080"/>
            <a:ext cx="10424160" cy="548640"/>
          </a:xfrm>
          <a:prstGeom prst="rect">
            <a:avLst/>
          </a:prstGeom>
          <a:noFill/>
          <a:ln/>
        </p:spPr>
        <p:txBody>
          <a:bodyPr wrap="square" lIns="0" tIns="0" rIns="0" bIns="0" rtlCol="0" anchor="ctr"/>
          <a:lstStyle/>
          <a:p>
            <a:pPr indent="0" marL="0">
              <a:lnSpc>
                <a:spcPts val="1700"/>
              </a:lnSpc>
              <a:buNone/>
            </a:pPr>
            <a:r>
              <a:rPr lang="en-US" sz="1250" dirty="0">
                <a:solidFill>
                  <a:srgbClr val="6B5518"/>
                </a:solidFill>
                <a:latin typeface="Calibri" pitchFamily="34" charset="0"/>
                <a:ea typeface="Calibri" pitchFamily="34" charset="-122"/>
                <a:cs typeface="Calibri" pitchFamily="34" charset="-120"/>
              </a:rPr>
              <a:t>Si les mesures absentes s'étaient concentrées sur une classe, les reconstruire aurait introduit un biais systématique en faveur de cette classe. C'est ce test qui autorise à imputer plutôt qu'à supprimer 37 billets.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Ce qui distingue physiquement un faux billet</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d de Cohen : écart entre les deux classes, exprimé en écarts-types</a:t>
            </a:r>
            <a:endParaRPr lang="en-US" sz="1300" dirty="0"/>
          </a:p>
        </p:txBody>
      </p:sp>
      <p:graphicFrame>
        <p:nvGraphicFramePr>
          <p:cNvPr id="6" name="Chart 0" descr=""/>
          <p:cNvGraphicFramePr/>
          <p:nvPr/>
        </p:nvGraphicFramePr>
        <p:xfrm>
          <a:off x="685800" y="1572768"/>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26680" y="1572768"/>
            <a:ext cx="3749040" cy="1920240"/>
          </a:xfrm>
          <a:prstGeom prst="roundRect">
            <a:avLst>
              <a:gd name="adj" fmla="val 2857"/>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8" name="Text 5"/>
          <p:cNvSpPr/>
          <p:nvPr/>
        </p:nvSpPr>
        <p:spPr>
          <a:xfrm>
            <a:off x="7955280" y="1755648"/>
            <a:ext cx="3291840" cy="640080"/>
          </a:xfrm>
          <a:prstGeom prst="rect">
            <a:avLst/>
          </a:prstGeom>
          <a:noFill/>
          <a:ln/>
        </p:spPr>
        <p:txBody>
          <a:bodyPr wrap="square" lIns="0" tIns="0" rIns="0" bIns="0" rtlCol="0" anchor="ctr"/>
          <a:lstStyle/>
          <a:p>
            <a:pPr indent="0" marL="0">
              <a:lnSpc>
                <a:spcPts val="1900"/>
              </a:lnSpc>
              <a:buNone/>
            </a:pPr>
            <a:r>
              <a:rPr lang="en-US" sz="1400" b="1" dirty="0">
                <a:solidFill>
                  <a:srgbClr val="C89B3C"/>
                </a:solidFill>
                <a:latin typeface="Calibri" pitchFamily="34" charset="0"/>
                <a:ea typeface="Calibri" pitchFamily="34" charset="-122"/>
                <a:cs typeface="Calibri" pitchFamily="34" charset="-120"/>
              </a:rPr>
              <a:t>Deux mesures portent</a:t>
            </a:r>
            <a:endParaRPr lang="en-US" sz="1400" dirty="0"/>
          </a:p>
          <a:p>
            <a:pPr indent="0" marL="0">
              <a:lnSpc>
                <a:spcPts val="1900"/>
              </a:lnSpc>
              <a:buNone/>
            </a:pPr>
            <a:r>
              <a:rPr lang="en-US" sz="1400" b="1" dirty="0">
                <a:solidFill>
                  <a:srgbClr val="C89B3C"/>
                </a:solidFill>
                <a:latin typeface="Calibri" pitchFamily="34" charset="0"/>
                <a:ea typeface="Calibri" pitchFamily="34" charset="-122"/>
                <a:cs typeface="Calibri" pitchFamily="34" charset="-120"/>
              </a:rPr>
              <a:t>l'essentiel du signal</a:t>
            </a:r>
            <a:endParaRPr lang="en-US" sz="1400" dirty="0"/>
          </a:p>
        </p:txBody>
      </p:sp>
      <p:sp>
        <p:nvSpPr>
          <p:cNvPr id="9" name="Text 6"/>
          <p:cNvSpPr/>
          <p:nvPr/>
        </p:nvSpPr>
        <p:spPr>
          <a:xfrm>
            <a:off x="7955280" y="2450592"/>
            <a:ext cx="3291840" cy="914400"/>
          </a:xfrm>
          <a:prstGeom prst="rect">
            <a:avLst/>
          </a:prstGeom>
          <a:noFill/>
          <a:ln/>
        </p:spPr>
        <p:txBody>
          <a:bodyPr wrap="square" lIns="0" tIns="0" rIns="0" bIns="0" rtlCol="0" anchor="ctr"/>
          <a:lstStyle/>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Les vrais billets sont en moyenne 1,57 mm plus longs, et les faux impriment leur image avec une marge inférieure nettement plus large.</a:t>
            </a:r>
            <a:endParaRPr lang="en-US" sz="1250" dirty="0"/>
          </a:p>
        </p:txBody>
      </p:sp>
      <p:sp>
        <p:nvSpPr>
          <p:cNvPr id="10" name="Shape 7"/>
          <p:cNvSpPr/>
          <p:nvPr/>
        </p:nvSpPr>
        <p:spPr>
          <a:xfrm>
            <a:off x="7726680" y="3703320"/>
            <a:ext cx="3749040" cy="1892808"/>
          </a:xfrm>
          <a:prstGeom prst="roundRect">
            <a:avLst>
              <a:gd name="adj" fmla="val 2899"/>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1" name="Text 8"/>
          <p:cNvSpPr/>
          <p:nvPr/>
        </p:nvSpPr>
        <p:spPr>
          <a:xfrm>
            <a:off x="7955280" y="3886200"/>
            <a:ext cx="3291840" cy="274320"/>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Et diagonal ?</a:t>
            </a:r>
            <a:endParaRPr lang="en-US" sz="1400" dirty="0"/>
          </a:p>
        </p:txBody>
      </p:sp>
      <p:sp>
        <p:nvSpPr>
          <p:cNvPr id="12" name="Text 9"/>
          <p:cNvSpPr/>
          <p:nvPr/>
        </p:nvSpPr>
        <p:spPr>
          <a:xfrm>
            <a:off x="7955280" y="4206240"/>
            <a:ext cx="3291840" cy="10058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Quasiment inutile prise isolément (d = 0,28). Elle a pourtant été conservée : la retirer fait perdre 0,004 de F-bêta(2), et sa mesure ne coûte rien.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04</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Imputation : une méthode choisie par la mesure</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37 valeurs masquées artificiellement, 30 répétitions, erreur de reconstruction comparée</a:t>
            </a:r>
            <a:endParaRPr lang="en-US" sz="1300" dirty="0"/>
          </a:p>
        </p:txBody>
      </p:sp>
      <p:graphicFrame>
        <p:nvGraphicFramePr>
          <p:cNvPr id="6" name="Chart 0" descr=""/>
          <p:cNvGraphicFramePr/>
          <p:nvPr/>
        </p:nvGraphicFramePr>
        <p:xfrm>
          <a:off x="685800" y="1627632"/>
          <a:ext cx="667512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26680" y="1627632"/>
            <a:ext cx="3749040" cy="3931920"/>
          </a:xfrm>
          <a:prstGeom prst="roundRect">
            <a:avLst>
              <a:gd name="adj" fmla="val 1463"/>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8" name="Text 5"/>
          <p:cNvSpPr/>
          <p:nvPr/>
        </p:nvSpPr>
        <p:spPr>
          <a:xfrm>
            <a:off x="7955280" y="1810512"/>
            <a:ext cx="3291840" cy="292608"/>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Trois enseignements</a:t>
            </a:r>
            <a:endParaRPr lang="en-US" sz="1400" dirty="0"/>
          </a:p>
        </p:txBody>
      </p:sp>
      <p:sp>
        <p:nvSpPr>
          <p:cNvPr id="9" name="Text 6"/>
          <p:cNvSpPr/>
          <p:nvPr/>
        </p:nvSpPr>
        <p:spPr>
          <a:xfrm>
            <a:off x="7955280" y="2194560"/>
            <a:ext cx="3291840" cy="310896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250" dirty="0">
                <a:solidFill>
                  <a:srgbClr val="2B3A47"/>
                </a:solidFill>
                <a:latin typeface="Calibri" pitchFamily="34" charset="0"/>
                <a:ea typeface="Calibri" pitchFamily="34" charset="-122"/>
                <a:cs typeface="Calibri" pitchFamily="34" charset="-120"/>
              </a:rPr>
              <a:t>La régression linéaire réduit l'erreur de 29 % par rapport à la médiane.</a:t>
            </a:r>
            <a:endParaRPr lang="en-US" sz="1250" dirty="0"/>
          </a:p>
          <a:p>
            <a:pPr marL="342900" indent="-342900">
              <a:lnSpc>
                <a:spcPts val="2000"/>
              </a:lnSpc>
              <a:spcAft>
                <a:spcPts val="1000"/>
              </a:spcAft>
              <a:buSzPct val="100000"/>
              <a:buChar char="▪"/>
            </a:pPr>
            <a:r>
              <a:rPr lang="en-US" sz="1250" dirty="0">
                <a:solidFill>
                  <a:srgbClr val="2B3A47"/>
                </a:solidFill>
                <a:latin typeface="Calibri" pitchFamily="34" charset="0"/>
                <a:ea typeface="Calibri" pitchFamily="34" charset="-122"/>
                <a:cs typeface="Calibri" pitchFamily="34" charset="-120"/>
              </a:rPr>
              <a:t>Imputer par une constante n'exploite aucune information : le RMSE de la moyenne (0,622) égale presque l'écart-type de la variable (0,656).</a:t>
            </a:r>
            <a:endParaRPr lang="en-US" sz="1250" dirty="0"/>
          </a:p>
          <a:p>
            <a:pPr marL="342900" indent="-342900">
              <a:lnSpc>
                <a:spcPts val="2000"/>
              </a:lnSpc>
              <a:spcAft>
                <a:spcPts val="1000"/>
              </a:spcAft>
              <a:buSzPct val="100000"/>
              <a:buChar char="▪"/>
            </a:pPr>
            <a:r>
              <a:rPr lang="en-US" sz="1250" dirty="0">
                <a:solidFill>
                  <a:srgbClr val="2B3A47"/>
                </a:solidFill>
                <a:latin typeface="Calibri" pitchFamily="34" charset="0"/>
                <a:ea typeface="Calibri" pitchFamily="34" charset="-122"/>
                <a:cs typeface="Calibri" pitchFamily="34" charset="-120"/>
              </a:rPr>
              <a:t>Standardiser avant le KNN améliore bien le résultat — l'algorithme calcule des distances, l'échelle compte.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05</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La règle qui protège l'honnêteté des résultats</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Toute décision prise en regardant un jeu de données rend ce jeu inutilisable pour l'évaluer</a:t>
            </a:r>
            <a:endParaRPr lang="en-US" sz="1300" dirty="0"/>
          </a:p>
        </p:txBody>
      </p:sp>
      <p:sp>
        <p:nvSpPr>
          <p:cNvPr id="6" name="Shape 4"/>
          <p:cNvSpPr/>
          <p:nvPr/>
        </p:nvSpPr>
        <p:spPr>
          <a:xfrm>
            <a:off x="685800" y="1691640"/>
            <a:ext cx="3429000" cy="2286000"/>
          </a:xfrm>
          <a:prstGeom prst="roundRect">
            <a:avLst>
              <a:gd name="adj" fmla="val 2400"/>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7" name="Text 5"/>
          <p:cNvSpPr/>
          <p:nvPr/>
        </p:nvSpPr>
        <p:spPr>
          <a:xfrm>
            <a:off x="941832" y="1901952"/>
            <a:ext cx="2926080" cy="310896"/>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1 · Découpage</a:t>
            </a:r>
            <a:endParaRPr lang="en-US" sz="1400" dirty="0"/>
          </a:p>
        </p:txBody>
      </p:sp>
      <p:sp>
        <p:nvSpPr>
          <p:cNvPr id="8" name="Text 6"/>
          <p:cNvSpPr/>
          <p:nvPr/>
        </p:nvSpPr>
        <p:spPr>
          <a:xfrm>
            <a:off x="941832" y="2286000"/>
            <a:ext cx="2926080" cy="1463040"/>
          </a:xfrm>
          <a:prstGeom prst="rect">
            <a:avLst/>
          </a:prstGeom>
          <a:noFill/>
          <a:ln/>
        </p:spPr>
        <p:txBody>
          <a:bodyPr wrap="square" lIns="0" tIns="0" rIns="0" bIns="0" rtlCol="0" anchor="ctr"/>
          <a:lstStyle/>
          <a:p>
            <a:pPr indent="0" marL="0">
              <a:lnSpc>
                <a:spcPts val="1800"/>
              </a:lnSpc>
              <a:buNone/>
            </a:pPr>
            <a:r>
              <a:rPr lang="en-US" sz="1250" dirty="0">
                <a:solidFill>
                  <a:srgbClr val="44525E"/>
                </a:solidFill>
                <a:latin typeface="Calibri" pitchFamily="34" charset="0"/>
                <a:ea typeface="Calibri" pitchFamily="34" charset="-122"/>
                <a:cs typeface="Calibri" pitchFamily="34" charset="-120"/>
              </a:rPr>
              <a:t>1 500 billets</a:t>
            </a:r>
            <a:endParaRPr lang="en-US" sz="1250" dirty="0"/>
          </a:p>
          <a:p>
            <a:pPr indent="0" marL="0">
              <a:lnSpc>
                <a:spcPts val="1800"/>
              </a:lnSpc>
              <a:buNone/>
            </a:pPr>
            <a:r>
              <a:rPr lang="en-US" sz="1250" dirty="0">
                <a:solidFill>
                  <a:srgbClr val="44525E"/>
                </a:solidFill>
                <a:latin typeface="Calibri" pitchFamily="34" charset="0"/>
                <a:ea typeface="Calibri" pitchFamily="34" charset="-122"/>
                <a:cs typeface="Calibri" pitchFamily="34" charset="-120"/>
              </a:rPr>
              <a:t>→ 1 200 entraînement</a:t>
            </a:r>
            <a:endParaRPr lang="en-US" sz="1250" dirty="0"/>
          </a:p>
          <a:p>
            <a:pPr indent="0" marL="0">
              <a:lnSpc>
                <a:spcPts val="1800"/>
              </a:lnSpc>
              <a:buNone/>
            </a:pPr>
            <a:r>
              <a:rPr lang="en-US" sz="1250" dirty="0">
                <a:solidFill>
                  <a:srgbClr val="44525E"/>
                </a:solidFill>
                <a:latin typeface="Calibri" pitchFamily="34" charset="0"/>
                <a:ea typeface="Calibri" pitchFamily="34" charset="-122"/>
                <a:cs typeface="Calibri" pitchFamily="34" charset="-120"/>
              </a:rPr>
              <a:t>→ 300 test, stratifié</a:t>
            </a:r>
            <a:endParaRPr lang="en-US" sz="1250" dirty="0"/>
          </a:p>
        </p:txBody>
      </p:sp>
      <p:sp>
        <p:nvSpPr>
          <p:cNvPr id="9" name="Text 7"/>
          <p:cNvSpPr/>
          <p:nvPr/>
        </p:nvSpPr>
        <p:spPr>
          <a:xfrm>
            <a:off x="4114800" y="2651760"/>
            <a:ext cx="320040" cy="365760"/>
          </a:xfrm>
          <a:prstGeom prst="rect">
            <a:avLst/>
          </a:prstGeom>
          <a:noFill/>
          <a:ln/>
        </p:spPr>
        <p:txBody>
          <a:bodyPr wrap="square" lIns="0" tIns="0" rIns="0" bIns="0" rtlCol="0" anchor="ctr"/>
          <a:lstStyle/>
          <a:p>
            <a:pPr algn="ctr" indent="0" marL="0">
              <a:buNone/>
            </a:pPr>
            <a:r>
              <a:rPr lang="en-US" sz="2000" b="1" dirty="0">
                <a:solidFill>
                  <a:srgbClr val="C89B3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434840" y="1691640"/>
            <a:ext cx="3429000" cy="2286000"/>
          </a:xfrm>
          <a:prstGeom prst="roundRect">
            <a:avLst>
              <a:gd name="adj" fmla="val 2400"/>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11" name="Text 9"/>
          <p:cNvSpPr/>
          <p:nvPr/>
        </p:nvSpPr>
        <p:spPr>
          <a:xfrm>
            <a:off x="4690872" y="1901952"/>
            <a:ext cx="2926080" cy="310896"/>
          </a:xfrm>
          <a:prstGeom prst="rect">
            <a:avLst/>
          </a:prstGeom>
          <a:noFill/>
          <a:ln/>
        </p:spPr>
        <p:txBody>
          <a:bodyPr wrap="square" lIns="0" tIns="0" rIns="0" bIns="0" rtlCol="0" anchor="ctr"/>
          <a:lstStyle/>
          <a:p>
            <a:pPr indent="0" marL="0">
              <a:buNone/>
            </a:pPr>
            <a:r>
              <a:rPr lang="en-US" sz="1400" b="1" dirty="0">
                <a:solidFill>
                  <a:srgbClr val="C89B3C"/>
                </a:solidFill>
                <a:latin typeface="Calibri" pitchFamily="34" charset="0"/>
                <a:ea typeface="Calibri" pitchFamily="34" charset="-122"/>
                <a:cs typeface="Calibri" pitchFamily="34" charset="-120"/>
              </a:rPr>
              <a:t>2 · Toutes les décisions</a:t>
            </a:r>
            <a:endParaRPr lang="en-US" sz="1400" dirty="0"/>
          </a:p>
        </p:txBody>
      </p:sp>
      <p:sp>
        <p:nvSpPr>
          <p:cNvPr id="12" name="Text 10"/>
          <p:cNvSpPr/>
          <p:nvPr/>
        </p:nvSpPr>
        <p:spPr>
          <a:xfrm>
            <a:off x="4690872" y="2286000"/>
            <a:ext cx="2926080" cy="1463040"/>
          </a:xfrm>
          <a:prstGeom prst="rect">
            <a:avLst/>
          </a:prstGeom>
          <a:noFill/>
          <a:ln/>
        </p:spPr>
        <p:txBody>
          <a:bodyPr wrap="square" lIns="0" tIns="0" rIns="0" bIns="0" rtlCol="0" anchor="ctr"/>
          <a:lstStyle/>
          <a:p>
            <a:pPr indent="0" marL="0">
              <a:lnSpc>
                <a:spcPts val="1800"/>
              </a:lnSpc>
              <a:buNone/>
            </a:pPr>
            <a:r>
              <a:rPr lang="en-US" sz="1250" dirty="0">
                <a:solidFill>
                  <a:srgbClr val="D3DCE5"/>
                </a:solidFill>
                <a:latin typeface="Calibri" pitchFamily="34" charset="0"/>
                <a:ea typeface="Calibri" pitchFamily="34" charset="-122"/>
                <a:cs typeface="Calibri" pitchFamily="34" charset="-120"/>
              </a:rPr>
              <a:t>Imputation, hyperparamètres,</a:t>
            </a:r>
            <a:endParaRPr lang="en-US" sz="1250" dirty="0"/>
          </a:p>
          <a:p>
            <a:pPr indent="0" marL="0">
              <a:lnSpc>
                <a:spcPts val="1800"/>
              </a:lnSpc>
              <a:buNone/>
            </a:pPr>
            <a:r>
              <a:rPr lang="en-US" sz="1250" dirty="0">
                <a:solidFill>
                  <a:srgbClr val="D3DCE5"/>
                </a:solidFill>
                <a:latin typeface="Calibri" pitchFamily="34" charset="0"/>
                <a:ea typeface="Calibri" pitchFamily="34" charset="-122"/>
                <a:cs typeface="Calibri" pitchFamily="34" charset="-120"/>
              </a:rPr>
              <a:t>choix du modèle ET seuil —</a:t>
            </a:r>
            <a:endParaRPr lang="en-US" sz="1250" dirty="0"/>
          </a:p>
          <a:p>
            <a:pPr indent="0" marL="0">
              <a:lnSpc>
                <a:spcPts val="1800"/>
              </a:lnSpc>
              <a:buNone/>
            </a:pPr>
            <a:r>
              <a:rPr lang="en-US" sz="1250" dirty="0">
                <a:solidFill>
                  <a:srgbClr val="D3DCE5"/>
                </a:solidFill>
                <a:latin typeface="Calibri" pitchFamily="34" charset="0"/>
                <a:ea typeface="Calibri" pitchFamily="34" charset="-122"/>
                <a:cs typeface="Calibri" pitchFamily="34" charset="-120"/>
              </a:rPr>
              <a:t>par validation croisée</a:t>
            </a:r>
            <a:endParaRPr lang="en-US" sz="1250" dirty="0"/>
          </a:p>
          <a:p>
            <a:pPr indent="0" marL="0">
              <a:lnSpc>
                <a:spcPts val="1800"/>
              </a:lnSpc>
              <a:buNone/>
            </a:pPr>
            <a:r>
              <a:rPr lang="en-US" sz="1250" dirty="0">
                <a:solidFill>
                  <a:srgbClr val="D3DCE5"/>
                </a:solidFill>
                <a:latin typeface="Calibri" pitchFamily="34" charset="0"/>
                <a:ea typeface="Calibri" pitchFamily="34" charset="-122"/>
                <a:cs typeface="Calibri" pitchFamily="34" charset="-120"/>
              </a:rPr>
              <a:t>sur le seul jeu d'entraînement</a:t>
            </a:r>
            <a:endParaRPr lang="en-US" sz="1250" dirty="0"/>
          </a:p>
        </p:txBody>
      </p:sp>
      <p:sp>
        <p:nvSpPr>
          <p:cNvPr id="13" name="Text 11"/>
          <p:cNvSpPr/>
          <p:nvPr/>
        </p:nvSpPr>
        <p:spPr>
          <a:xfrm>
            <a:off x="7863840" y="2651760"/>
            <a:ext cx="320040" cy="365760"/>
          </a:xfrm>
          <a:prstGeom prst="rect">
            <a:avLst/>
          </a:prstGeom>
          <a:noFill/>
          <a:ln/>
        </p:spPr>
        <p:txBody>
          <a:bodyPr wrap="square" lIns="0" tIns="0" rIns="0" bIns="0" rtlCol="0" anchor="ctr"/>
          <a:lstStyle/>
          <a:p>
            <a:pPr algn="ctr" indent="0" marL="0">
              <a:buNone/>
            </a:pPr>
            <a:r>
              <a:rPr lang="en-US" sz="2000" b="1" dirty="0">
                <a:solidFill>
                  <a:srgbClr val="C89B3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8183880" y="1691640"/>
            <a:ext cx="3429000" cy="2286000"/>
          </a:xfrm>
          <a:prstGeom prst="roundRect">
            <a:avLst>
              <a:gd name="adj" fmla="val 2400"/>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5" name="Text 13"/>
          <p:cNvSpPr/>
          <p:nvPr/>
        </p:nvSpPr>
        <p:spPr>
          <a:xfrm>
            <a:off x="8439912" y="1901952"/>
            <a:ext cx="2926080" cy="310896"/>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3 · Mesure finale</a:t>
            </a:r>
            <a:endParaRPr lang="en-US" sz="1400" dirty="0"/>
          </a:p>
        </p:txBody>
      </p:sp>
      <p:sp>
        <p:nvSpPr>
          <p:cNvPr id="16" name="Text 14"/>
          <p:cNvSpPr/>
          <p:nvPr/>
        </p:nvSpPr>
        <p:spPr>
          <a:xfrm>
            <a:off x="8439912" y="2286000"/>
            <a:ext cx="2926080" cy="1463040"/>
          </a:xfrm>
          <a:prstGeom prst="rect">
            <a:avLst/>
          </a:prstGeom>
          <a:noFill/>
          <a:ln/>
        </p:spPr>
        <p:txBody>
          <a:bodyPr wrap="square" lIns="0" tIns="0" rIns="0" bIns="0" rtlCol="0" anchor="ctr"/>
          <a:lstStyle/>
          <a:p>
            <a:pPr indent="0" marL="0">
              <a:lnSpc>
                <a:spcPts val="1800"/>
              </a:lnSpc>
              <a:buNone/>
            </a:pPr>
            <a:r>
              <a:rPr lang="en-US" sz="1250" dirty="0">
                <a:solidFill>
                  <a:srgbClr val="44525E"/>
                </a:solidFill>
                <a:latin typeface="Calibri" pitchFamily="34" charset="0"/>
                <a:ea typeface="Calibri" pitchFamily="34" charset="-122"/>
                <a:cs typeface="Calibri" pitchFamily="34" charset="-120"/>
              </a:rPr>
              <a:t>Jeu de test ouvert</a:t>
            </a:r>
            <a:endParaRPr lang="en-US" sz="1250" dirty="0"/>
          </a:p>
          <a:p>
            <a:pPr indent="0" marL="0">
              <a:lnSpc>
                <a:spcPts val="1800"/>
              </a:lnSpc>
              <a:buNone/>
            </a:pPr>
            <a:r>
              <a:rPr lang="en-US" sz="1250" dirty="0">
                <a:solidFill>
                  <a:srgbClr val="44525E"/>
                </a:solidFill>
                <a:latin typeface="Calibri" pitchFamily="34" charset="0"/>
                <a:ea typeface="Calibri" pitchFamily="34" charset="-122"/>
                <a:cs typeface="Calibri" pitchFamily="34" charset="-120"/>
              </a:rPr>
              <a:t>une seule fois,</a:t>
            </a:r>
            <a:endParaRPr lang="en-US" sz="1250" dirty="0"/>
          </a:p>
          <a:p>
            <a:pPr indent="0" marL="0">
              <a:lnSpc>
                <a:spcPts val="1800"/>
              </a:lnSpc>
              <a:buNone/>
            </a:pPr>
            <a:r>
              <a:rPr lang="en-US" sz="1250" dirty="0">
                <a:solidFill>
                  <a:srgbClr val="44525E"/>
                </a:solidFill>
                <a:latin typeface="Calibri" pitchFamily="34" charset="0"/>
                <a:ea typeface="Calibri" pitchFamily="34" charset="-122"/>
                <a:cs typeface="Calibri" pitchFamily="34" charset="-120"/>
              </a:rPr>
              <a:t>modèle et seuil figés</a:t>
            </a:r>
            <a:endParaRPr lang="en-US" sz="1250" dirty="0"/>
          </a:p>
        </p:txBody>
      </p:sp>
      <p:sp>
        <p:nvSpPr>
          <p:cNvPr id="17" name="Shape 15"/>
          <p:cNvSpPr/>
          <p:nvPr/>
        </p:nvSpPr>
        <p:spPr>
          <a:xfrm>
            <a:off x="685800" y="4279392"/>
            <a:ext cx="10817352" cy="1645920"/>
          </a:xfrm>
          <a:prstGeom prst="roundRect">
            <a:avLst>
              <a:gd name="adj" fmla="val 3333"/>
            </a:avLst>
          </a:prstGeom>
          <a:solidFill>
            <a:srgbClr val="FBEDEC"/>
          </a:solidFill>
          <a:ln w="12700">
            <a:solidFill>
              <a:srgbClr val="E8C4C0"/>
            </a:solidFill>
            <a:prstDash val="solid"/>
          </a:ln>
          <a:effectLst>
            <a:outerShdw sx="100000" sy="100000" kx="0" ky="0" algn="bl" rotWithShape="0" blurRad="101600" dist="25400" dir="5400000">
              <a:srgbClr val="B9B3A8">
                <a:alpha val="35000"/>
              </a:srgbClr>
            </a:outerShdw>
          </a:effectLst>
        </p:spPr>
      </p:sp>
      <p:sp>
        <p:nvSpPr>
          <p:cNvPr id="18" name="Text 16"/>
          <p:cNvSpPr/>
          <p:nvPr/>
        </p:nvSpPr>
        <p:spPr>
          <a:xfrm>
            <a:off x="1005840" y="4462272"/>
            <a:ext cx="10424160" cy="292608"/>
          </a:xfrm>
          <a:prstGeom prst="rect">
            <a:avLst/>
          </a:prstGeom>
          <a:noFill/>
          <a:ln/>
        </p:spPr>
        <p:txBody>
          <a:bodyPr wrap="square" lIns="0" tIns="0" rIns="0" bIns="0" rtlCol="0" anchor="ctr"/>
          <a:lstStyle/>
          <a:p>
            <a:pPr indent="0" marL="0">
              <a:buNone/>
            </a:pPr>
            <a:r>
              <a:rPr lang="en-US" sz="1350" b="1" dirty="0">
                <a:solidFill>
                  <a:srgbClr val="B3261E"/>
                </a:solidFill>
                <a:latin typeface="Calibri" pitchFamily="34" charset="0"/>
                <a:ea typeface="Calibri" pitchFamily="34" charset="-122"/>
                <a:cs typeface="Calibri" pitchFamily="34" charset="-120"/>
              </a:rPr>
              <a:t>Le piège que cela évite</a:t>
            </a:r>
            <a:endParaRPr lang="en-US" sz="1350" dirty="0"/>
          </a:p>
        </p:txBody>
      </p:sp>
      <p:sp>
        <p:nvSpPr>
          <p:cNvPr id="19" name="Text 17"/>
          <p:cNvSpPr/>
          <p:nvPr/>
        </p:nvSpPr>
        <p:spPr>
          <a:xfrm>
            <a:off x="1005840" y="4773168"/>
            <a:ext cx="10424160" cy="1005840"/>
          </a:xfrm>
          <a:prstGeom prst="rect">
            <a:avLst/>
          </a:prstGeom>
          <a:noFill/>
          <a:ln/>
        </p:spPr>
        <p:txBody>
          <a:bodyPr wrap="square" lIns="0" tIns="0" rIns="0" bIns="0" rtlCol="0" anchor="ctr"/>
          <a:lstStyle/>
          <a:p>
            <a:pPr indent="0" marL="0">
              <a:lnSpc>
                <a:spcPts val="1800"/>
              </a:lnSpc>
              <a:buNone/>
            </a:pPr>
            <a:r>
              <a:rPr lang="en-US" sz="1300" dirty="0">
                <a:solidFill>
                  <a:srgbClr val="5A4340"/>
                </a:solidFill>
                <a:latin typeface="Calibri" pitchFamily="34" charset="0"/>
                <a:ea typeface="Calibri" pitchFamily="34" charset="-122"/>
                <a:cs typeface="Calibri" pitchFamily="34" charset="-120"/>
              </a:rPr>
              <a:t>Essayer plusieurs seuils sur le jeu de test et retenir celui qui donne le meilleur score produit un chiffre flatteur mais faux : ce n'est plus une prédiction de performance future, c'est la valeur qu'on a optimisée. Le seuil a donc été calibré sur des probabilités hors-échantillon obtenues par validation croisée — chaque billet noté par un modèle qui ne l'avait jamais vu.</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06</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Quatre méthodes en compétition</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Les quatre demandées au cahier des charges</a:t>
            </a:r>
            <a:endParaRPr lang="en-US" sz="1300" dirty="0"/>
          </a:p>
        </p:txBody>
      </p:sp>
      <p:sp>
        <p:nvSpPr>
          <p:cNvPr id="6" name="Shape 4"/>
          <p:cNvSpPr/>
          <p:nvPr/>
        </p:nvSpPr>
        <p:spPr>
          <a:xfrm>
            <a:off x="685800" y="1645920"/>
            <a:ext cx="5257800" cy="1965960"/>
          </a:xfrm>
          <a:prstGeom prst="roundRect">
            <a:avLst>
              <a:gd name="adj" fmla="val 2791"/>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7" name="Text 5"/>
          <p:cNvSpPr/>
          <p:nvPr/>
        </p:nvSpPr>
        <p:spPr>
          <a:xfrm>
            <a:off x="960120" y="1847088"/>
            <a:ext cx="4709160" cy="310896"/>
          </a:xfrm>
          <a:prstGeom prst="rect">
            <a:avLst/>
          </a:prstGeom>
          <a:noFill/>
          <a:ln/>
        </p:spPr>
        <p:txBody>
          <a:bodyPr wrap="square" lIns="0" tIns="0" rIns="0" bIns="0" rtlCol="0" anchor="ctr"/>
          <a:lstStyle/>
          <a:p>
            <a:pPr indent="0" marL="0">
              <a:buNone/>
            </a:pPr>
            <a:r>
              <a:rPr lang="en-US" sz="1500" b="1" dirty="0">
                <a:solidFill>
                  <a:srgbClr val="12263A"/>
                </a:solidFill>
                <a:latin typeface="Calibri" pitchFamily="34" charset="0"/>
                <a:ea typeface="Calibri" pitchFamily="34" charset="-122"/>
                <a:cs typeface="Calibri" pitchFamily="34" charset="-120"/>
              </a:rPr>
              <a:t>Régression logistique</a:t>
            </a:r>
            <a:endParaRPr lang="en-US" sz="1500" dirty="0"/>
          </a:p>
        </p:txBody>
      </p:sp>
      <p:sp>
        <p:nvSpPr>
          <p:cNvPr id="8" name="Text 6"/>
          <p:cNvSpPr/>
          <p:nvPr/>
        </p:nvSpPr>
        <p:spPr>
          <a:xfrm>
            <a:off x="960120" y="2212848"/>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Estime directement une probabilité. Coefficients interprétables. Standardisation requise.</a:t>
            </a:r>
            <a:endParaRPr lang="en-US" sz="1250" dirty="0"/>
          </a:p>
        </p:txBody>
      </p:sp>
      <p:sp>
        <p:nvSpPr>
          <p:cNvPr id="9" name="Text 7"/>
          <p:cNvSpPr/>
          <p:nvPr/>
        </p:nvSpPr>
        <p:spPr>
          <a:xfrm>
            <a:off x="960120" y="3063240"/>
            <a:ext cx="4709160" cy="292608"/>
          </a:xfrm>
          <a:prstGeom prst="rect">
            <a:avLst/>
          </a:prstGeom>
          <a:noFill/>
          <a:ln/>
        </p:spPr>
        <p:txBody>
          <a:bodyPr wrap="square" lIns="0" tIns="0" rIns="0" bIns="0" rtlCol="0" anchor="ctr"/>
          <a:lstStyle/>
          <a:p>
            <a:pPr indent="0" marL="0">
              <a:buNone/>
            </a:pPr>
            <a:r>
              <a:rPr lang="en-US" sz="1150" b="1" dirty="0">
                <a:solidFill>
                  <a:srgbClr val="C89B3C"/>
                </a:solidFill>
                <a:latin typeface="Calibri" pitchFamily="34" charset="0"/>
                <a:ea typeface="Calibri" pitchFamily="34" charset="-122"/>
                <a:cs typeface="Calibri" pitchFamily="34" charset="-120"/>
              </a:rPr>
              <a:t>C = 1 (régularisation)</a:t>
            </a:r>
            <a:endParaRPr lang="en-US" sz="1150" dirty="0"/>
          </a:p>
        </p:txBody>
      </p:sp>
      <p:sp>
        <p:nvSpPr>
          <p:cNvPr id="10" name="Shape 8"/>
          <p:cNvSpPr/>
          <p:nvPr/>
        </p:nvSpPr>
        <p:spPr>
          <a:xfrm>
            <a:off x="6217920" y="1645920"/>
            <a:ext cx="5257800" cy="1965960"/>
          </a:xfrm>
          <a:prstGeom prst="roundRect">
            <a:avLst>
              <a:gd name="adj" fmla="val 2791"/>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1" name="Text 9"/>
          <p:cNvSpPr/>
          <p:nvPr/>
        </p:nvSpPr>
        <p:spPr>
          <a:xfrm>
            <a:off x="6492240" y="1847088"/>
            <a:ext cx="4709160" cy="310896"/>
          </a:xfrm>
          <a:prstGeom prst="rect">
            <a:avLst/>
          </a:prstGeom>
          <a:noFill/>
          <a:ln/>
        </p:spPr>
        <p:txBody>
          <a:bodyPr wrap="square" lIns="0" tIns="0" rIns="0" bIns="0" rtlCol="0" anchor="ctr"/>
          <a:lstStyle/>
          <a:p>
            <a:pPr indent="0" marL="0">
              <a:buNone/>
            </a:pPr>
            <a:r>
              <a:rPr lang="en-US" sz="1500" b="1" dirty="0">
                <a:solidFill>
                  <a:srgbClr val="12263A"/>
                </a:solidFill>
                <a:latin typeface="Calibri" pitchFamily="34" charset="0"/>
                <a:ea typeface="Calibri" pitchFamily="34" charset="-122"/>
                <a:cs typeface="Calibri" pitchFamily="34" charset="-120"/>
              </a:rPr>
              <a:t>K plus proches voisins</a:t>
            </a:r>
            <a:endParaRPr lang="en-US" sz="1500" dirty="0"/>
          </a:p>
        </p:txBody>
      </p:sp>
      <p:sp>
        <p:nvSpPr>
          <p:cNvPr id="12" name="Text 10"/>
          <p:cNvSpPr/>
          <p:nvPr/>
        </p:nvSpPr>
        <p:spPr>
          <a:xfrm>
            <a:off x="6492240" y="2212848"/>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Vote parmi les k voisins les plus proches. Très sensible à l'échelle des variables.</a:t>
            </a:r>
            <a:endParaRPr lang="en-US" sz="1250" dirty="0"/>
          </a:p>
        </p:txBody>
      </p:sp>
      <p:sp>
        <p:nvSpPr>
          <p:cNvPr id="13" name="Text 11"/>
          <p:cNvSpPr/>
          <p:nvPr/>
        </p:nvSpPr>
        <p:spPr>
          <a:xfrm>
            <a:off x="6492240" y="3063240"/>
            <a:ext cx="4709160" cy="292608"/>
          </a:xfrm>
          <a:prstGeom prst="rect">
            <a:avLst/>
          </a:prstGeom>
          <a:noFill/>
          <a:ln/>
        </p:spPr>
        <p:txBody>
          <a:bodyPr wrap="square" lIns="0" tIns="0" rIns="0" bIns="0" rtlCol="0" anchor="ctr"/>
          <a:lstStyle/>
          <a:p>
            <a:pPr indent="0" marL="0">
              <a:buNone/>
            </a:pPr>
            <a:r>
              <a:rPr lang="en-US" sz="1150" b="1" dirty="0">
                <a:solidFill>
                  <a:srgbClr val="C89B3C"/>
                </a:solidFill>
                <a:latin typeface="Calibri" pitchFamily="34" charset="0"/>
                <a:ea typeface="Calibri" pitchFamily="34" charset="-122"/>
                <a:cs typeface="Calibri" pitchFamily="34" charset="-120"/>
              </a:rPr>
              <a:t>k = 11, balayé de 1 à 29</a:t>
            </a:r>
            <a:endParaRPr lang="en-US" sz="1150" dirty="0"/>
          </a:p>
        </p:txBody>
      </p:sp>
      <p:sp>
        <p:nvSpPr>
          <p:cNvPr id="14" name="Shape 12"/>
          <p:cNvSpPr/>
          <p:nvPr/>
        </p:nvSpPr>
        <p:spPr>
          <a:xfrm>
            <a:off x="685800" y="3840480"/>
            <a:ext cx="5257800" cy="1965960"/>
          </a:xfrm>
          <a:prstGeom prst="roundRect">
            <a:avLst>
              <a:gd name="adj" fmla="val 2791"/>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5" name="Text 13"/>
          <p:cNvSpPr/>
          <p:nvPr/>
        </p:nvSpPr>
        <p:spPr>
          <a:xfrm>
            <a:off x="960120" y="4041648"/>
            <a:ext cx="4709160" cy="310896"/>
          </a:xfrm>
          <a:prstGeom prst="rect">
            <a:avLst/>
          </a:prstGeom>
          <a:noFill/>
          <a:ln/>
        </p:spPr>
        <p:txBody>
          <a:bodyPr wrap="square" lIns="0" tIns="0" rIns="0" bIns="0" rtlCol="0" anchor="ctr"/>
          <a:lstStyle/>
          <a:p>
            <a:pPr indent="0" marL="0">
              <a:buNone/>
            </a:pPr>
            <a:r>
              <a:rPr lang="en-US" sz="1500" b="1" dirty="0">
                <a:solidFill>
                  <a:srgbClr val="12263A"/>
                </a:solidFill>
                <a:latin typeface="Calibri" pitchFamily="34" charset="0"/>
                <a:ea typeface="Calibri" pitchFamily="34" charset="-122"/>
                <a:cs typeface="Calibri" pitchFamily="34" charset="-120"/>
              </a:rPr>
              <a:t>Forêt aléatoire</a:t>
            </a:r>
            <a:endParaRPr lang="en-US" sz="1500" dirty="0"/>
          </a:p>
        </p:txBody>
      </p:sp>
      <p:sp>
        <p:nvSpPr>
          <p:cNvPr id="16" name="Text 14"/>
          <p:cNvSpPr/>
          <p:nvPr/>
        </p:nvSpPr>
        <p:spPr>
          <a:xfrm>
            <a:off x="960120" y="4407408"/>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Vote de 100 arbres. Insensible à l'échelle : un arbre découpe par seuils.</a:t>
            </a:r>
            <a:endParaRPr lang="en-US" sz="1250" dirty="0"/>
          </a:p>
        </p:txBody>
      </p:sp>
      <p:sp>
        <p:nvSpPr>
          <p:cNvPr id="17" name="Text 15"/>
          <p:cNvSpPr/>
          <p:nvPr/>
        </p:nvSpPr>
        <p:spPr>
          <a:xfrm>
            <a:off x="960120" y="5257800"/>
            <a:ext cx="4709160" cy="292608"/>
          </a:xfrm>
          <a:prstGeom prst="rect">
            <a:avLst/>
          </a:prstGeom>
          <a:noFill/>
          <a:ln/>
        </p:spPr>
        <p:txBody>
          <a:bodyPr wrap="square" lIns="0" tIns="0" rIns="0" bIns="0" rtlCol="0" anchor="ctr"/>
          <a:lstStyle/>
          <a:p>
            <a:pPr indent="0" marL="0">
              <a:buNone/>
            </a:pPr>
            <a:r>
              <a:rPr lang="en-US" sz="1150" b="1" dirty="0">
                <a:solidFill>
                  <a:srgbClr val="C89B3C"/>
                </a:solidFill>
                <a:latin typeface="Calibri" pitchFamily="34" charset="0"/>
                <a:ea typeface="Calibri" pitchFamily="34" charset="-122"/>
                <a:cs typeface="Calibri" pitchFamily="34" charset="-120"/>
              </a:rPr>
              <a:t>100 arbres, feuilles ≥ 2</a:t>
            </a:r>
            <a:endParaRPr lang="en-US" sz="1150" dirty="0"/>
          </a:p>
        </p:txBody>
      </p:sp>
      <p:sp>
        <p:nvSpPr>
          <p:cNvPr id="18" name="Shape 16"/>
          <p:cNvSpPr/>
          <p:nvPr/>
        </p:nvSpPr>
        <p:spPr>
          <a:xfrm>
            <a:off x="6217920" y="3840480"/>
            <a:ext cx="5257800" cy="1965960"/>
          </a:xfrm>
          <a:prstGeom prst="roundRect">
            <a:avLst>
              <a:gd name="adj" fmla="val 2791"/>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9" name="Text 17"/>
          <p:cNvSpPr/>
          <p:nvPr/>
        </p:nvSpPr>
        <p:spPr>
          <a:xfrm>
            <a:off x="6492240" y="4041648"/>
            <a:ext cx="4709160" cy="310896"/>
          </a:xfrm>
          <a:prstGeom prst="rect">
            <a:avLst/>
          </a:prstGeom>
          <a:noFill/>
          <a:ln/>
        </p:spPr>
        <p:txBody>
          <a:bodyPr wrap="square" lIns="0" tIns="0" rIns="0" bIns="0" rtlCol="0" anchor="ctr"/>
          <a:lstStyle/>
          <a:p>
            <a:pPr indent="0" marL="0">
              <a:buNone/>
            </a:pPr>
            <a:r>
              <a:rPr lang="en-US" sz="1500" b="1" dirty="0">
                <a:solidFill>
                  <a:srgbClr val="12263A"/>
                </a:solidFill>
                <a:latin typeface="Calibri" pitchFamily="34" charset="0"/>
                <a:ea typeface="Calibri" pitchFamily="34" charset="-122"/>
                <a:cs typeface="Calibri" pitchFamily="34" charset="-120"/>
              </a:rPr>
              <a:t>K-means (centroïdes)</a:t>
            </a:r>
            <a:endParaRPr lang="en-US" sz="1500" dirty="0"/>
          </a:p>
        </p:txBody>
      </p:sp>
      <p:sp>
        <p:nvSpPr>
          <p:cNvPr id="20" name="Text 18"/>
          <p:cNvSpPr/>
          <p:nvPr/>
        </p:nvSpPr>
        <p:spPr>
          <a:xfrm>
            <a:off x="6492240" y="4407408"/>
            <a:ext cx="4709160" cy="7772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Regroupe sans étiquettes, puis affecte chaque groupe à une classe par vote majoritaire.</a:t>
            </a:r>
            <a:endParaRPr lang="en-US" sz="1250" dirty="0"/>
          </a:p>
        </p:txBody>
      </p:sp>
      <p:sp>
        <p:nvSpPr>
          <p:cNvPr id="21" name="Text 19"/>
          <p:cNvSpPr/>
          <p:nvPr/>
        </p:nvSpPr>
        <p:spPr>
          <a:xfrm>
            <a:off x="6492240" y="5257800"/>
            <a:ext cx="4709160" cy="292608"/>
          </a:xfrm>
          <a:prstGeom prst="rect">
            <a:avLst/>
          </a:prstGeom>
          <a:noFill/>
          <a:ln/>
        </p:spPr>
        <p:txBody>
          <a:bodyPr wrap="square" lIns="0" tIns="0" rIns="0" bIns="0" rtlCol="0" anchor="ctr"/>
          <a:lstStyle/>
          <a:p>
            <a:pPr indent="0" marL="0">
              <a:buNone/>
            </a:pPr>
            <a:r>
              <a:rPr lang="en-US" sz="1150" b="1" dirty="0">
                <a:solidFill>
                  <a:srgbClr val="C89B3C"/>
                </a:solidFill>
                <a:latin typeface="Calibri" pitchFamily="34" charset="0"/>
                <a:ea typeface="Calibri" pitchFamily="34" charset="-122"/>
                <a:cs typeface="Calibri" pitchFamily="34" charset="-120"/>
              </a:rPr>
              <a:t>2 clusters</a:t>
            </a:r>
            <a:endParaRPr lang="en-US" sz="1150" dirty="0"/>
          </a:p>
        </p:txBody>
      </p:sp>
      <p:sp>
        <p:nvSpPr>
          <p:cNvPr id="22" name="Text 20"/>
          <p:cNvSpPr/>
          <p:nvPr/>
        </p:nvSpPr>
        <p:spPr>
          <a:xfrm>
            <a:off x="685800" y="5943600"/>
            <a:ext cx="10817352" cy="548640"/>
          </a:xfrm>
          <a:prstGeom prst="rect">
            <a:avLst/>
          </a:prstGeom>
          <a:noFill/>
          <a:ln/>
        </p:spPr>
        <p:txBody>
          <a:bodyPr wrap="square" lIns="0" tIns="0" rIns="0" bIns="0" rtlCol="0" anchor="ctr"/>
          <a:lstStyle/>
          <a:p>
            <a:pPr indent="0" marL="0">
              <a:lnSpc>
                <a:spcPts val="1700"/>
              </a:lnSpc>
              <a:buNone/>
            </a:pPr>
            <a:r>
              <a:rPr lang="en-US" sz="1250" i="1" dirty="0">
                <a:solidFill>
                  <a:srgbClr val="6B7A8C"/>
                </a:solidFill>
                <a:latin typeface="Calibri" pitchFamily="34" charset="0"/>
                <a:ea typeface="Calibri" pitchFamily="34" charset="-122"/>
                <a:cs typeface="Calibri" pitchFamily="34" charset="-120"/>
              </a:rPr>
              <a:t>Critère d'optimisation commun : F-bêta (β = 2) sur la classe « faux ». Le rappel y pèse quatre fois plus que la précision, sans autoriser la solution dégénérée qui consisterait à déclarer tous les billets faux.</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07</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Les trois modèles supervisés sont à égalité</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F-bêta(2) en validation croisée, 5 plis — les barres d'erreur se recouvrent entièrement</a:t>
            </a:r>
            <a:endParaRPr lang="en-US" sz="1300" dirty="0"/>
          </a:p>
        </p:txBody>
      </p:sp>
      <p:graphicFrame>
        <p:nvGraphicFramePr>
          <p:cNvPr id="6" name="Chart 0" descr=""/>
          <p:cNvGraphicFramePr/>
          <p:nvPr/>
        </p:nvGraphicFramePr>
        <p:xfrm>
          <a:off x="685800" y="1691640"/>
          <a:ext cx="630936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60920" y="1691640"/>
            <a:ext cx="4114800" cy="3200400"/>
          </a:xfrm>
          <a:prstGeom prst="roundRect">
            <a:avLst>
              <a:gd name="adj" fmla="val 1714"/>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8" name="Text 5"/>
          <p:cNvSpPr/>
          <p:nvPr/>
        </p:nvSpPr>
        <p:spPr>
          <a:xfrm>
            <a:off x="7635240" y="1901952"/>
            <a:ext cx="3566160" cy="310896"/>
          </a:xfrm>
          <a:prstGeom prst="rect">
            <a:avLst/>
          </a:prstGeom>
          <a:noFill/>
          <a:ln/>
        </p:spPr>
        <p:txBody>
          <a:bodyPr wrap="square" lIns="0" tIns="0" rIns="0" bIns="0" rtlCol="0" anchor="ctr"/>
          <a:lstStyle/>
          <a:p>
            <a:pPr indent="0" marL="0">
              <a:buNone/>
            </a:pPr>
            <a:r>
              <a:rPr lang="en-US" sz="1450" b="1" dirty="0">
                <a:solidFill>
                  <a:srgbClr val="C89B3C"/>
                </a:solidFill>
                <a:latin typeface="Calibri" pitchFamily="34" charset="0"/>
                <a:ea typeface="Calibri" pitchFamily="34" charset="-122"/>
                <a:cs typeface="Calibri" pitchFamily="34" charset="-120"/>
              </a:rPr>
              <a:t>La conclusion honnête</a:t>
            </a:r>
            <a:endParaRPr lang="en-US" sz="1450" dirty="0"/>
          </a:p>
        </p:txBody>
      </p:sp>
      <p:sp>
        <p:nvSpPr>
          <p:cNvPr id="9" name="Text 6"/>
          <p:cNvSpPr/>
          <p:nvPr/>
        </p:nvSpPr>
        <p:spPr>
          <a:xfrm>
            <a:off x="7635240" y="2286000"/>
            <a:ext cx="3566160" cy="2377440"/>
          </a:xfrm>
          <a:prstGeom prst="rect">
            <a:avLst/>
          </a:prstGeom>
          <a:noFill/>
          <a:ln/>
        </p:spPr>
        <p:txBody>
          <a:bodyPr wrap="square" lIns="0" tIns="0" rIns="0" bIns="0" rtlCol="0" anchor="ctr"/>
          <a:lstStyle/>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Les trois modèles supervisés obtiennent exactement 0,9829, avec des écarts-types de 0,012 à 0,018.</a:t>
            </a:r>
            <a:endParaRPr lang="en-US" sz="1250" dirty="0"/>
          </a:p>
          <a:p>
            <a:pPr indent="0" marL="0">
              <a:lnSpc>
                <a:spcPts val="1700"/>
              </a:lnSpc>
              <a:buNone/>
            </a:pPr>
            <a:endParaRPr lang="en-US" sz="1250" dirty="0"/>
          </a:p>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Aucun n'est mesurablement meilleur que les autres. Sur 1 200 billets, l'écart d'un pli à l'autre représente deux ou trois billets.</a:t>
            </a:r>
            <a:endParaRPr lang="en-US" sz="1250" dirty="0"/>
          </a:p>
          <a:p>
            <a:pPr indent="0" marL="0">
              <a:lnSpc>
                <a:spcPts val="1700"/>
              </a:lnSpc>
              <a:buNone/>
            </a:pPr>
            <a:endParaRPr lang="en-US" sz="1250" dirty="0"/>
          </a:p>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Désigner un vainqueur sur ces chiffres reviendrait à surinterpréter du bruit.</a:t>
            </a:r>
            <a:endParaRPr lang="en-US" sz="1250" dirty="0"/>
          </a:p>
        </p:txBody>
      </p:sp>
      <p:sp>
        <p:nvSpPr>
          <p:cNvPr id="10" name="Shape 7"/>
          <p:cNvSpPr/>
          <p:nvPr/>
        </p:nvSpPr>
        <p:spPr>
          <a:xfrm>
            <a:off x="685800" y="5120640"/>
            <a:ext cx="10817352" cy="868680"/>
          </a:xfrm>
          <a:prstGeom prst="roundRect">
            <a:avLst>
              <a:gd name="adj" fmla="val 6316"/>
            </a:avLst>
          </a:prstGeom>
          <a:solidFill>
            <a:srgbClr val="FDF6E7"/>
          </a:solidFill>
          <a:ln w="12700">
            <a:solidFill>
              <a:srgbClr val="E8D5A8"/>
            </a:solidFill>
            <a:prstDash val="solid"/>
          </a:ln>
          <a:effectLst>
            <a:outerShdw sx="100000" sy="100000" kx="0" ky="0" algn="bl" rotWithShape="0" blurRad="101600" dist="25400" dir="5400000">
              <a:srgbClr val="B9B3A8">
                <a:alpha val="35000"/>
              </a:srgbClr>
            </a:outerShdw>
          </a:effectLst>
        </p:spPr>
      </p:sp>
      <p:sp>
        <p:nvSpPr>
          <p:cNvPr id="11" name="Text 8"/>
          <p:cNvSpPr/>
          <p:nvPr/>
        </p:nvSpPr>
        <p:spPr>
          <a:xfrm>
            <a:off x="1005840" y="5285232"/>
            <a:ext cx="10424160" cy="548640"/>
          </a:xfrm>
          <a:prstGeom prst="rect">
            <a:avLst/>
          </a:prstGeom>
          <a:noFill/>
          <a:ln/>
        </p:spPr>
        <p:txBody>
          <a:bodyPr wrap="square" lIns="0" tIns="0" rIns="0" bIns="0" rtlCol="0" anchor="ctr"/>
          <a:lstStyle/>
          <a:p>
            <a:pPr indent="0" marL="0">
              <a:buNone/>
            </a:pPr>
            <a:r>
              <a:rPr lang="en-US" sz="1400" b="1" dirty="0">
                <a:solidFill>
                  <a:srgbClr val="8A6A1E"/>
                </a:solidFill>
                <a:latin typeface="Calibri" pitchFamily="34" charset="0"/>
                <a:ea typeface="Calibri" pitchFamily="34" charset="-122"/>
                <a:cs typeface="Calibri" pitchFamily="34" charset="-120"/>
              </a:rPr>
              <a:t>Le choix du modèle doit donc reposer sur d'autres critères que la performance brute — puisqu'elle ne les départage pas.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08</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Le critère décisif : la précision là où le modèle travaille</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Mesures hors-échantillon sur les 1 200 billets d'entraînement</a:t>
            </a:r>
            <a:endParaRPr lang="en-US" sz="1300" dirty="0"/>
          </a:p>
        </p:txBody>
      </p:sp>
      <p:sp>
        <p:nvSpPr>
          <p:cNvPr id="6" name="Text 4"/>
          <p:cNvSpPr/>
          <p:nvPr/>
        </p:nvSpPr>
        <p:spPr>
          <a:xfrm>
            <a:off x="685800" y="1783080"/>
            <a:ext cx="3749040" cy="603504"/>
          </a:xfrm>
          <a:prstGeom prst="rect">
            <a:avLst/>
          </a:prstGeom>
          <a:noFill/>
          <a:ln/>
        </p:spPr>
        <p:txBody>
          <a:bodyPr wrap="square" lIns="0" tIns="0" rIns="0" bIns="0" rtlCol="0" anchor="ctr"/>
          <a:lstStyle/>
          <a:p>
            <a:pPr algn="l" indent="0" marL="0">
              <a:lnSpc>
                <a:spcPts val="1400"/>
              </a:lnSpc>
              <a:buNone/>
            </a:pPr>
            <a:endParaRPr lang="en-US" sz="1150" dirty="0"/>
          </a:p>
        </p:txBody>
      </p:sp>
      <p:sp>
        <p:nvSpPr>
          <p:cNvPr id="7" name="Text 5"/>
          <p:cNvSpPr/>
          <p:nvPr/>
        </p:nvSpPr>
        <p:spPr>
          <a:xfrm>
            <a:off x="4526280" y="1783080"/>
            <a:ext cx="2194560" cy="603504"/>
          </a:xfrm>
          <a:prstGeom prst="rect">
            <a:avLst/>
          </a:prstGeom>
          <a:noFill/>
          <a:ln/>
        </p:spPr>
        <p:txBody>
          <a:bodyPr wrap="square" lIns="0" tIns="0" rIns="0" bIns="0" rtlCol="0" anchor="ctr"/>
          <a:lstStyle/>
          <a:p>
            <a:pPr algn="ctr" indent="0" marL="0">
              <a:lnSpc>
                <a:spcPts val="1400"/>
              </a:lnSpc>
              <a:buNone/>
            </a:pPr>
            <a:r>
              <a:rPr lang="en-US" sz="1150" b="1" dirty="0">
                <a:solidFill>
                  <a:srgbClr val="6B7A8C"/>
                </a:solidFill>
                <a:latin typeface="Calibri" pitchFamily="34" charset="0"/>
                <a:ea typeface="Calibri" pitchFamily="34" charset="-122"/>
                <a:cs typeface="Calibri" pitchFamily="34" charset="-120"/>
              </a:rPr>
              <a:t>Précision à</a:t>
            </a:r>
            <a:endParaRPr lang="en-US" sz="1150" dirty="0"/>
          </a:p>
          <a:p>
            <a:pPr algn="ctr" indent="0" marL="0">
              <a:lnSpc>
                <a:spcPts val="1400"/>
              </a:lnSpc>
              <a:buNone/>
            </a:pPr>
            <a:r>
              <a:rPr lang="en-US" sz="1150" b="1" dirty="0">
                <a:solidFill>
                  <a:srgbClr val="6B7A8C"/>
                </a:solidFill>
                <a:latin typeface="Calibri" pitchFamily="34" charset="0"/>
                <a:ea typeface="Calibri" pitchFamily="34" charset="-122"/>
                <a:cs typeface="Calibri" pitchFamily="34" charset="-120"/>
              </a:rPr>
              <a:t>rappel ≥ 0,99</a:t>
            </a:r>
            <a:endParaRPr lang="en-US" sz="1150" dirty="0"/>
          </a:p>
        </p:txBody>
      </p:sp>
      <p:sp>
        <p:nvSpPr>
          <p:cNvPr id="8" name="Text 6"/>
          <p:cNvSpPr/>
          <p:nvPr/>
        </p:nvSpPr>
        <p:spPr>
          <a:xfrm>
            <a:off x="6812280" y="1783080"/>
            <a:ext cx="2103120" cy="603504"/>
          </a:xfrm>
          <a:prstGeom prst="rect">
            <a:avLst/>
          </a:prstGeom>
          <a:noFill/>
          <a:ln/>
        </p:spPr>
        <p:txBody>
          <a:bodyPr wrap="square" lIns="0" tIns="0" rIns="0" bIns="0" rtlCol="0" anchor="ctr"/>
          <a:lstStyle/>
          <a:p>
            <a:pPr algn="ctr" indent="0" marL="0">
              <a:lnSpc>
                <a:spcPts val="1400"/>
              </a:lnSpc>
              <a:buNone/>
            </a:pPr>
            <a:r>
              <a:rPr lang="en-US" sz="1150" b="1" dirty="0">
                <a:solidFill>
                  <a:srgbClr val="6B7A8C"/>
                </a:solidFill>
                <a:latin typeface="Calibri" pitchFamily="34" charset="0"/>
                <a:ea typeface="Calibri" pitchFamily="34" charset="-122"/>
                <a:cs typeface="Calibri" pitchFamily="34" charset="-120"/>
              </a:rPr>
              <a:t>Calibration</a:t>
            </a:r>
            <a:endParaRPr lang="en-US" sz="1150" dirty="0"/>
          </a:p>
          <a:p>
            <a:pPr algn="ctr" indent="0" marL="0">
              <a:lnSpc>
                <a:spcPts val="1400"/>
              </a:lnSpc>
              <a:buNone/>
            </a:pPr>
            <a:r>
              <a:rPr lang="en-US" sz="1150" b="1" dirty="0">
                <a:solidFill>
                  <a:srgbClr val="6B7A8C"/>
                </a:solidFill>
                <a:latin typeface="Calibri" pitchFamily="34" charset="0"/>
                <a:ea typeface="Calibri" pitchFamily="34" charset="-122"/>
                <a:cs typeface="Calibri" pitchFamily="34" charset="-120"/>
              </a:rPr>
              <a:t>(Brier, ↓)</a:t>
            </a:r>
            <a:endParaRPr lang="en-US" sz="1150" dirty="0"/>
          </a:p>
        </p:txBody>
      </p:sp>
      <p:sp>
        <p:nvSpPr>
          <p:cNvPr id="9" name="Text 7"/>
          <p:cNvSpPr/>
          <p:nvPr/>
        </p:nvSpPr>
        <p:spPr>
          <a:xfrm>
            <a:off x="9006840" y="1783080"/>
            <a:ext cx="2468880" cy="603504"/>
          </a:xfrm>
          <a:prstGeom prst="rect">
            <a:avLst/>
          </a:prstGeom>
          <a:noFill/>
          <a:ln/>
        </p:spPr>
        <p:txBody>
          <a:bodyPr wrap="square" lIns="0" tIns="0" rIns="0" bIns="0" rtlCol="0" anchor="ctr"/>
          <a:lstStyle/>
          <a:p>
            <a:pPr algn="ctr" indent="0" marL="0">
              <a:lnSpc>
                <a:spcPts val="1400"/>
              </a:lnSpc>
              <a:buNone/>
            </a:pPr>
            <a:r>
              <a:rPr lang="en-US" sz="1150" b="1" dirty="0">
                <a:solidFill>
                  <a:srgbClr val="6B7A8C"/>
                </a:solidFill>
                <a:latin typeface="Calibri" pitchFamily="34" charset="0"/>
                <a:ea typeface="Calibri" pitchFamily="34" charset="-122"/>
                <a:cs typeface="Calibri" pitchFamily="34" charset="-120"/>
              </a:rPr>
              <a:t>Proba distinctes</a:t>
            </a:r>
            <a:endParaRPr lang="en-US" sz="1150" dirty="0"/>
          </a:p>
          <a:p>
            <a:pPr algn="ctr" indent="0" marL="0">
              <a:lnSpc>
                <a:spcPts val="1400"/>
              </a:lnSpc>
              <a:buNone/>
            </a:pPr>
            <a:r>
              <a:rPr lang="en-US" sz="1150" b="1" dirty="0">
                <a:solidFill>
                  <a:srgbClr val="6B7A8C"/>
                </a:solidFill>
                <a:latin typeface="Calibri" pitchFamily="34" charset="0"/>
                <a:ea typeface="Calibri" pitchFamily="34" charset="-122"/>
                <a:cs typeface="Calibri" pitchFamily="34" charset="-120"/>
              </a:rPr>
              <a:t>(modèle déployé)</a:t>
            </a:r>
            <a:endParaRPr lang="en-US" sz="1150" dirty="0"/>
          </a:p>
        </p:txBody>
      </p:sp>
      <p:sp>
        <p:nvSpPr>
          <p:cNvPr id="10" name="Shape 8"/>
          <p:cNvSpPr/>
          <p:nvPr/>
        </p:nvSpPr>
        <p:spPr>
          <a:xfrm>
            <a:off x="576072" y="2386584"/>
            <a:ext cx="11036808" cy="640080"/>
          </a:xfrm>
          <a:prstGeom prst="roundRect">
            <a:avLst>
              <a:gd name="adj" fmla="val 8571"/>
            </a:avLst>
          </a:prstGeom>
          <a:solidFill>
            <a:srgbClr val="EDF3F6"/>
          </a:solidFill>
          <a:ln w="12700">
            <a:solidFill>
              <a:srgbClr val="C2D6E0"/>
            </a:solidFill>
            <a:prstDash val="solid"/>
          </a:ln>
          <a:effectLst>
            <a:outerShdw sx="100000" sy="100000" kx="0" ky="0" algn="bl" rotWithShape="0" blurRad="101600" dist="25400" dir="5400000">
              <a:srgbClr val="B9B3A8">
                <a:alpha val="35000"/>
              </a:srgbClr>
            </a:outerShdw>
          </a:effectLst>
        </p:spPr>
      </p:sp>
      <p:sp>
        <p:nvSpPr>
          <p:cNvPr id="11" name="Text 9"/>
          <p:cNvSpPr/>
          <p:nvPr/>
        </p:nvSpPr>
        <p:spPr>
          <a:xfrm>
            <a:off x="685800" y="2441448"/>
            <a:ext cx="3749040" cy="603504"/>
          </a:xfrm>
          <a:prstGeom prst="rect">
            <a:avLst/>
          </a:prstGeom>
          <a:noFill/>
          <a:ln/>
        </p:spPr>
        <p:txBody>
          <a:bodyPr wrap="square" lIns="0" tIns="0" rIns="0" bIns="0" rtlCol="0" anchor="ctr"/>
          <a:lstStyle/>
          <a:p>
            <a:pPr algn="l" indent="0" marL="0">
              <a:lnSpc>
                <a:spcPts val="1800"/>
              </a:lnSpc>
              <a:buNone/>
            </a:pPr>
            <a:r>
              <a:rPr lang="en-US" sz="1400" b="1" dirty="0">
                <a:solidFill>
                  <a:srgbClr val="12263A"/>
                </a:solidFill>
                <a:latin typeface="Calibri" pitchFamily="34" charset="0"/>
                <a:ea typeface="Calibri" pitchFamily="34" charset="-122"/>
                <a:cs typeface="Calibri" pitchFamily="34" charset="-120"/>
              </a:rPr>
              <a:t>Régression logistique</a:t>
            </a:r>
            <a:endParaRPr lang="en-US" sz="1400" dirty="0"/>
          </a:p>
        </p:txBody>
      </p:sp>
      <p:sp>
        <p:nvSpPr>
          <p:cNvPr id="12" name="Text 10"/>
          <p:cNvSpPr/>
          <p:nvPr/>
        </p:nvSpPr>
        <p:spPr>
          <a:xfrm>
            <a:off x="4526280" y="2441448"/>
            <a:ext cx="2194560" cy="603504"/>
          </a:xfrm>
          <a:prstGeom prst="rect">
            <a:avLst/>
          </a:prstGeom>
          <a:noFill/>
          <a:ln/>
        </p:spPr>
        <p:txBody>
          <a:bodyPr wrap="square" lIns="0" tIns="0" rIns="0" bIns="0" rtlCol="0" anchor="ctr"/>
          <a:lstStyle/>
          <a:p>
            <a:pPr algn="ctr" indent="0" marL="0">
              <a:lnSpc>
                <a:spcPts val="1800"/>
              </a:lnSpc>
              <a:buNone/>
            </a:pPr>
            <a:r>
              <a:rPr lang="en-US" sz="1400" b="1" dirty="0">
                <a:solidFill>
                  <a:srgbClr val="12263A"/>
                </a:solidFill>
                <a:latin typeface="Calibri" pitchFamily="34" charset="0"/>
                <a:ea typeface="Calibri" pitchFamily="34" charset="-122"/>
                <a:cs typeface="Calibri" pitchFamily="34" charset="-120"/>
              </a:rPr>
              <a:t>0,968</a:t>
            </a:r>
            <a:endParaRPr lang="en-US" sz="1400" dirty="0"/>
          </a:p>
        </p:txBody>
      </p:sp>
      <p:sp>
        <p:nvSpPr>
          <p:cNvPr id="13" name="Text 11"/>
          <p:cNvSpPr/>
          <p:nvPr/>
        </p:nvSpPr>
        <p:spPr>
          <a:xfrm>
            <a:off x="6812280" y="2441448"/>
            <a:ext cx="2103120" cy="603504"/>
          </a:xfrm>
          <a:prstGeom prst="rect">
            <a:avLst/>
          </a:prstGeom>
          <a:noFill/>
          <a:ln/>
        </p:spPr>
        <p:txBody>
          <a:bodyPr wrap="square" lIns="0" tIns="0" rIns="0" bIns="0" rtlCol="0" anchor="ctr"/>
          <a:lstStyle/>
          <a:p>
            <a:pPr algn="ctr" indent="0" marL="0">
              <a:lnSpc>
                <a:spcPts val="1800"/>
              </a:lnSpc>
              <a:buNone/>
            </a:pPr>
            <a:r>
              <a:rPr lang="en-US" sz="1400" b="1" dirty="0">
                <a:solidFill>
                  <a:srgbClr val="12263A"/>
                </a:solidFill>
                <a:latin typeface="Calibri" pitchFamily="34" charset="0"/>
                <a:ea typeface="Calibri" pitchFamily="34" charset="-122"/>
                <a:cs typeface="Calibri" pitchFamily="34" charset="-120"/>
              </a:rPr>
              <a:t>0,0084</a:t>
            </a:r>
            <a:endParaRPr lang="en-US" sz="1400" dirty="0"/>
          </a:p>
        </p:txBody>
      </p:sp>
      <p:sp>
        <p:nvSpPr>
          <p:cNvPr id="14" name="Text 12"/>
          <p:cNvSpPr/>
          <p:nvPr/>
        </p:nvSpPr>
        <p:spPr>
          <a:xfrm>
            <a:off x="9006840" y="2441448"/>
            <a:ext cx="2468880" cy="603504"/>
          </a:xfrm>
          <a:prstGeom prst="rect">
            <a:avLst/>
          </a:prstGeom>
          <a:noFill/>
          <a:ln/>
        </p:spPr>
        <p:txBody>
          <a:bodyPr wrap="square" lIns="0" tIns="0" rIns="0" bIns="0" rtlCol="0" anchor="ctr"/>
          <a:lstStyle/>
          <a:p>
            <a:pPr algn="ctr" indent="0" marL="0">
              <a:lnSpc>
                <a:spcPts val="1800"/>
              </a:lnSpc>
              <a:buNone/>
            </a:pPr>
            <a:r>
              <a:rPr lang="en-US" sz="1400" b="1" dirty="0">
                <a:solidFill>
                  <a:srgbClr val="12263A"/>
                </a:solidFill>
                <a:latin typeface="Calibri" pitchFamily="34" charset="0"/>
                <a:ea typeface="Calibri" pitchFamily="34" charset="-122"/>
                <a:cs typeface="Calibri" pitchFamily="34" charset="-120"/>
              </a:rPr>
              <a:t>1 047</a:t>
            </a:r>
            <a:endParaRPr lang="en-US" sz="1400" dirty="0"/>
          </a:p>
        </p:txBody>
      </p:sp>
      <p:sp>
        <p:nvSpPr>
          <p:cNvPr id="15" name="Shape 13"/>
          <p:cNvSpPr/>
          <p:nvPr/>
        </p:nvSpPr>
        <p:spPr>
          <a:xfrm>
            <a:off x="685800" y="3054096"/>
            <a:ext cx="10817352" cy="0"/>
          </a:xfrm>
          <a:prstGeom prst="line">
            <a:avLst/>
          </a:prstGeom>
          <a:noFill/>
          <a:ln w="12700">
            <a:solidFill>
              <a:srgbClr val="DCD8CF"/>
            </a:solidFill>
            <a:prstDash val="solid"/>
          </a:ln>
        </p:spPr>
      </p:sp>
      <p:sp>
        <p:nvSpPr>
          <p:cNvPr id="16" name="Text 14"/>
          <p:cNvSpPr/>
          <p:nvPr/>
        </p:nvSpPr>
        <p:spPr>
          <a:xfrm>
            <a:off x="685800" y="3099816"/>
            <a:ext cx="3749040" cy="603504"/>
          </a:xfrm>
          <a:prstGeom prst="rect">
            <a:avLst/>
          </a:prstGeom>
          <a:noFill/>
          <a:ln/>
        </p:spPr>
        <p:txBody>
          <a:bodyPr wrap="square" lIns="0" tIns="0" rIns="0" bIns="0" rtlCol="0" anchor="ctr"/>
          <a:lstStyle/>
          <a:p>
            <a:pPr algn="l" indent="0" marL="0">
              <a:lnSpc>
                <a:spcPts val="1800"/>
              </a:lnSpc>
              <a:buNone/>
            </a:pPr>
            <a:r>
              <a:rPr lang="en-US" sz="1400" b="1" dirty="0">
                <a:solidFill>
                  <a:srgbClr val="44525E"/>
                </a:solidFill>
                <a:latin typeface="Calibri" pitchFamily="34" charset="0"/>
                <a:ea typeface="Calibri" pitchFamily="34" charset="-122"/>
                <a:cs typeface="Calibri" pitchFamily="34" charset="-120"/>
              </a:rPr>
              <a:t>Forêt aléatoire</a:t>
            </a:r>
            <a:endParaRPr lang="en-US" sz="1400" dirty="0"/>
          </a:p>
        </p:txBody>
      </p:sp>
      <p:sp>
        <p:nvSpPr>
          <p:cNvPr id="17" name="Text 15"/>
          <p:cNvSpPr/>
          <p:nvPr/>
        </p:nvSpPr>
        <p:spPr>
          <a:xfrm>
            <a:off x="4526280" y="3099816"/>
            <a:ext cx="219456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0,950</a:t>
            </a:r>
            <a:endParaRPr lang="en-US" sz="1400" dirty="0"/>
          </a:p>
        </p:txBody>
      </p:sp>
      <p:sp>
        <p:nvSpPr>
          <p:cNvPr id="18" name="Text 16"/>
          <p:cNvSpPr/>
          <p:nvPr/>
        </p:nvSpPr>
        <p:spPr>
          <a:xfrm>
            <a:off x="6812280" y="3099816"/>
            <a:ext cx="210312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0,0099</a:t>
            </a:r>
            <a:endParaRPr lang="en-US" sz="1400" dirty="0"/>
          </a:p>
        </p:txBody>
      </p:sp>
      <p:sp>
        <p:nvSpPr>
          <p:cNvPr id="19" name="Text 17"/>
          <p:cNvSpPr/>
          <p:nvPr/>
        </p:nvSpPr>
        <p:spPr>
          <a:xfrm>
            <a:off x="9006840" y="3099816"/>
            <a:ext cx="246888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265</a:t>
            </a:r>
            <a:endParaRPr lang="en-US" sz="1400" dirty="0"/>
          </a:p>
        </p:txBody>
      </p:sp>
      <p:sp>
        <p:nvSpPr>
          <p:cNvPr id="20" name="Shape 18"/>
          <p:cNvSpPr/>
          <p:nvPr/>
        </p:nvSpPr>
        <p:spPr>
          <a:xfrm>
            <a:off x="685800" y="3712464"/>
            <a:ext cx="10817352" cy="0"/>
          </a:xfrm>
          <a:prstGeom prst="line">
            <a:avLst/>
          </a:prstGeom>
          <a:noFill/>
          <a:ln w="12700">
            <a:solidFill>
              <a:srgbClr val="DCD8CF"/>
            </a:solidFill>
            <a:prstDash val="solid"/>
          </a:ln>
        </p:spPr>
      </p:sp>
      <p:sp>
        <p:nvSpPr>
          <p:cNvPr id="21" name="Text 19"/>
          <p:cNvSpPr/>
          <p:nvPr/>
        </p:nvSpPr>
        <p:spPr>
          <a:xfrm>
            <a:off x="685800" y="3758184"/>
            <a:ext cx="3749040" cy="603504"/>
          </a:xfrm>
          <a:prstGeom prst="rect">
            <a:avLst/>
          </a:prstGeom>
          <a:noFill/>
          <a:ln/>
        </p:spPr>
        <p:txBody>
          <a:bodyPr wrap="square" lIns="0" tIns="0" rIns="0" bIns="0" rtlCol="0" anchor="ctr"/>
          <a:lstStyle/>
          <a:p>
            <a:pPr algn="l" indent="0" marL="0">
              <a:lnSpc>
                <a:spcPts val="1800"/>
              </a:lnSpc>
              <a:buNone/>
            </a:pPr>
            <a:r>
              <a:rPr lang="en-US" sz="1400" b="1" dirty="0">
                <a:solidFill>
                  <a:srgbClr val="44525E"/>
                </a:solidFill>
                <a:latin typeface="Calibri" pitchFamily="34" charset="0"/>
                <a:ea typeface="Calibri" pitchFamily="34" charset="-122"/>
                <a:cs typeface="Calibri" pitchFamily="34" charset="-120"/>
              </a:rPr>
              <a:t>KNN</a:t>
            </a:r>
            <a:endParaRPr lang="en-US" sz="1400" dirty="0"/>
          </a:p>
        </p:txBody>
      </p:sp>
      <p:sp>
        <p:nvSpPr>
          <p:cNvPr id="22" name="Text 20"/>
          <p:cNvSpPr/>
          <p:nvPr/>
        </p:nvSpPr>
        <p:spPr>
          <a:xfrm>
            <a:off x="4526280" y="3758184"/>
            <a:ext cx="219456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0,863</a:t>
            </a:r>
            <a:endParaRPr lang="en-US" sz="1400" dirty="0"/>
          </a:p>
        </p:txBody>
      </p:sp>
      <p:sp>
        <p:nvSpPr>
          <p:cNvPr id="23" name="Text 21"/>
          <p:cNvSpPr/>
          <p:nvPr/>
        </p:nvSpPr>
        <p:spPr>
          <a:xfrm>
            <a:off x="6812280" y="3758184"/>
            <a:ext cx="210312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0,0101</a:t>
            </a:r>
            <a:endParaRPr lang="en-US" sz="1400" dirty="0"/>
          </a:p>
        </p:txBody>
      </p:sp>
      <p:sp>
        <p:nvSpPr>
          <p:cNvPr id="24" name="Text 22"/>
          <p:cNvSpPr/>
          <p:nvPr/>
        </p:nvSpPr>
        <p:spPr>
          <a:xfrm>
            <a:off x="9006840" y="3758184"/>
            <a:ext cx="246888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12</a:t>
            </a:r>
            <a:endParaRPr lang="en-US" sz="1400" dirty="0"/>
          </a:p>
        </p:txBody>
      </p:sp>
      <p:sp>
        <p:nvSpPr>
          <p:cNvPr id="25" name="Shape 23"/>
          <p:cNvSpPr/>
          <p:nvPr/>
        </p:nvSpPr>
        <p:spPr>
          <a:xfrm>
            <a:off x="685800" y="4370832"/>
            <a:ext cx="10817352" cy="0"/>
          </a:xfrm>
          <a:prstGeom prst="line">
            <a:avLst/>
          </a:prstGeom>
          <a:noFill/>
          <a:ln w="12700">
            <a:solidFill>
              <a:srgbClr val="DCD8CF"/>
            </a:solidFill>
            <a:prstDash val="solid"/>
          </a:ln>
        </p:spPr>
      </p:sp>
      <p:sp>
        <p:nvSpPr>
          <p:cNvPr id="26" name="Text 24"/>
          <p:cNvSpPr/>
          <p:nvPr/>
        </p:nvSpPr>
        <p:spPr>
          <a:xfrm>
            <a:off x="685800" y="4416552"/>
            <a:ext cx="3749040" cy="603504"/>
          </a:xfrm>
          <a:prstGeom prst="rect">
            <a:avLst/>
          </a:prstGeom>
          <a:noFill/>
          <a:ln/>
        </p:spPr>
        <p:txBody>
          <a:bodyPr wrap="square" lIns="0" tIns="0" rIns="0" bIns="0" rtlCol="0" anchor="ctr"/>
          <a:lstStyle/>
          <a:p>
            <a:pPr algn="l" indent="0" marL="0">
              <a:lnSpc>
                <a:spcPts val="1800"/>
              </a:lnSpc>
              <a:buNone/>
            </a:pPr>
            <a:r>
              <a:rPr lang="en-US" sz="1400" b="1" dirty="0">
                <a:solidFill>
                  <a:srgbClr val="44525E"/>
                </a:solidFill>
                <a:latin typeface="Calibri" pitchFamily="34" charset="0"/>
                <a:ea typeface="Calibri" pitchFamily="34" charset="-122"/>
                <a:cs typeface="Calibri" pitchFamily="34" charset="-120"/>
              </a:rPr>
              <a:t>K-means</a:t>
            </a:r>
            <a:endParaRPr lang="en-US" sz="1400" dirty="0"/>
          </a:p>
        </p:txBody>
      </p:sp>
      <p:sp>
        <p:nvSpPr>
          <p:cNvPr id="27" name="Text 25"/>
          <p:cNvSpPr/>
          <p:nvPr/>
        </p:nvSpPr>
        <p:spPr>
          <a:xfrm>
            <a:off x="4526280" y="4416552"/>
            <a:ext cx="219456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0,383</a:t>
            </a:r>
            <a:endParaRPr lang="en-US" sz="1400" dirty="0"/>
          </a:p>
        </p:txBody>
      </p:sp>
      <p:sp>
        <p:nvSpPr>
          <p:cNvPr id="28" name="Text 26"/>
          <p:cNvSpPr/>
          <p:nvPr/>
        </p:nvSpPr>
        <p:spPr>
          <a:xfrm>
            <a:off x="6812280" y="4416552"/>
            <a:ext cx="210312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0,0148</a:t>
            </a:r>
            <a:endParaRPr lang="en-US" sz="1400" dirty="0"/>
          </a:p>
        </p:txBody>
      </p:sp>
      <p:sp>
        <p:nvSpPr>
          <p:cNvPr id="29" name="Text 27"/>
          <p:cNvSpPr/>
          <p:nvPr/>
        </p:nvSpPr>
        <p:spPr>
          <a:xfrm>
            <a:off x="9006840" y="4416552"/>
            <a:ext cx="2468880" cy="603504"/>
          </a:xfrm>
          <a:prstGeom prst="rect">
            <a:avLst/>
          </a:prstGeom>
          <a:noFill/>
          <a:ln/>
        </p:spPr>
        <p:txBody>
          <a:bodyPr wrap="square" lIns="0" tIns="0" rIns="0" bIns="0" rtlCol="0" anchor="ctr"/>
          <a:lstStyle/>
          <a:p>
            <a:pPr algn="ctr" indent="0" marL="0">
              <a:lnSpc>
                <a:spcPts val="1800"/>
              </a:lnSpc>
              <a:buNone/>
            </a:pPr>
            <a:r>
              <a:rPr lang="en-US" sz="1400" dirty="0">
                <a:solidFill>
                  <a:srgbClr val="44525E"/>
                </a:solidFill>
                <a:latin typeface="Calibri" pitchFamily="34" charset="0"/>
                <a:ea typeface="Calibri" pitchFamily="34" charset="-122"/>
                <a:cs typeface="Calibri" pitchFamily="34" charset="-120"/>
              </a:rPr>
              <a:t>2</a:t>
            </a:r>
            <a:endParaRPr lang="en-US" sz="1400" dirty="0"/>
          </a:p>
        </p:txBody>
      </p:sp>
      <p:sp>
        <p:nvSpPr>
          <p:cNvPr id="30" name="Shape 28"/>
          <p:cNvSpPr/>
          <p:nvPr/>
        </p:nvSpPr>
        <p:spPr>
          <a:xfrm>
            <a:off x="685800" y="5257800"/>
            <a:ext cx="10817352" cy="1051560"/>
          </a:xfrm>
          <a:prstGeom prst="roundRect">
            <a:avLst>
              <a:gd name="adj" fmla="val 5217"/>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31" name="Text 29"/>
          <p:cNvSpPr/>
          <p:nvPr/>
        </p:nvSpPr>
        <p:spPr>
          <a:xfrm>
            <a:off x="1005840" y="5413248"/>
            <a:ext cx="10424160" cy="274320"/>
          </a:xfrm>
          <a:prstGeom prst="rect">
            <a:avLst/>
          </a:prstGeom>
          <a:noFill/>
          <a:ln/>
        </p:spPr>
        <p:txBody>
          <a:bodyPr wrap="square" lIns="0" tIns="0" rIns="0" bIns="0" rtlCol="0" anchor="ctr"/>
          <a:lstStyle/>
          <a:p>
            <a:pPr indent="0" marL="0">
              <a:buNone/>
            </a:pPr>
            <a:r>
              <a:rPr lang="en-US" sz="1300" b="1" dirty="0">
                <a:solidFill>
                  <a:srgbClr val="C89B3C"/>
                </a:solidFill>
                <a:latin typeface="Calibri" pitchFamily="34" charset="0"/>
                <a:ea typeface="Calibri" pitchFamily="34" charset="-122"/>
                <a:cs typeface="Calibri" pitchFamily="34" charset="-120"/>
              </a:rPr>
              <a:t>Pourquoi ces trois colonnes plutôt que l'accuracy</a:t>
            </a:r>
            <a:endParaRPr lang="en-US" sz="1300" dirty="0"/>
          </a:p>
        </p:txBody>
      </p:sp>
      <p:sp>
        <p:nvSpPr>
          <p:cNvPr id="32" name="Text 30"/>
          <p:cNvSpPr/>
          <p:nvPr/>
        </p:nvSpPr>
        <p:spPr>
          <a:xfrm>
            <a:off x="1005840" y="5705856"/>
            <a:ext cx="10424160" cy="566928"/>
          </a:xfrm>
          <a:prstGeom prst="rect">
            <a:avLst/>
          </a:prstGeom>
          <a:noFill/>
          <a:ln/>
        </p:spPr>
        <p:txBody>
          <a:bodyPr wrap="square" lIns="0" tIns="0" rIns="0" bIns="0" rtlCol="0" anchor="ctr"/>
          <a:lstStyle/>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Au point de fonctionnement réellement visé — intercepter 99 % des contrefaçons — la régression logistique envoie le moins de vrais billets en vérification inutile. Elle est aussi la mieux calibrée, ce qui compte quand toute la stratégie repose sur un seuil appliqué à ses probabilités.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09</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Ce que révèle l'analyse non supervisée</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K-means sur données standardisées, sans aucun recours aux étiquettes</a:t>
            </a:r>
            <a:endParaRPr lang="en-US" sz="1300" dirty="0"/>
          </a:p>
        </p:txBody>
      </p:sp>
      <p:sp>
        <p:nvSpPr>
          <p:cNvPr id="6" name="Text 4"/>
          <p:cNvSpPr/>
          <p:nvPr/>
        </p:nvSpPr>
        <p:spPr>
          <a:xfrm>
            <a:off x="685800" y="1600200"/>
            <a:ext cx="2468880" cy="658368"/>
          </a:xfrm>
          <a:prstGeom prst="rect">
            <a:avLst/>
          </a:prstGeom>
          <a:noFill/>
          <a:ln/>
        </p:spPr>
        <p:txBody>
          <a:bodyPr wrap="square" lIns="0" tIns="0" rIns="0" bIns="0" rtlCol="0" anchor="ctr"/>
          <a:lstStyle/>
          <a:p>
            <a:pPr algn="ctr" indent="0" marL="0">
              <a:buNone/>
            </a:pPr>
            <a:r>
              <a:rPr lang="en-US" sz="3400" b="1" dirty="0">
                <a:solidFill>
                  <a:srgbClr val="12263A"/>
                </a:solidFill>
                <a:latin typeface="Cambria" pitchFamily="34" charset="0"/>
                <a:ea typeface="Cambria" pitchFamily="34" charset="-122"/>
                <a:cs typeface="Cambria" pitchFamily="34" charset="-120"/>
              </a:rPr>
              <a:t>k = 2</a:t>
            </a:r>
            <a:endParaRPr lang="en-US" sz="3400" dirty="0"/>
          </a:p>
        </p:txBody>
      </p:sp>
      <p:sp>
        <p:nvSpPr>
          <p:cNvPr id="7" name="Text 5"/>
          <p:cNvSpPr/>
          <p:nvPr/>
        </p:nvSpPr>
        <p:spPr>
          <a:xfrm>
            <a:off x="685800" y="2258568"/>
            <a:ext cx="246888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silhouette maximale (0,345)</a:t>
            </a:r>
            <a:endParaRPr lang="en-US" sz="1100" dirty="0"/>
          </a:p>
        </p:txBody>
      </p:sp>
      <p:sp>
        <p:nvSpPr>
          <p:cNvPr id="8" name="Text 6"/>
          <p:cNvSpPr/>
          <p:nvPr/>
        </p:nvSpPr>
        <p:spPr>
          <a:xfrm>
            <a:off x="3337560" y="1600200"/>
            <a:ext cx="2468880" cy="658368"/>
          </a:xfrm>
          <a:prstGeom prst="rect">
            <a:avLst/>
          </a:prstGeom>
          <a:noFill/>
          <a:ln/>
        </p:spPr>
        <p:txBody>
          <a:bodyPr wrap="square" lIns="0" tIns="0" rIns="0" bIns="0" rtlCol="0" anchor="ctr"/>
          <a:lstStyle/>
          <a:p>
            <a:pPr algn="ctr" indent="0" marL="0">
              <a:buNone/>
            </a:pPr>
            <a:r>
              <a:rPr lang="en-US" sz="3000" b="1" dirty="0">
                <a:solidFill>
                  <a:srgbClr val="12263A"/>
                </a:solidFill>
                <a:latin typeface="Cambria" pitchFamily="34" charset="0"/>
                <a:ea typeface="Cambria" pitchFamily="34" charset="-122"/>
                <a:cs typeface="Cambria" pitchFamily="34" charset="-120"/>
              </a:rPr>
              <a:t>394 / 806</a:t>
            </a:r>
            <a:endParaRPr lang="en-US" sz="3000" dirty="0"/>
          </a:p>
        </p:txBody>
      </p:sp>
      <p:sp>
        <p:nvSpPr>
          <p:cNvPr id="9" name="Text 7"/>
          <p:cNvSpPr/>
          <p:nvPr/>
        </p:nvSpPr>
        <p:spPr>
          <a:xfrm>
            <a:off x="3337560" y="2258568"/>
            <a:ext cx="246888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tailles des deux clusters</a:t>
            </a:r>
            <a:endParaRPr lang="en-US" sz="1100" dirty="0"/>
          </a:p>
        </p:txBody>
      </p:sp>
      <p:sp>
        <p:nvSpPr>
          <p:cNvPr id="10" name="Text 8"/>
          <p:cNvSpPr/>
          <p:nvPr/>
        </p:nvSpPr>
        <p:spPr>
          <a:xfrm>
            <a:off x="5989320" y="1600200"/>
            <a:ext cx="2468880" cy="658368"/>
          </a:xfrm>
          <a:prstGeom prst="rect">
            <a:avLst/>
          </a:prstGeom>
          <a:noFill/>
          <a:ln/>
        </p:spPr>
        <p:txBody>
          <a:bodyPr wrap="square" lIns="0" tIns="0" rIns="0" bIns="0" rtlCol="0" anchor="ctr"/>
          <a:lstStyle/>
          <a:p>
            <a:pPr algn="ctr" indent="0" marL="0">
              <a:buNone/>
            </a:pPr>
            <a:r>
              <a:rPr lang="en-US" sz="3400" b="1" dirty="0">
                <a:solidFill>
                  <a:srgbClr val="2E6E8E"/>
                </a:solidFill>
                <a:latin typeface="Cambria" pitchFamily="34" charset="0"/>
                <a:ea typeface="Cambria" pitchFamily="34" charset="-122"/>
                <a:cs typeface="Cambria" pitchFamily="34" charset="-120"/>
              </a:rPr>
              <a:t>98,5 %</a:t>
            </a:r>
            <a:endParaRPr lang="en-US" sz="3400" dirty="0"/>
          </a:p>
        </p:txBody>
      </p:sp>
      <p:sp>
        <p:nvSpPr>
          <p:cNvPr id="11" name="Text 9"/>
          <p:cNvSpPr/>
          <p:nvPr/>
        </p:nvSpPr>
        <p:spPr>
          <a:xfrm>
            <a:off x="5989320" y="2258568"/>
            <a:ext cx="246888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pureté de chaque cluster</a:t>
            </a:r>
            <a:endParaRPr lang="en-US" sz="1100" dirty="0"/>
          </a:p>
        </p:txBody>
      </p:sp>
      <p:sp>
        <p:nvSpPr>
          <p:cNvPr id="12" name="Text 10"/>
          <p:cNvSpPr/>
          <p:nvPr/>
        </p:nvSpPr>
        <p:spPr>
          <a:xfrm>
            <a:off x="8641080" y="1600200"/>
            <a:ext cx="2468880" cy="658368"/>
          </a:xfrm>
          <a:prstGeom prst="rect">
            <a:avLst/>
          </a:prstGeom>
          <a:noFill/>
          <a:ln/>
        </p:spPr>
        <p:txBody>
          <a:bodyPr wrap="square" lIns="0" tIns="0" rIns="0" bIns="0" rtlCol="0" anchor="ctr"/>
          <a:lstStyle/>
          <a:p>
            <a:pPr algn="ctr" indent="0" marL="0">
              <a:buNone/>
            </a:pPr>
            <a:r>
              <a:rPr lang="en-US" sz="3400" b="1" dirty="0">
                <a:solidFill>
                  <a:srgbClr val="6B7A8C"/>
                </a:solidFill>
                <a:latin typeface="Cambria" pitchFamily="34" charset="0"/>
                <a:ea typeface="Cambria" pitchFamily="34" charset="-122"/>
                <a:cs typeface="Cambria" pitchFamily="34" charset="-120"/>
              </a:rPr>
              <a:t>60,4 %</a:t>
            </a:r>
            <a:endParaRPr lang="en-US" sz="3400" dirty="0"/>
          </a:p>
        </p:txBody>
      </p:sp>
      <p:sp>
        <p:nvSpPr>
          <p:cNvPr id="13" name="Text 11"/>
          <p:cNvSpPr/>
          <p:nvPr/>
        </p:nvSpPr>
        <p:spPr>
          <a:xfrm>
            <a:off x="8641080" y="2258568"/>
            <a:ext cx="2468880" cy="457200"/>
          </a:xfrm>
          <a:prstGeom prst="rect">
            <a:avLst/>
          </a:prstGeom>
          <a:noFill/>
          <a:ln/>
        </p:spPr>
        <p:txBody>
          <a:bodyPr wrap="square" lIns="0" tIns="0" rIns="0" bIns="0" rtlCol="0" anchor="ctr"/>
          <a:lstStyle/>
          <a:p>
            <a:pPr algn="ctr" indent="0" marL="0">
              <a:buNone/>
            </a:pPr>
            <a:r>
              <a:rPr lang="en-US" sz="1100" dirty="0">
                <a:solidFill>
                  <a:srgbClr val="6B7A8C"/>
                </a:solidFill>
                <a:latin typeface="Calibri" pitchFamily="34" charset="0"/>
                <a:ea typeface="Calibri" pitchFamily="34" charset="-122"/>
                <a:cs typeface="Calibri" pitchFamily="34" charset="-120"/>
              </a:rPr>
              <a:t>variance sur le plan ACP</a:t>
            </a:r>
            <a:endParaRPr lang="en-US" sz="1100" dirty="0"/>
          </a:p>
        </p:txBody>
      </p:sp>
      <p:sp>
        <p:nvSpPr>
          <p:cNvPr id="14" name="Shape 12"/>
          <p:cNvSpPr/>
          <p:nvPr/>
        </p:nvSpPr>
        <p:spPr>
          <a:xfrm>
            <a:off x="685800" y="3154680"/>
            <a:ext cx="5257800" cy="2651760"/>
          </a:xfrm>
          <a:prstGeom prst="roundRect">
            <a:avLst>
              <a:gd name="adj" fmla="val 2069"/>
            </a:avLst>
          </a:prstGeom>
          <a:solidFill>
            <a:srgbClr val="FBEDEC"/>
          </a:solidFill>
          <a:ln w="12700">
            <a:solidFill>
              <a:srgbClr val="E8C4C0"/>
            </a:solidFill>
            <a:prstDash val="solid"/>
          </a:ln>
          <a:effectLst>
            <a:outerShdw sx="100000" sy="100000" kx="0" ky="0" algn="bl" rotWithShape="0" blurRad="101600" dist="25400" dir="5400000">
              <a:srgbClr val="B9B3A8">
                <a:alpha val="35000"/>
              </a:srgbClr>
            </a:outerShdw>
          </a:effectLst>
        </p:spPr>
      </p:sp>
      <p:sp>
        <p:nvSpPr>
          <p:cNvPr id="15" name="Text 13"/>
          <p:cNvSpPr/>
          <p:nvPr/>
        </p:nvSpPr>
        <p:spPr>
          <a:xfrm>
            <a:off x="960120" y="3337560"/>
            <a:ext cx="4709160" cy="292608"/>
          </a:xfrm>
          <a:prstGeom prst="rect">
            <a:avLst/>
          </a:prstGeom>
          <a:noFill/>
          <a:ln/>
        </p:spPr>
        <p:txBody>
          <a:bodyPr wrap="square" lIns="0" tIns="0" rIns="0" bIns="0" rtlCol="0" anchor="ctr"/>
          <a:lstStyle/>
          <a:p>
            <a:pPr indent="0" marL="0">
              <a:buNone/>
            </a:pPr>
            <a:r>
              <a:rPr lang="en-US" sz="1450" b="1" dirty="0">
                <a:solidFill>
                  <a:srgbClr val="B3261E"/>
                </a:solidFill>
                <a:latin typeface="Calibri" pitchFamily="34" charset="0"/>
                <a:ea typeface="Calibri" pitchFamily="34" charset="-122"/>
                <a:cs typeface="Calibri" pitchFamily="34" charset="-120"/>
              </a:rPr>
              <a:t>Cluster 0  ·  profil suspect</a:t>
            </a:r>
            <a:endParaRPr lang="en-US" sz="1450" dirty="0"/>
          </a:p>
        </p:txBody>
      </p:sp>
      <p:sp>
        <p:nvSpPr>
          <p:cNvPr id="16" name="Text 14"/>
          <p:cNvSpPr/>
          <p:nvPr/>
        </p:nvSpPr>
        <p:spPr>
          <a:xfrm>
            <a:off x="960120" y="3703320"/>
            <a:ext cx="4709160" cy="173736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250" dirty="0">
                <a:solidFill>
                  <a:srgbClr val="5A4340"/>
                </a:solidFill>
                <a:latin typeface="Calibri" pitchFamily="34" charset="0"/>
                <a:ea typeface="Calibri" pitchFamily="34" charset="-122"/>
                <a:cs typeface="Calibri" pitchFamily="34" charset="-120"/>
              </a:rPr>
              <a:t>Billets plus courts : −1,21 écart-type sur length</a:t>
            </a:r>
            <a:endParaRPr lang="en-US" sz="1250" dirty="0"/>
          </a:p>
          <a:p>
            <a:pPr marL="342900" indent="-342900">
              <a:lnSpc>
                <a:spcPts val="2000"/>
              </a:lnSpc>
              <a:spcAft>
                <a:spcPts val="1000"/>
              </a:spcAft>
              <a:buSzPct val="100000"/>
              <a:buChar char="▪"/>
            </a:pPr>
            <a:r>
              <a:rPr lang="en-US" sz="1250" dirty="0">
                <a:solidFill>
                  <a:srgbClr val="5A4340"/>
                </a:solidFill>
                <a:latin typeface="Calibri" pitchFamily="34" charset="0"/>
                <a:ea typeface="Calibri" pitchFamily="34" charset="-122"/>
                <a:cs typeface="Calibri" pitchFamily="34" charset="-120"/>
              </a:rPr>
              <a:t>Marge inférieure plus large : +1,12</a:t>
            </a:r>
            <a:endParaRPr lang="en-US" sz="1250" dirty="0"/>
          </a:p>
          <a:p>
            <a:pPr marL="342900" indent="-342900">
              <a:lnSpc>
                <a:spcPts val="2000"/>
              </a:lnSpc>
              <a:spcAft>
                <a:spcPts val="1000"/>
              </a:spcAft>
              <a:buSzPct val="100000"/>
              <a:buChar char="▪"/>
            </a:pPr>
            <a:r>
              <a:rPr lang="en-US" sz="1250" dirty="0">
                <a:solidFill>
                  <a:srgbClr val="5A4340"/>
                </a:solidFill>
                <a:latin typeface="Calibri" pitchFamily="34" charset="0"/>
                <a:ea typeface="Calibri" pitchFamily="34" charset="-122"/>
                <a:cs typeface="Calibri" pitchFamily="34" charset="-120"/>
              </a:rPr>
              <a:t>Marge supérieure plus large : +0,87</a:t>
            </a:r>
            <a:endParaRPr lang="en-US" sz="1250" dirty="0"/>
          </a:p>
          <a:p>
            <a:pPr marL="342900" indent="-342900">
              <a:lnSpc>
                <a:spcPts val="2000"/>
              </a:lnSpc>
              <a:spcAft>
                <a:spcPts val="1000"/>
              </a:spcAft>
              <a:buSzPct val="100000"/>
              <a:buChar char="▪"/>
            </a:pPr>
            <a:r>
              <a:rPr lang="en-US" sz="1250" dirty="0">
                <a:solidFill>
                  <a:srgbClr val="5A4340"/>
                </a:solidFill>
                <a:latin typeface="Calibri" pitchFamily="34" charset="0"/>
                <a:ea typeface="Calibri" pitchFamily="34" charset="-122"/>
                <a:cs typeface="Calibri" pitchFamily="34" charset="-120"/>
              </a:rPr>
              <a:t>Hauteurs supérieures des deux côtés</a:t>
            </a:r>
            <a:endParaRPr lang="en-US" sz="1250" dirty="0"/>
          </a:p>
        </p:txBody>
      </p:sp>
      <p:sp>
        <p:nvSpPr>
          <p:cNvPr id="17" name="Text 15"/>
          <p:cNvSpPr/>
          <p:nvPr/>
        </p:nvSpPr>
        <p:spPr>
          <a:xfrm>
            <a:off x="960120" y="5349240"/>
            <a:ext cx="4709160" cy="274320"/>
          </a:xfrm>
          <a:prstGeom prst="rect">
            <a:avLst/>
          </a:prstGeom>
          <a:noFill/>
          <a:ln/>
        </p:spPr>
        <p:txBody>
          <a:bodyPr wrap="square" lIns="0" tIns="0" rIns="0" bIns="0" rtlCol="0" anchor="ctr"/>
          <a:lstStyle/>
          <a:p>
            <a:pPr indent="0" marL="0">
              <a:buNone/>
            </a:pPr>
            <a:r>
              <a:rPr lang="en-US" sz="1200" i="1" dirty="0">
                <a:solidFill>
                  <a:srgbClr val="8A5A55"/>
                </a:solidFill>
                <a:latin typeface="Calibri" pitchFamily="34" charset="0"/>
                <a:ea typeface="Calibri" pitchFamily="34" charset="-122"/>
                <a:cs typeface="Calibri" pitchFamily="34" charset="-120"/>
              </a:rPr>
              <a:t>388 des 394 billets sont effectivement faux.</a:t>
            </a:r>
            <a:endParaRPr lang="en-US" sz="1200" dirty="0"/>
          </a:p>
        </p:txBody>
      </p:sp>
      <p:sp>
        <p:nvSpPr>
          <p:cNvPr id="18" name="Shape 16"/>
          <p:cNvSpPr/>
          <p:nvPr/>
        </p:nvSpPr>
        <p:spPr>
          <a:xfrm>
            <a:off x="6217920" y="3154680"/>
            <a:ext cx="5257800" cy="2651760"/>
          </a:xfrm>
          <a:prstGeom prst="roundRect">
            <a:avLst>
              <a:gd name="adj" fmla="val 2069"/>
            </a:avLst>
          </a:prstGeom>
          <a:solidFill>
            <a:srgbClr val="EDF3F6"/>
          </a:solidFill>
          <a:ln w="12700">
            <a:solidFill>
              <a:srgbClr val="C2D6E0"/>
            </a:solidFill>
            <a:prstDash val="solid"/>
          </a:ln>
          <a:effectLst>
            <a:outerShdw sx="100000" sy="100000" kx="0" ky="0" algn="bl" rotWithShape="0" blurRad="101600" dist="25400" dir="5400000">
              <a:srgbClr val="B9B3A8">
                <a:alpha val="35000"/>
              </a:srgbClr>
            </a:outerShdw>
          </a:effectLst>
        </p:spPr>
      </p:sp>
      <p:sp>
        <p:nvSpPr>
          <p:cNvPr id="19" name="Text 17"/>
          <p:cNvSpPr/>
          <p:nvPr/>
        </p:nvSpPr>
        <p:spPr>
          <a:xfrm>
            <a:off x="6492240" y="3337560"/>
            <a:ext cx="4709160" cy="292608"/>
          </a:xfrm>
          <a:prstGeom prst="rect">
            <a:avLst/>
          </a:prstGeom>
          <a:noFill/>
          <a:ln/>
        </p:spPr>
        <p:txBody>
          <a:bodyPr wrap="square" lIns="0" tIns="0" rIns="0" bIns="0" rtlCol="0" anchor="ctr"/>
          <a:lstStyle/>
          <a:p>
            <a:pPr indent="0" marL="0">
              <a:buNone/>
            </a:pPr>
            <a:r>
              <a:rPr lang="en-US" sz="1450" b="1" dirty="0">
                <a:solidFill>
                  <a:srgbClr val="2E6E8E"/>
                </a:solidFill>
                <a:latin typeface="Calibri" pitchFamily="34" charset="0"/>
                <a:ea typeface="Calibri" pitchFamily="34" charset="-122"/>
                <a:cs typeface="Calibri" pitchFamily="34" charset="-120"/>
              </a:rPr>
              <a:t>Cluster 1  ·  profil conforme</a:t>
            </a:r>
            <a:endParaRPr lang="en-US" sz="1450" dirty="0"/>
          </a:p>
        </p:txBody>
      </p:sp>
      <p:sp>
        <p:nvSpPr>
          <p:cNvPr id="20" name="Text 18"/>
          <p:cNvSpPr/>
          <p:nvPr/>
        </p:nvSpPr>
        <p:spPr>
          <a:xfrm>
            <a:off x="6492240" y="3703320"/>
            <a:ext cx="4709160" cy="173736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250" dirty="0">
                <a:solidFill>
                  <a:srgbClr val="3D4E58"/>
                </a:solidFill>
                <a:latin typeface="Calibri" pitchFamily="34" charset="0"/>
                <a:ea typeface="Calibri" pitchFamily="34" charset="-122"/>
                <a:cs typeface="Calibri" pitchFamily="34" charset="-120"/>
              </a:rPr>
              <a:t>Billets plus longs : +0,59 écart-type sur length</a:t>
            </a:r>
            <a:endParaRPr lang="en-US" sz="1250" dirty="0"/>
          </a:p>
          <a:p>
            <a:pPr marL="342900" indent="-342900">
              <a:lnSpc>
                <a:spcPts val="2000"/>
              </a:lnSpc>
              <a:spcAft>
                <a:spcPts val="1000"/>
              </a:spcAft>
              <a:buSzPct val="100000"/>
              <a:buChar char="▪"/>
            </a:pPr>
            <a:r>
              <a:rPr lang="en-US" sz="1250" dirty="0">
                <a:solidFill>
                  <a:srgbClr val="3D4E58"/>
                </a:solidFill>
                <a:latin typeface="Calibri" pitchFamily="34" charset="0"/>
                <a:ea typeface="Calibri" pitchFamily="34" charset="-122"/>
                <a:cs typeface="Calibri" pitchFamily="34" charset="-120"/>
              </a:rPr>
              <a:t>Marges plus étroites, hauteurs plus faibles</a:t>
            </a:r>
            <a:endParaRPr lang="en-US" sz="1250" dirty="0"/>
          </a:p>
          <a:p>
            <a:pPr marL="342900" indent="-342900">
              <a:lnSpc>
                <a:spcPts val="2000"/>
              </a:lnSpc>
              <a:spcAft>
                <a:spcPts val="1000"/>
              </a:spcAft>
              <a:buSzPct val="100000"/>
              <a:buChar char="▪"/>
            </a:pPr>
            <a:r>
              <a:rPr lang="en-US" sz="1250" dirty="0">
                <a:solidFill>
                  <a:srgbClr val="3D4E58"/>
                </a:solidFill>
                <a:latin typeface="Calibri" pitchFamily="34" charset="0"/>
                <a:ea typeface="Calibri" pitchFamily="34" charset="-122"/>
                <a:cs typeface="Calibri" pitchFamily="34" charset="-120"/>
              </a:rPr>
              <a:t>Conforme aux spécifications attendues</a:t>
            </a:r>
            <a:endParaRPr lang="en-US" sz="1250" dirty="0"/>
          </a:p>
          <a:p>
            <a:pPr marL="342900" indent="-342900">
              <a:lnSpc>
                <a:spcPts val="2000"/>
              </a:lnSpc>
              <a:spcAft>
                <a:spcPts val="1000"/>
              </a:spcAft>
              <a:buSzPct val="100000"/>
              <a:buChar char="▪"/>
            </a:pPr>
            <a:r>
              <a:rPr lang="en-US" sz="1250" dirty="0">
                <a:solidFill>
                  <a:srgbClr val="3D4E58"/>
                </a:solidFill>
                <a:latin typeface="Calibri" pitchFamily="34" charset="0"/>
                <a:ea typeface="Calibri" pitchFamily="34" charset="-122"/>
                <a:cs typeface="Calibri" pitchFamily="34" charset="-120"/>
              </a:rPr>
              <a:t>diagonal ne distingue pas les deux groupes</a:t>
            </a:r>
            <a:endParaRPr lang="en-US" sz="1250" dirty="0"/>
          </a:p>
        </p:txBody>
      </p:sp>
      <p:sp>
        <p:nvSpPr>
          <p:cNvPr id="21" name="Text 19"/>
          <p:cNvSpPr/>
          <p:nvPr/>
        </p:nvSpPr>
        <p:spPr>
          <a:xfrm>
            <a:off x="6492240" y="5349240"/>
            <a:ext cx="4709160" cy="274320"/>
          </a:xfrm>
          <a:prstGeom prst="rect">
            <a:avLst/>
          </a:prstGeom>
          <a:noFill/>
          <a:ln/>
        </p:spPr>
        <p:txBody>
          <a:bodyPr wrap="square" lIns="0" tIns="0" rIns="0" bIns="0" rtlCol="0" anchor="ctr"/>
          <a:lstStyle/>
          <a:p>
            <a:pPr indent="0" marL="0">
              <a:buNone/>
            </a:pPr>
            <a:r>
              <a:rPr lang="en-US" sz="1200" i="1" dirty="0">
                <a:solidFill>
                  <a:srgbClr val="4A6472"/>
                </a:solidFill>
                <a:latin typeface="Calibri" pitchFamily="34" charset="0"/>
                <a:ea typeface="Calibri" pitchFamily="34" charset="-122"/>
                <a:cs typeface="Calibri" pitchFamily="34" charset="-120"/>
              </a:rPr>
              <a:t>794 des 806 billets sont effectivement vrais.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10</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Pourquoi le k-means ne peut pas être le modèle livré</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Valeurs de probabilité distinctes que produit le modèle une fois déployé</a:t>
            </a:r>
            <a:endParaRPr lang="en-US" sz="1300" dirty="0"/>
          </a:p>
        </p:txBody>
      </p:sp>
      <p:graphicFrame>
        <p:nvGraphicFramePr>
          <p:cNvPr id="6" name="Chart 0" descr=""/>
          <p:cNvGraphicFramePr/>
          <p:nvPr/>
        </p:nvGraphicFramePr>
        <p:xfrm>
          <a:off x="685800" y="1691640"/>
          <a:ext cx="630936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60920" y="1691640"/>
            <a:ext cx="4114800" cy="3291840"/>
          </a:xfrm>
          <a:prstGeom prst="roundRect">
            <a:avLst>
              <a:gd name="adj" fmla="val 1667"/>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8" name="Text 5"/>
          <p:cNvSpPr/>
          <p:nvPr/>
        </p:nvSpPr>
        <p:spPr>
          <a:xfrm>
            <a:off x="7635240" y="1901952"/>
            <a:ext cx="3566160" cy="640080"/>
          </a:xfrm>
          <a:prstGeom prst="rect">
            <a:avLst/>
          </a:prstGeom>
          <a:noFill/>
          <a:ln/>
        </p:spPr>
        <p:txBody>
          <a:bodyPr wrap="square" lIns="0" tIns="0" rIns="0" bIns="0" rtlCol="0" anchor="ctr"/>
          <a:lstStyle/>
          <a:p>
            <a:pPr indent="0" marL="0">
              <a:lnSpc>
                <a:spcPts val="1900"/>
              </a:lnSpc>
              <a:buNone/>
            </a:pPr>
            <a:r>
              <a:rPr lang="en-US" sz="1400" b="1" dirty="0">
                <a:solidFill>
                  <a:srgbClr val="12263A"/>
                </a:solidFill>
                <a:latin typeface="Calibri" pitchFamily="34" charset="0"/>
                <a:ea typeface="Calibri" pitchFamily="34" charset="-122"/>
                <a:cs typeface="Calibri" pitchFamily="34" charset="-120"/>
              </a:rPr>
              <a:t>Un seuil ne se règle que</a:t>
            </a:r>
            <a:endParaRPr lang="en-US" sz="1400" dirty="0"/>
          </a:p>
          <a:p>
            <a:pPr indent="0" marL="0">
              <a:lnSpc>
                <a:spcPts val="1900"/>
              </a:lnSpc>
              <a:buNone/>
            </a:pPr>
            <a:r>
              <a:rPr lang="en-US" sz="1400" b="1" dirty="0">
                <a:solidFill>
                  <a:srgbClr val="12263A"/>
                </a:solidFill>
                <a:latin typeface="Calibri" pitchFamily="34" charset="0"/>
                <a:ea typeface="Calibri" pitchFamily="34" charset="-122"/>
                <a:cs typeface="Calibri" pitchFamily="34" charset="-120"/>
              </a:rPr>
              <a:t>sur des probabilités nuancées</a:t>
            </a:r>
            <a:endParaRPr lang="en-US" sz="1400" dirty="0"/>
          </a:p>
        </p:txBody>
      </p:sp>
      <p:sp>
        <p:nvSpPr>
          <p:cNvPr id="9" name="Text 6"/>
          <p:cNvSpPr/>
          <p:nvPr/>
        </p:nvSpPr>
        <p:spPr>
          <a:xfrm>
            <a:off x="7635240" y="2606040"/>
            <a:ext cx="3566160" cy="219456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Le k-means n'attribue qu'une valeur par cluster, soit deux au total. Il n'existe aucun réglage intermédiaire.</a:t>
            </a:r>
            <a:endParaRPr lang="en-US" sz="1250" dirty="0"/>
          </a:p>
          <a:p>
            <a:pPr indent="0" marL="0">
              <a:lnSpc>
                <a:spcPts val="1700"/>
              </a:lnSpc>
              <a:buNone/>
            </a:pPr>
            <a:endParaRPr lang="en-US" sz="1250" dirty="0"/>
          </a:p>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Le KNN avec k = 11 n'en produit que 12 : le seuil ne peut bouger que par sauts de 9 points.</a:t>
            </a:r>
            <a:endParaRPr lang="en-US" sz="1250" dirty="0"/>
          </a:p>
          <a:p>
            <a:pPr indent="0" marL="0">
              <a:lnSpc>
                <a:spcPts val="1700"/>
              </a:lnSpc>
              <a:buNone/>
            </a:pPr>
            <a:endParaRPr lang="en-US" sz="1250" dirty="0"/>
          </a:p>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La régression logistique offre un réglage au centième près.</a:t>
            </a:r>
            <a:endParaRPr lang="en-US" sz="1250" dirty="0"/>
          </a:p>
        </p:txBody>
      </p:sp>
      <p:sp>
        <p:nvSpPr>
          <p:cNvPr id="10" name="Shape 7"/>
          <p:cNvSpPr/>
          <p:nvPr/>
        </p:nvSpPr>
        <p:spPr>
          <a:xfrm>
            <a:off x="685800" y="5212080"/>
            <a:ext cx="10817352" cy="960120"/>
          </a:xfrm>
          <a:prstGeom prst="roundRect">
            <a:avLst>
              <a:gd name="adj" fmla="val 5714"/>
            </a:avLst>
          </a:prstGeom>
          <a:solidFill>
            <a:srgbClr val="FDF6E7"/>
          </a:solidFill>
          <a:ln w="12700">
            <a:solidFill>
              <a:srgbClr val="E8D5A8"/>
            </a:solidFill>
            <a:prstDash val="solid"/>
          </a:ln>
          <a:effectLst>
            <a:outerShdw sx="100000" sy="100000" kx="0" ky="0" algn="bl" rotWithShape="0" blurRad="101600" dist="25400" dir="5400000">
              <a:srgbClr val="B9B3A8">
                <a:alpha val="35000"/>
              </a:srgbClr>
            </a:outerShdw>
          </a:effectLst>
        </p:spPr>
      </p:sp>
      <p:sp>
        <p:nvSpPr>
          <p:cNvPr id="11" name="Text 8"/>
          <p:cNvSpPr/>
          <p:nvPr/>
        </p:nvSpPr>
        <p:spPr>
          <a:xfrm>
            <a:off x="1005840" y="5376672"/>
            <a:ext cx="10424160" cy="640080"/>
          </a:xfrm>
          <a:prstGeom prst="rect">
            <a:avLst/>
          </a:prstGeom>
          <a:noFill/>
          <a:ln/>
        </p:spPr>
        <p:txBody>
          <a:bodyPr wrap="square" lIns="0" tIns="0" rIns="0" bIns="0" rtlCol="0" anchor="ctr"/>
          <a:lstStyle/>
          <a:p>
            <a:pPr indent="0" marL="0">
              <a:lnSpc>
                <a:spcPts val="1700"/>
              </a:lnSpc>
              <a:buNone/>
            </a:pPr>
            <a:r>
              <a:rPr lang="en-US" sz="1250" dirty="0">
                <a:solidFill>
                  <a:srgbClr val="6B5518"/>
                </a:solidFill>
                <a:latin typeface="Calibri" pitchFamily="34" charset="0"/>
                <a:ea typeface="Calibri" pitchFamily="34" charset="-122"/>
                <a:cs typeface="Calibri" pitchFamily="34" charset="-120"/>
              </a:rPr>
              <a:t>Le k-means garde toute sa valeur comme analyse exploratoire : il confirme que la séparation vrai / faux existe dans la géométrie des billets sans recours aux étiquettes, et il décrit physiquement les deux populations. Mais il n'offre aucun levier pour arbitrer entre faux positifs et faux négatifs.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11</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Modèle retenu : la régression logistique</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Cinq raisons, dont aucune n'est la performance brute</a:t>
            </a:r>
            <a:endParaRPr lang="en-US" sz="1300" dirty="0"/>
          </a:p>
        </p:txBody>
      </p:sp>
      <p:sp>
        <p:nvSpPr>
          <p:cNvPr id="6" name="Shape 4"/>
          <p:cNvSpPr/>
          <p:nvPr/>
        </p:nvSpPr>
        <p:spPr>
          <a:xfrm>
            <a:off x="685800" y="1673352"/>
            <a:ext cx="310896" cy="310896"/>
          </a:xfrm>
          <a:prstGeom prst="ellipse">
            <a:avLst/>
          </a:prstGeom>
          <a:solidFill>
            <a:srgbClr val="C89B3C"/>
          </a:solidFill>
          <a:ln/>
        </p:spPr>
      </p:sp>
      <p:sp>
        <p:nvSpPr>
          <p:cNvPr id="7" name="Text 5"/>
          <p:cNvSpPr/>
          <p:nvPr/>
        </p:nvSpPr>
        <p:spPr>
          <a:xfrm>
            <a:off x="685800" y="1673352"/>
            <a:ext cx="310896" cy="310896"/>
          </a:xfrm>
          <a:prstGeom prst="rect">
            <a:avLst/>
          </a:prstGeom>
          <a:noFill/>
          <a:ln/>
        </p:spPr>
        <p:txBody>
          <a:bodyPr wrap="square" lIns="0" tIns="0" rIns="0" bIns="0" rtlCol="0" anchor="ctr"/>
          <a:lstStyle/>
          <a:p>
            <a:pPr algn="ctr" indent="0" marL="0">
              <a:buNone/>
            </a:pPr>
            <a:r>
              <a:rPr lang="en-US" sz="1200" b="1" dirty="0">
                <a:solidFill>
                  <a:srgbClr val="12263A"/>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88720" y="1600200"/>
            <a:ext cx="3383280" cy="457200"/>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Précision au point de fonctionnement</a:t>
            </a:r>
            <a:endParaRPr lang="en-US" sz="1400" dirty="0"/>
          </a:p>
        </p:txBody>
      </p:sp>
      <p:sp>
        <p:nvSpPr>
          <p:cNvPr id="9" name="Text 7"/>
          <p:cNvSpPr/>
          <p:nvPr/>
        </p:nvSpPr>
        <p:spPr>
          <a:xfrm>
            <a:off x="4617720" y="1600200"/>
            <a:ext cx="6858000" cy="713232"/>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0,968 à rappel 0,99 — la meilleure des quatre. Moins de vrais billets renvoyés en vérification inutile.</a:t>
            </a:r>
            <a:endParaRPr lang="en-US" sz="1250" dirty="0"/>
          </a:p>
        </p:txBody>
      </p:sp>
      <p:sp>
        <p:nvSpPr>
          <p:cNvPr id="10" name="Shape 8"/>
          <p:cNvSpPr/>
          <p:nvPr/>
        </p:nvSpPr>
        <p:spPr>
          <a:xfrm>
            <a:off x="1188720" y="2404872"/>
            <a:ext cx="10287000" cy="0"/>
          </a:xfrm>
          <a:prstGeom prst="line">
            <a:avLst/>
          </a:prstGeom>
          <a:noFill/>
          <a:ln w="12700">
            <a:solidFill>
              <a:srgbClr val="DCD8CF"/>
            </a:solidFill>
            <a:prstDash val="solid"/>
          </a:ln>
        </p:spPr>
      </p:sp>
      <p:sp>
        <p:nvSpPr>
          <p:cNvPr id="11" name="Shape 9"/>
          <p:cNvSpPr/>
          <p:nvPr/>
        </p:nvSpPr>
        <p:spPr>
          <a:xfrm>
            <a:off x="685800" y="2569464"/>
            <a:ext cx="310896" cy="310896"/>
          </a:xfrm>
          <a:prstGeom prst="ellipse">
            <a:avLst/>
          </a:prstGeom>
          <a:solidFill>
            <a:srgbClr val="C89B3C"/>
          </a:solidFill>
          <a:ln/>
        </p:spPr>
      </p:sp>
      <p:sp>
        <p:nvSpPr>
          <p:cNvPr id="12" name="Text 10"/>
          <p:cNvSpPr/>
          <p:nvPr/>
        </p:nvSpPr>
        <p:spPr>
          <a:xfrm>
            <a:off x="685800" y="2569464"/>
            <a:ext cx="310896" cy="310896"/>
          </a:xfrm>
          <a:prstGeom prst="rect">
            <a:avLst/>
          </a:prstGeom>
          <a:noFill/>
          <a:ln/>
        </p:spPr>
        <p:txBody>
          <a:bodyPr wrap="square" lIns="0" tIns="0" rIns="0" bIns="0" rtlCol="0" anchor="ctr"/>
          <a:lstStyle/>
          <a:p>
            <a:pPr algn="ctr" indent="0" marL="0">
              <a:buNone/>
            </a:pPr>
            <a:r>
              <a:rPr lang="en-US" sz="1200" b="1" dirty="0">
                <a:solidFill>
                  <a:srgbClr val="12263A"/>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88720" y="2496312"/>
            <a:ext cx="3383280" cy="457200"/>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Calibration</a:t>
            </a:r>
            <a:endParaRPr lang="en-US" sz="1400" dirty="0"/>
          </a:p>
        </p:txBody>
      </p:sp>
      <p:sp>
        <p:nvSpPr>
          <p:cNvPr id="14" name="Text 12"/>
          <p:cNvSpPr/>
          <p:nvPr/>
        </p:nvSpPr>
        <p:spPr>
          <a:xfrm>
            <a:off x="4617720" y="2496312"/>
            <a:ext cx="6858000" cy="713232"/>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Meilleur score de Brier. Le modèle optimise la vraisemblance : ses probabilités sont des probabilités au sens propre.</a:t>
            </a:r>
            <a:endParaRPr lang="en-US" sz="1250" dirty="0"/>
          </a:p>
        </p:txBody>
      </p:sp>
      <p:sp>
        <p:nvSpPr>
          <p:cNvPr id="15" name="Shape 13"/>
          <p:cNvSpPr/>
          <p:nvPr/>
        </p:nvSpPr>
        <p:spPr>
          <a:xfrm>
            <a:off x="1188720" y="3300984"/>
            <a:ext cx="10287000" cy="0"/>
          </a:xfrm>
          <a:prstGeom prst="line">
            <a:avLst/>
          </a:prstGeom>
          <a:noFill/>
          <a:ln w="12700">
            <a:solidFill>
              <a:srgbClr val="DCD8CF"/>
            </a:solidFill>
            <a:prstDash val="solid"/>
          </a:ln>
        </p:spPr>
      </p:sp>
      <p:sp>
        <p:nvSpPr>
          <p:cNvPr id="16" name="Shape 14"/>
          <p:cNvSpPr/>
          <p:nvPr/>
        </p:nvSpPr>
        <p:spPr>
          <a:xfrm>
            <a:off x="685800" y="3465576"/>
            <a:ext cx="310896" cy="310896"/>
          </a:xfrm>
          <a:prstGeom prst="ellipse">
            <a:avLst/>
          </a:prstGeom>
          <a:solidFill>
            <a:srgbClr val="C89B3C"/>
          </a:solidFill>
          <a:ln/>
        </p:spPr>
      </p:sp>
      <p:sp>
        <p:nvSpPr>
          <p:cNvPr id="17" name="Text 15"/>
          <p:cNvSpPr/>
          <p:nvPr/>
        </p:nvSpPr>
        <p:spPr>
          <a:xfrm>
            <a:off x="685800" y="3465576"/>
            <a:ext cx="310896" cy="310896"/>
          </a:xfrm>
          <a:prstGeom prst="rect">
            <a:avLst/>
          </a:prstGeom>
          <a:noFill/>
          <a:ln/>
        </p:spPr>
        <p:txBody>
          <a:bodyPr wrap="square" lIns="0" tIns="0" rIns="0" bIns="0" rtlCol="0" anchor="ctr"/>
          <a:lstStyle/>
          <a:p>
            <a:pPr algn="ctr" indent="0" marL="0">
              <a:buNone/>
            </a:pPr>
            <a:r>
              <a:rPr lang="en-US" sz="1200" b="1" dirty="0">
                <a:solidFill>
                  <a:srgbClr val="12263A"/>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88720" y="3392424"/>
            <a:ext cx="3383280" cy="457200"/>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Granularité</a:t>
            </a:r>
            <a:endParaRPr lang="en-US" sz="1400" dirty="0"/>
          </a:p>
        </p:txBody>
      </p:sp>
      <p:sp>
        <p:nvSpPr>
          <p:cNvPr id="19" name="Text 17"/>
          <p:cNvSpPr/>
          <p:nvPr/>
        </p:nvSpPr>
        <p:spPr>
          <a:xfrm>
            <a:off x="4617720" y="3392424"/>
            <a:ext cx="6858000" cy="713232"/>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1 047 valeurs distinctes : le seuil se règle finement, ce qui est toute la stratégie du projet.</a:t>
            </a:r>
            <a:endParaRPr lang="en-US" sz="1250" dirty="0"/>
          </a:p>
        </p:txBody>
      </p:sp>
      <p:sp>
        <p:nvSpPr>
          <p:cNvPr id="20" name="Shape 18"/>
          <p:cNvSpPr/>
          <p:nvPr/>
        </p:nvSpPr>
        <p:spPr>
          <a:xfrm>
            <a:off x="1188720" y="4197096"/>
            <a:ext cx="10287000" cy="0"/>
          </a:xfrm>
          <a:prstGeom prst="line">
            <a:avLst/>
          </a:prstGeom>
          <a:noFill/>
          <a:ln w="12700">
            <a:solidFill>
              <a:srgbClr val="DCD8CF"/>
            </a:solidFill>
            <a:prstDash val="solid"/>
          </a:ln>
        </p:spPr>
      </p:sp>
      <p:sp>
        <p:nvSpPr>
          <p:cNvPr id="21" name="Shape 19"/>
          <p:cNvSpPr/>
          <p:nvPr/>
        </p:nvSpPr>
        <p:spPr>
          <a:xfrm>
            <a:off x="685800" y="4361688"/>
            <a:ext cx="310896" cy="310896"/>
          </a:xfrm>
          <a:prstGeom prst="ellipse">
            <a:avLst/>
          </a:prstGeom>
          <a:solidFill>
            <a:srgbClr val="C89B3C"/>
          </a:solidFill>
          <a:ln/>
        </p:spPr>
      </p:sp>
      <p:sp>
        <p:nvSpPr>
          <p:cNvPr id="22" name="Text 20"/>
          <p:cNvSpPr/>
          <p:nvPr/>
        </p:nvSpPr>
        <p:spPr>
          <a:xfrm>
            <a:off x="685800" y="4361688"/>
            <a:ext cx="310896" cy="310896"/>
          </a:xfrm>
          <a:prstGeom prst="rect">
            <a:avLst/>
          </a:prstGeom>
          <a:noFill/>
          <a:ln/>
        </p:spPr>
        <p:txBody>
          <a:bodyPr wrap="square" lIns="0" tIns="0" rIns="0" bIns="0" rtlCol="0" anchor="ctr"/>
          <a:lstStyle/>
          <a:p>
            <a:pPr algn="ctr" indent="0" marL="0">
              <a:buNone/>
            </a:pPr>
            <a:r>
              <a:rPr lang="en-US" sz="1200" b="1" dirty="0">
                <a:solidFill>
                  <a:srgbClr val="12263A"/>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188720" y="4288536"/>
            <a:ext cx="3383280" cy="457200"/>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Interprétabilité</a:t>
            </a:r>
            <a:endParaRPr lang="en-US" sz="1400" dirty="0"/>
          </a:p>
        </p:txBody>
      </p:sp>
      <p:sp>
        <p:nvSpPr>
          <p:cNvPr id="24" name="Text 22"/>
          <p:cNvSpPr/>
          <p:nvPr/>
        </p:nvSpPr>
        <p:spPr>
          <a:xfrm>
            <a:off x="4617720" y="4288536"/>
            <a:ext cx="6858000" cy="713232"/>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Sept coefficients lisibles et défendables devant un organisme public tenu de justifier ses décisions.</a:t>
            </a:r>
            <a:endParaRPr lang="en-US" sz="1250" dirty="0"/>
          </a:p>
        </p:txBody>
      </p:sp>
      <p:sp>
        <p:nvSpPr>
          <p:cNvPr id="25" name="Shape 23"/>
          <p:cNvSpPr/>
          <p:nvPr/>
        </p:nvSpPr>
        <p:spPr>
          <a:xfrm>
            <a:off x="1188720" y="5093208"/>
            <a:ext cx="10287000" cy="0"/>
          </a:xfrm>
          <a:prstGeom prst="line">
            <a:avLst/>
          </a:prstGeom>
          <a:noFill/>
          <a:ln w="12700">
            <a:solidFill>
              <a:srgbClr val="DCD8CF"/>
            </a:solidFill>
            <a:prstDash val="solid"/>
          </a:ln>
        </p:spPr>
      </p:sp>
      <p:sp>
        <p:nvSpPr>
          <p:cNvPr id="26" name="Shape 24"/>
          <p:cNvSpPr/>
          <p:nvPr/>
        </p:nvSpPr>
        <p:spPr>
          <a:xfrm>
            <a:off x="685800" y="5257800"/>
            <a:ext cx="310896" cy="310896"/>
          </a:xfrm>
          <a:prstGeom prst="ellipse">
            <a:avLst/>
          </a:prstGeom>
          <a:solidFill>
            <a:srgbClr val="C89B3C"/>
          </a:solidFill>
          <a:ln/>
        </p:spPr>
      </p:sp>
      <p:sp>
        <p:nvSpPr>
          <p:cNvPr id="27" name="Text 25"/>
          <p:cNvSpPr/>
          <p:nvPr/>
        </p:nvSpPr>
        <p:spPr>
          <a:xfrm>
            <a:off x="685800" y="5257800"/>
            <a:ext cx="310896" cy="310896"/>
          </a:xfrm>
          <a:prstGeom prst="rect">
            <a:avLst/>
          </a:prstGeom>
          <a:noFill/>
          <a:ln/>
        </p:spPr>
        <p:txBody>
          <a:bodyPr wrap="square" lIns="0" tIns="0" rIns="0" bIns="0" rtlCol="0" anchor="ctr"/>
          <a:lstStyle/>
          <a:p>
            <a:pPr algn="ctr" indent="0" marL="0">
              <a:buNone/>
            </a:pPr>
            <a:r>
              <a:rPr lang="en-US" sz="1200" b="1" dirty="0">
                <a:solidFill>
                  <a:srgbClr val="12263A"/>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188720" y="5184648"/>
            <a:ext cx="3383280" cy="457200"/>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Simplicité d'exploitation</a:t>
            </a:r>
            <a:endParaRPr lang="en-US" sz="1400" dirty="0"/>
          </a:p>
        </p:txBody>
      </p:sp>
      <p:sp>
        <p:nvSpPr>
          <p:cNvPr id="29" name="Text 27"/>
          <p:cNvSpPr/>
          <p:nvPr/>
        </p:nvSpPr>
        <p:spPr>
          <a:xfrm>
            <a:off x="4617720" y="5184648"/>
            <a:ext cx="6858000" cy="713232"/>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Sept coefficients contre cent arbres : déploiement, audit et maintenance facilités.</a:t>
            </a:r>
            <a:endParaRPr lang="en-US" sz="1250" dirty="0"/>
          </a:p>
        </p:txBody>
      </p:sp>
      <p:sp>
        <p:nvSpPr>
          <p:cNvPr id="30" name="Text 28"/>
          <p:cNvSpPr/>
          <p:nvPr/>
        </p:nvSpPr>
        <p:spPr>
          <a:xfrm>
            <a:off x="685800" y="6126480"/>
            <a:ext cx="10817352" cy="457200"/>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La forêt aléatoire garde un léger avantage en average precision (0,9987 contre 0,9979), mais cette mesure moyenne tous les seuils possibles, y compris ceux qui ne seront jamais utilisés.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12</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Calibration du seuil de décision</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Sur probabilités hors-échantillon, plage utile 0,50 à 0,90 — le jeu de test reste fermé</a:t>
            </a:r>
            <a:endParaRPr lang="en-US" sz="1300" dirty="0"/>
          </a:p>
        </p:txBody>
      </p:sp>
      <p:graphicFrame>
        <p:nvGraphicFramePr>
          <p:cNvPr id="6" name="Chart 0" descr=""/>
          <p:cNvGraphicFramePr/>
          <p:nvPr/>
        </p:nvGraphicFramePr>
        <p:xfrm>
          <a:off x="685800" y="1691640"/>
          <a:ext cx="6400800" cy="33832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691640"/>
            <a:ext cx="4023360" cy="1600200"/>
          </a:xfrm>
          <a:prstGeom prst="roundRect">
            <a:avLst>
              <a:gd name="adj" fmla="val 3429"/>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8" name="Text 5"/>
          <p:cNvSpPr/>
          <p:nvPr/>
        </p:nvSpPr>
        <p:spPr>
          <a:xfrm>
            <a:off x="7726680" y="1874520"/>
            <a:ext cx="3474720" cy="365760"/>
          </a:xfrm>
          <a:prstGeom prst="rect">
            <a:avLst/>
          </a:prstGeom>
          <a:noFill/>
          <a:ln/>
        </p:spPr>
        <p:txBody>
          <a:bodyPr wrap="square" lIns="0" tIns="0" rIns="0" bIns="0" rtlCol="0" anchor="ctr"/>
          <a:lstStyle/>
          <a:p>
            <a:pPr indent="0" marL="0">
              <a:buNone/>
            </a:pPr>
            <a:r>
              <a:rPr lang="en-US" sz="2000" b="1" dirty="0">
                <a:solidFill>
                  <a:srgbClr val="C89B3C"/>
                </a:solidFill>
                <a:latin typeface="Cambria" pitchFamily="34" charset="0"/>
                <a:ea typeface="Cambria" pitchFamily="34" charset="-122"/>
                <a:cs typeface="Cambria" pitchFamily="34" charset="-120"/>
              </a:rPr>
              <a:t>Seuil retenu : 0,80</a:t>
            </a:r>
            <a:endParaRPr lang="en-US" sz="2000" dirty="0"/>
          </a:p>
        </p:txBody>
      </p:sp>
      <p:sp>
        <p:nvSpPr>
          <p:cNvPr id="9" name="Text 6"/>
          <p:cNvSpPr/>
          <p:nvPr/>
        </p:nvSpPr>
        <p:spPr>
          <a:xfrm>
            <a:off x="7726680" y="2304288"/>
            <a:ext cx="3474720" cy="868680"/>
          </a:xfrm>
          <a:prstGeom prst="rect">
            <a:avLst/>
          </a:prstGeom>
          <a:noFill/>
          <a:ln/>
        </p:spPr>
        <p:txBody>
          <a:bodyPr wrap="square" lIns="0" tIns="0" rIns="0" bIns="0" rtlCol="0" anchor="ctr"/>
          <a:lstStyle/>
          <a:p>
            <a:pPr indent="0" marL="0">
              <a:lnSpc>
                <a:spcPts val="1600"/>
              </a:lnSpc>
              <a:buNone/>
            </a:pPr>
            <a:r>
              <a:rPr lang="en-US" sz="1200" dirty="0">
                <a:solidFill>
                  <a:srgbClr val="D3DCE5"/>
                </a:solidFill>
                <a:latin typeface="Calibri" pitchFamily="34" charset="0"/>
                <a:ea typeface="Calibri" pitchFamily="34" charset="-122"/>
                <a:cs typeface="Calibri" pitchFamily="34" charset="-120"/>
              </a:rPr>
              <a:t>Optimum médian sur 15 découpages : 0,810. Le F-bêta(2) forme un large plateau entre 0,535 et 0,865 — le réglage n'est donc pas un ajustement fragile sur du bruit.</a:t>
            </a:r>
            <a:endParaRPr lang="en-US" sz="1200" dirty="0"/>
          </a:p>
        </p:txBody>
      </p:sp>
      <p:sp>
        <p:nvSpPr>
          <p:cNvPr id="10" name="Shape 7"/>
          <p:cNvSpPr/>
          <p:nvPr/>
        </p:nvSpPr>
        <p:spPr>
          <a:xfrm>
            <a:off x="7452360" y="3456432"/>
            <a:ext cx="4023360" cy="1618488"/>
          </a:xfrm>
          <a:prstGeom prst="roundRect">
            <a:avLst>
              <a:gd name="adj" fmla="val 3390"/>
            </a:avLst>
          </a:prstGeom>
          <a:solidFill>
            <a:srgbClr val="FBEDEC"/>
          </a:solidFill>
          <a:ln w="12700">
            <a:solidFill>
              <a:srgbClr val="E8C4C0"/>
            </a:solidFill>
            <a:prstDash val="solid"/>
          </a:ln>
          <a:effectLst>
            <a:outerShdw sx="100000" sy="100000" kx="0" ky="0" algn="bl" rotWithShape="0" blurRad="101600" dist="25400" dir="5400000">
              <a:srgbClr val="B9B3A8">
                <a:alpha val="35000"/>
              </a:srgbClr>
            </a:outerShdw>
          </a:effectLst>
        </p:spPr>
      </p:sp>
      <p:sp>
        <p:nvSpPr>
          <p:cNvPr id="11" name="Text 8"/>
          <p:cNvSpPr/>
          <p:nvPr/>
        </p:nvSpPr>
        <p:spPr>
          <a:xfrm>
            <a:off x="7726680" y="3621024"/>
            <a:ext cx="3474720" cy="274320"/>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Ce qu'aucun seuil ne permet</a:t>
            </a:r>
            <a:endParaRPr lang="en-US" sz="1300" dirty="0"/>
          </a:p>
        </p:txBody>
      </p:sp>
      <p:sp>
        <p:nvSpPr>
          <p:cNvPr id="12" name="Text 9"/>
          <p:cNvSpPr/>
          <p:nvPr/>
        </p:nvSpPr>
        <p:spPr>
          <a:xfrm>
            <a:off x="7726680" y="3931920"/>
            <a:ext cx="3474720" cy="960120"/>
          </a:xfrm>
          <a:prstGeom prst="rect">
            <a:avLst/>
          </a:prstGeom>
          <a:noFill/>
          <a:ln/>
        </p:spPr>
        <p:txBody>
          <a:bodyPr wrap="square" lIns="0" tIns="0" rIns="0" bIns="0" rtlCol="0" anchor="ctr"/>
          <a:lstStyle/>
          <a:p>
            <a:pPr indent="0" marL="0">
              <a:lnSpc>
                <a:spcPts val="1600"/>
              </a:lnSpc>
              <a:buNone/>
            </a:pPr>
            <a:r>
              <a:rPr lang="en-US" sz="1200" dirty="0">
                <a:solidFill>
                  <a:srgbClr val="5A4340"/>
                </a:solidFill>
                <a:latin typeface="Calibri" pitchFamily="34" charset="0"/>
                <a:ea typeface="Calibri" pitchFamily="34" charset="-122"/>
                <a:cs typeface="Calibri" pitchFamily="34" charset="-120"/>
              </a:rPr>
              <a:t>Atteindre 100 % de détection dans des conditions acceptables. Même à 0,99, un faux billet passe encore — au prix de 190 vrais billets rejetés.</a:t>
            </a:r>
            <a:endParaRPr lang="en-US" sz="1200" dirty="0"/>
          </a:p>
        </p:txBody>
      </p:sp>
      <p:sp>
        <p:nvSpPr>
          <p:cNvPr id="13" name="Shape 10"/>
          <p:cNvSpPr/>
          <p:nvPr/>
        </p:nvSpPr>
        <p:spPr>
          <a:xfrm>
            <a:off x="685800" y="5257800"/>
            <a:ext cx="10817352" cy="914400"/>
          </a:xfrm>
          <a:prstGeom prst="roundRect">
            <a:avLst>
              <a:gd name="adj" fmla="val 6000"/>
            </a:avLst>
          </a:prstGeom>
          <a:solidFill>
            <a:srgbClr val="FDF6E7"/>
          </a:solidFill>
          <a:ln w="12700">
            <a:solidFill>
              <a:srgbClr val="E8D5A8"/>
            </a:solidFill>
            <a:prstDash val="solid"/>
          </a:ln>
          <a:effectLst>
            <a:outerShdw sx="100000" sy="100000" kx="0" ky="0" algn="bl" rotWithShape="0" blurRad="101600" dist="25400" dir="5400000">
              <a:srgbClr val="B9B3A8">
                <a:alpha val="35000"/>
              </a:srgbClr>
            </a:outerShdw>
          </a:effectLst>
        </p:spPr>
      </p:sp>
      <p:sp>
        <p:nvSpPr>
          <p:cNvPr id="14" name="Text 11"/>
          <p:cNvSpPr/>
          <p:nvPr/>
        </p:nvSpPr>
        <p:spPr>
          <a:xfrm>
            <a:off x="1005840" y="5440680"/>
            <a:ext cx="10424160" cy="548640"/>
          </a:xfrm>
          <a:prstGeom prst="rect">
            <a:avLst/>
          </a:prstGeom>
          <a:noFill/>
          <a:ln/>
        </p:spPr>
        <p:txBody>
          <a:bodyPr wrap="square" lIns="0" tIns="0" rIns="0" bIns="0" rtlCol="0" anchor="ctr"/>
          <a:lstStyle/>
          <a:p>
            <a:pPr indent="0" marL="0">
              <a:buNone/>
            </a:pPr>
            <a:r>
              <a:rPr lang="en-US" sz="1350" b="1" dirty="0">
                <a:solidFill>
                  <a:srgbClr val="8A6A1E"/>
                </a:solidFill>
                <a:latin typeface="Calibri" pitchFamily="34" charset="0"/>
                <a:ea typeface="Calibri" pitchFamily="34" charset="-122"/>
                <a:cs typeface="Calibri" pitchFamily="34" charset="-120"/>
              </a:rPr>
              <a:t>Traduction opérationnelle — sur un flux de 1 000 billets analysés par jour : environ 4 contrefaçons non détectées et 11 vérifications manuelles inutiles.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13</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Performance sur le jeu de test</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300 billets jamais vus, ouverts une seule fois, modèle et seuil figés</a:t>
            </a:r>
            <a:endParaRPr lang="en-US" sz="1300" dirty="0"/>
          </a:p>
        </p:txBody>
      </p:sp>
      <p:sp>
        <p:nvSpPr>
          <p:cNvPr id="6" name="Text 4"/>
          <p:cNvSpPr/>
          <p:nvPr/>
        </p:nvSpPr>
        <p:spPr>
          <a:xfrm>
            <a:off x="2057400" y="1572768"/>
            <a:ext cx="1920240" cy="274320"/>
          </a:xfrm>
          <a:prstGeom prst="rect">
            <a:avLst/>
          </a:prstGeom>
          <a:noFill/>
          <a:ln/>
        </p:spPr>
        <p:txBody>
          <a:bodyPr wrap="square" lIns="0" tIns="0" rIns="0" bIns="0" rtlCol="0" anchor="ctr"/>
          <a:lstStyle/>
          <a:p>
            <a:pPr algn="ctr" indent="0" marL="0">
              <a:buNone/>
            </a:pPr>
            <a:r>
              <a:rPr lang="en-US" sz="1100" b="1" dirty="0">
                <a:solidFill>
                  <a:srgbClr val="6B7A8C"/>
                </a:solidFill>
                <a:latin typeface="Calibri" pitchFamily="34" charset="0"/>
                <a:ea typeface="Calibri" pitchFamily="34" charset="-122"/>
                <a:cs typeface="Calibri" pitchFamily="34" charset="-120"/>
              </a:rPr>
              <a:t>Prédit faux</a:t>
            </a:r>
            <a:endParaRPr lang="en-US" sz="1100" dirty="0"/>
          </a:p>
        </p:txBody>
      </p:sp>
      <p:sp>
        <p:nvSpPr>
          <p:cNvPr id="7" name="Text 5"/>
          <p:cNvSpPr/>
          <p:nvPr/>
        </p:nvSpPr>
        <p:spPr>
          <a:xfrm>
            <a:off x="4069080" y="1572768"/>
            <a:ext cx="1920240" cy="274320"/>
          </a:xfrm>
          <a:prstGeom prst="rect">
            <a:avLst/>
          </a:prstGeom>
          <a:noFill/>
          <a:ln/>
        </p:spPr>
        <p:txBody>
          <a:bodyPr wrap="square" lIns="0" tIns="0" rIns="0" bIns="0" rtlCol="0" anchor="ctr"/>
          <a:lstStyle/>
          <a:p>
            <a:pPr algn="ctr" indent="0" marL="0">
              <a:buNone/>
            </a:pPr>
            <a:r>
              <a:rPr lang="en-US" sz="1100" b="1" dirty="0">
                <a:solidFill>
                  <a:srgbClr val="6B7A8C"/>
                </a:solidFill>
                <a:latin typeface="Calibri" pitchFamily="34" charset="0"/>
                <a:ea typeface="Calibri" pitchFamily="34" charset="-122"/>
                <a:cs typeface="Calibri" pitchFamily="34" charset="-120"/>
              </a:rPr>
              <a:t>Prédit vrai</a:t>
            </a:r>
            <a:endParaRPr lang="en-US" sz="1100" dirty="0"/>
          </a:p>
        </p:txBody>
      </p:sp>
      <p:sp>
        <p:nvSpPr>
          <p:cNvPr id="8" name="Text 6"/>
          <p:cNvSpPr/>
          <p:nvPr/>
        </p:nvSpPr>
        <p:spPr>
          <a:xfrm>
            <a:off x="685800" y="1920240"/>
            <a:ext cx="1280160" cy="1188720"/>
          </a:xfrm>
          <a:prstGeom prst="rect">
            <a:avLst/>
          </a:prstGeom>
          <a:noFill/>
          <a:ln/>
        </p:spPr>
        <p:txBody>
          <a:bodyPr wrap="square" lIns="0" tIns="0" rIns="0" bIns="0" rtlCol="0" anchor="ctr"/>
          <a:lstStyle/>
          <a:p>
            <a:pPr algn="r" indent="0" marL="0">
              <a:lnSpc>
                <a:spcPts val="1500"/>
              </a:lnSpc>
              <a:buNone/>
            </a:pPr>
            <a:r>
              <a:rPr lang="en-US" sz="1100" b="1" dirty="0">
                <a:solidFill>
                  <a:srgbClr val="6B7A8C"/>
                </a:solidFill>
                <a:latin typeface="Calibri" pitchFamily="34" charset="0"/>
                <a:ea typeface="Calibri" pitchFamily="34" charset="-122"/>
                <a:cs typeface="Calibri" pitchFamily="34" charset="-120"/>
              </a:rPr>
              <a:t>Réel</a:t>
            </a:r>
            <a:endParaRPr lang="en-US" sz="1100" dirty="0"/>
          </a:p>
          <a:p>
            <a:pPr algn="r" indent="0" marL="0">
              <a:lnSpc>
                <a:spcPts val="1500"/>
              </a:lnSpc>
              <a:buNone/>
            </a:pPr>
            <a:r>
              <a:rPr lang="en-US" sz="1100" b="1" dirty="0">
                <a:solidFill>
                  <a:srgbClr val="6B7A8C"/>
                </a:solidFill>
                <a:latin typeface="Calibri" pitchFamily="34" charset="0"/>
                <a:ea typeface="Calibri" pitchFamily="34" charset="-122"/>
                <a:cs typeface="Calibri" pitchFamily="34" charset="-120"/>
              </a:rPr>
              <a:t>faux</a:t>
            </a:r>
            <a:endParaRPr lang="en-US" sz="1100" dirty="0"/>
          </a:p>
        </p:txBody>
      </p:sp>
      <p:sp>
        <p:nvSpPr>
          <p:cNvPr id="9" name="Text 7"/>
          <p:cNvSpPr/>
          <p:nvPr/>
        </p:nvSpPr>
        <p:spPr>
          <a:xfrm>
            <a:off x="685800" y="3200400"/>
            <a:ext cx="1280160" cy="1188720"/>
          </a:xfrm>
          <a:prstGeom prst="rect">
            <a:avLst/>
          </a:prstGeom>
          <a:noFill/>
          <a:ln/>
        </p:spPr>
        <p:txBody>
          <a:bodyPr wrap="square" lIns="0" tIns="0" rIns="0" bIns="0" rtlCol="0" anchor="ctr"/>
          <a:lstStyle/>
          <a:p>
            <a:pPr algn="r" indent="0" marL="0">
              <a:lnSpc>
                <a:spcPts val="1500"/>
              </a:lnSpc>
              <a:buNone/>
            </a:pPr>
            <a:r>
              <a:rPr lang="en-US" sz="1100" b="1" dirty="0">
                <a:solidFill>
                  <a:srgbClr val="6B7A8C"/>
                </a:solidFill>
                <a:latin typeface="Calibri" pitchFamily="34" charset="0"/>
                <a:ea typeface="Calibri" pitchFamily="34" charset="-122"/>
                <a:cs typeface="Calibri" pitchFamily="34" charset="-120"/>
              </a:rPr>
              <a:t>Réel</a:t>
            </a:r>
            <a:endParaRPr lang="en-US" sz="1100" dirty="0"/>
          </a:p>
          <a:p>
            <a:pPr algn="r" indent="0" marL="0">
              <a:lnSpc>
                <a:spcPts val="1500"/>
              </a:lnSpc>
              <a:buNone/>
            </a:pPr>
            <a:r>
              <a:rPr lang="en-US" sz="1100" b="1" dirty="0">
                <a:solidFill>
                  <a:srgbClr val="6B7A8C"/>
                </a:solidFill>
                <a:latin typeface="Calibri" pitchFamily="34" charset="0"/>
                <a:ea typeface="Calibri" pitchFamily="34" charset="-122"/>
                <a:cs typeface="Calibri" pitchFamily="34" charset="-120"/>
              </a:rPr>
              <a:t>vrai</a:t>
            </a:r>
            <a:endParaRPr lang="en-US" sz="1100" dirty="0"/>
          </a:p>
        </p:txBody>
      </p:sp>
      <p:sp>
        <p:nvSpPr>
          <p:cNvPr id="10" name="Shape 8"/>
          <p:cNvSpPr/>
          <p:nvPr/>
        </p:nvSpPr>
        <p:spPr>
          <a:xfrm>
            <a:off x="2057400" y="1920240"/>
            <a:ext cx="1920240" cy="1188720"/>
          </a:xfrm>
          <a:prstGeom prst="roundRect">
            <a:avLst>
              <a:gd name="adj" fmla="val 4615"/>
            </a:avLst>
          </a:prstGeom>
          <a:solidFill>
            <a:srgbClr val="EDF3F6"/>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1" name="Text 9"/>
          <p:cNvSpPr/>
          <p:nvPr/>
        </p:nvSpPr>
        <p:spPr>
          <a:xfrm>
            <a:off x="2057400" y="2084832"/>
            <a:ext cx="1920240" cy="548640"/>
          </a:xfrm>
          <a:prstGeom prst="rect">
            <a:avLst/>
          </a:prstGeom>
          <a:noFill/>
          <a:ln/>
        </p:spPr>
        <p:txBody>
          <a:bodyPr wrap="square" lIns="0" tIns="0" rIns="0" bIns="0" rtlCol="0" anchor="ctr"/>
          <a:lstStyle/>
          <a:p>
            <a:pPr algn="ctr" indent="0" marL="0">
              <a:buNone/>
            </a:pPr>
            <a:r>
              <a:rPr lang="en-US" sz="3000" b="1" dirty="0">
                <a:solidFill>
                  <a:srgbClr val="2E6E8E"/>
                </a:solidFill>
                <a:latin typeface="Cambria" pitchFamily="34" charset="0"/>
                <a:ea typeface="Cambria" pitchFamily="34" charset="-122"/>
                <a:cs typeface="Cambria" pitchFamily="34" charset="-120"/>
              </a:rPr>
              <a:t>100</a:t>
            </a:r>
            <a:endParaRPr lang="en-US" sz="3000" dirty="0"/>
          </a:p>
        </p:txBody>
      </p:sp>
      <p:sp>
        <p:nvSpPr>
          <p:cNvPr id="12" name="Text 10"/>
          <p:cNvSpPr/>
          <p:nvPr/>
        </p:nvSpPr>
        <p:spPr>
          <a:xfrm>
            <a:off x="2057400" y="2651760"/>
            <a:ext cx="1920240" cy="36576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faux interceptés</a:t>
            </a:r>
            <a:endParaRPr lang="en-US" sz="1050" dirty="0"/>
          </a:p>
        </p:txBody>
      </p:sp>
      <p:sp>
        <p:nvSpPr>
          <p:cNvPr id="13" name="Shape 11"/>
          <p:cNvSpPr/>
          <p:nvPr/>
        </p:nvSpPr>
        <p:spPr>
          <a:xfrm>
            <a:off x="4069080" y="1920240"/>
            <a:ext cx="1920240" cy="1188720"/>
          </a:xfrm>
          <a:prstGeom prst="roundRect">
            <a:avLst>
              <a:gd name="adj" fmla="val 4615"/>
            </a:avLst>
          </a:prstGeom>
          <a:solidFill>
            <a:srgbClr val="E4EFE6"/>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4" name="Text 12"/>
          <p:cNvSpPr/>
          <p:nvPr/>
        </p:nvSpPr>
        <p:spPr>
          <a:xfrm>
            <a:off x="4069080" y="2084832"/>
            <a:ext cx="1920240" cy="548640"/>
          </a:xfrm>
          <a:prstGeom prst="rect">
            <a:avLst/>
          </a:prstGeom>
          <a:noFill/>
          <a:ln/>
        </p:spPr>
        <p:txBody>
          <a:bodyPr wrap="square" lIns="0" tIns="0" rIns="0" bIns="0" rtlCol="0" anchor="ctr"/>
          <a:lstStyle/>
          <a:p>
            <a:pPr algn="ctr" indent="0" marL="0">
              <a:buNone/>
            </a:pPr>
            <a:r>
              <a:rPr lang="en-US" sz="3000" b="1" dirty="0">
                <a:solidFill>
                  <a:srgbClr val="2E7D32"/>
                </a:solidFill>
                <a:latin typeface="Cambria" pitchFamily="34" charset="0"/>
                <a:ea typeface="Cambria" pitchFamily="34" charset="-122"/>
                <a:cs typeface="Cambria" pitchFamily="34" charset="-120"/>
              </a:rPr>
              <a:t>0</a:t>
            </a:r>
            <a:endParaRPr lang="en-US" sz="3000" dirty="0"/>
          </a:p>
        </p:txBody>
      </p:sp>
      <p:sp>
        <p:nvSpPr>
          <p:cNvPr id="15" name="Text 13"/>
          <p:cNvSpPr/>
          <p:nvPr/>
        </p:nvSpPr>
        <p:spPr>
          <a:xfrm>
            <a:off x="4069080" y="2651760"/>
            <a:ext cx="1920240" cy="36576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faux non détectés</a:t>
            </a:r>
            <a:endParaRPr lang="en-US" sz="1050" dirty="0"/>
          </a:p>
        </p:txBody>
      </p:sp>
      <p:sp>
        <p:nvSpPr>
          <p:cNvPr id="16" name="Shape 14"/>
          <p:cNvSpPr/>
          <p:nvPr/>
        </p:nvSpPr>
        <p:spPr>
          <a:xfrm>
            <a:off x="2057400" y="3200400"/>
            <a:ext cx="1920240" cy="1188720"/>
          </a:xfrm>
          <a:prstGeom prst="roundRect">
            <a:avLst>
              <a:gd name="adj" fmla="val 4615"/>
            </a:avLst>
          </a:prstGeom>
          <a:solidFill>
            <a:srgbClr val="FDF6E7"/>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7" name="Text 15"/>
          <p:cNvSpPr/>
          <p:nvPr/>
        </p:nvSpPr>
        <p:spPr>
          <a:xfrm>
            <a:off x="2057400" y="3364992"/>
            <a:ext cx="1920240" cy="548640"/>
          </a:xfrm>
          <a:prstGeom prst="rect">
            <a:avLst/>
          </a:prstGeom>
          <a:noFill/>
          <a:ln/>
        </p:spPr>
        <p:txBody>
          <a:bodyPr wrap="square" lIns="0" tIns="0" rIns="0" bIns="0" rtlCol="0" anchor="ctr"/>
          <a:lstStyle/>
          <a:p>
            <a:pPr algn="ctr" indent="0" marL="0">
              <a:buNone/>
            </a:pPr>
            <a:r>
              <a:rPr lang="en-US" sz="3000" b="1" dirty="0">
                <a:solidFill>
                  <a:srgbClr val="8A6A1E"/>
                </a:solidFill>
                <a:latin typeface="Cambria" pitchFamily="34" charset="0"/>
                <a:ea typeface="Cambria" pitchFamily="34" charset="-122"/>
                <a:cs typeface="Cambria" pitchFamily="34" charset="-120"/>
              </a:rPr>
              <a:t>4</a:t>
            </a:r>
            <a:endParaRPr lang="en-US" sz="3000" dirty="0"/>
          </a:p>
        </p:txBody>
      </p:sp>
      <p:sp>
        <p:nvSpPr>
          <p:cNvPr id="18" name="Text 16"/>
          <p:cNvSpPr/>
          <p:nvPr/>
        </p:nvSpPr>
        <p:spPr>
          <a:xfrm>
            <a:off x="2057400" y="3931920"/>
            <a:ext cx="1920240" cy="36576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vrais rejetés à tort</a:t>
            </a:r>
            <a:endParaRPr lang="en-US" sz="1050" dirty="0"/>
          </a:p>
        </p:txBody>
      </p:sp>
      <p:sp>
        <p:nvSpPr>
          <p:cNvPr id="19" name="Shape 17"/>
          <p:cNvSpPr/>
          <p:nvPr/>
        </p:nvSpPr>
        <p:spPr>
          <a:xfrm>
            <a:off x="4069080" y="3200400"/>
            <a:ext cx="1920240" cy="1188720"/>
          </a:xfrm>
          <a:prstGeom prst="roundRect">
            <a:avLst>
              <a:gd name="adj" fmla="val 4615"/>
            </a:avLst>
          </a:prstGeom>
          <a:solidFill>
            <a:srgbClr val="EDF3F6"/>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20" name="Text 18"/>
          <p:cNvSpPr/>
          <p:nvPr/>
        </p:nvSpPr>
        <p:spPr>
          <a:xfrm>
            <a:off x="4069080" y="3364992"/>
            <a:ext cx="1920240" cy="548640"/>
          </a:xfrm>
          <a:prstGeom prst="rect">
            <a:avLst/>
          </a:prstGeom>
          <a:noFill/>
          <a:ln/>
        </p:spPr>
        <p:txBody>
          <a:bodyPr wrap="square" lIns="0" tIns="0" rIns="0" bIns="0" rtlCol="0" anchor="ctr"/>
          <a:lstStyle/>
          <a:p>
            <a:pPr algn="ctr" indent="0" marL="0">
              <a:buNone/>
            </a:pPr>
            <a:r>
              <a:rPr lang="en-US" sz="3000" b="1" dirty="0">
                <a:solidFill>
                  <a:srgbClr val="2E6E8E"/>
                </a:solidFill>
                <a:latin typeface="Cambria" pitchFamily="34" charset="0"/>
                <a:ea typeface="Cambria" pitchFamily="34" charset="-122"/>
                <a:cs typeface="Cambria" pitchFamily="34" charset="-120"/>
              </a:rPr>
              <a:t>196</a:t>
            </a:r>
            <a:endParaRPr lang="en-US" sz="3000" dirty="0"/>
          </a:p>
        </p:txBody>
      </p:sp>
      <p:sp>
        <p:nvSpPr>
          <p:cNvPr id="21" name="Text 19"/>
          <p:cNvSpPr/>
          <p:nvPr/>
        </p:nvSpPr>
        <p:spPr>
          <a:xfrm>
            <a:off x="4069080" y="3931920"/>
            <a:ext cx="1920240" cy="36576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vrais confirmés</a:t>
            </a:r>
            <a:endParaRPr lang="en-US" sz="1050" dirty="0"/>
          </a:p>
        </p:txBody>
      </p:sp>
      <p:sp>
        <p:nvSpPr>
          <p:cNvPr id="22" name="Shape 20"/>
          <p:cNvSpPr/>
          <p:nvPr/>
        </p:nvSpPr>
        <p:spPr>
          <a:xfrm>
            <a:off x="6446520" y="1737360"/>
            <a:ext cx="5029200" cy="2743200"/>
          </a:xfrm>
          <a:prstGeom prst="roundRect">
            <a:avLst>
              <a:gd name="adj" fmla="val 2000"/>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23" name="Text 21"/>
          <p:cNvSpPr/>
          <p:nvPr/>
        </p:nvSpPr>
        <p:spPr>
          <a:xfrm>
            <a:off x="6720840" y="1938528"/>
            <a:ext cx="4480560" cy="310896"/>
          </a:xfrm>
          <a:prstGeom prst="rect">
            <a:avLst/>
          </a:prstGeom>
          <a:noFill/>
          <a:ln/>
        </p:spPr>
        <p:txBody>
          <a:bodyPr wrap="square" lIns="0" tIns="0" rIns="0" bIns="0" rtlCol="0" anchor="ctr"/>
          <a:lstStyle/>
          <a:p>
            <a:pPr indent="0" marL="0">
              <a:buNone/>
            </a:pPr>
            <a:r>
              <a:rPr lang="en-US" sz="1450" b="1" dirty="0">
                <a:solidFill>
                  <a:srgbClr val="C89B3C"/>
                </a:solidFill>
                <a:latin typeface="Calibri" pitchFamily="34" charset="0"/>
                <a:ea typeface="Calibri" pitchFamily="34" charset="-122"/>
                <a:cs typeface="Calibri" pitchFamily="34" charset="-120"/>
              </a:rPr>
              <a:t>Zéro erreur ne prouve pas la perfection</a:t>
            </a:r>
            <a:endParaRPr lang="en-US" sz="1450" dirty="0"/>
          </a:p>
        </p:txBody>
      </p:sp>
      <p:sp>
        <p:nvSpPr>
          <p:cNvPr id="24" name="Text 22"/>
          <p:cNvSpPr/>
          <p:nvPr/>
        </p:nvSpPr>
        <p:spPr>
          <a:xfrm>
            <a:off x="6720840" y="2340864"/>
            <a:ext cx="4480560" cy="2011680"/>
          </a:xfrm>
          <a:prstGeom prst="rect">
            <a:avLst/>
          </a:prstGeom>
          <a:noFill/>
          <a:ln/>
        </p:spPr>
        <p:txBody>
          <a:bodyPr wrap="square" lIns="0" tIns="0" rIns="0" bIns="0" rtlCol="0" anchor="ctr"/>
          <a:lstStyle/>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Observer zéro échec sur 100 faux billets permet seulement d'affirmer, avec 95 % de confiance, que le taux réel d'échec est inférieur à environ 3 %.</a:t>
            </a:r>
            <a:endParaRPr lang="en-US" sz="1250" dirty="0"/>
          </a:p>
          <a:p>
            <a:pPr indent="0" marL="0">
              <a:lnSpc>
                <a:spcPts val="1700"/>
              </a:lnSpc>
              <a:buNone/>
            </a:pPr>
            <a:endParaRPr lang="en-US" sz="1250" dirty="0"/>
          </a:p>
          <a:p>
            <a:pPr indent="0" marL="0">
              <a:lnSpc>
                <a:spcPts val="1700"/>
              </a:lnSpc>
              <a:buNone/>
            </a:pPr>
            <a:r>
              <a:rPr lang="en-US" sz="1250" dirty="0">
                <a:solidFill>
                  <a:srgbClr val="D3DCE5"/>
                </a:solidFill>
                <a:latin typeface="Calibri" pitchFamily="34" charset="0"/>
                <a:ea typeface="Calibri" pitchFamily="34" charset="-122"/>
                <a:cs typeface="Calibri" pitchFamily="34" charset="-120"/>
              </a:rPr>
              <a:t>L'estimation hors-échantillon, appuyée sur quatre fois plus d'observations, donne un rappel de 0,9875. C'est elle la meilleure prévision de la performance future.</a:t>
            </a:r>
            <a:endParaRPr lang="en-US" sz="1250" dirty="0"/>
          </a:p>
        </p:txBody>
      </p:sp>
      <p:sp>
        <p:nvSpPr>
          <p:cNvPr id="25" name="Shape 23"/>
          <p:cNvSpPr/>
          <p:nvPr/>
        </p:nvSpPr>
        <p:spPr>
          <a:xfrm>
            <a:off x="685800" y="4800600"/>
            <a:ext cx="10817352" cy="1143000"/>
          </a:xfrm>
          <a:prstGeom prst="roundRect">
            <a:avLst>
              <a:gd name="adj" fmla="val 4800"/>
            </a:avLst>
          </a:prstGeom>
          <a:solidFill>
            <a:srgbClr val="FFFFFF"/>
          </a:solidFill>
          <a:ln w="12700">
            <a:solidFill>
              <a:srgbClr val="C89B3C"/>
            </a:solidFill>
            <a:prstDash val="solid"/>
          </a:ln>
          <a:effectLst>
            <a:outerShdw sx="100000" sy="100000" kx="0" ky="0" algn="bl" rotWithShape="0" blurRad="101600" dist="25400" dir="5400000">
              <a:srgbClr val="B9B3A8">
                <a:alpha val="35000"/>
              </a:srgbClr>
            </a:outerShdw>
          </a:effectLst>
        </p:spPr>
      </p:sp>
      <p:sp>
        <p:nvSpPr>
          <p:cNvPr id="26" name="Text 24"/>
          <p:cNvSpPr/>
          <p:nvPr/>
        </p:nvSpPr>
        <p:spPr>
          <a:xfrm>
            <a:off x="1005840" y="4956048"/>
            <a:ext cx="10424160" cy="274320"/>
          </a:xfrm>
          <a:prstGeom prst="rect">
            <a:avLst/>
          </a:prstGeom>
          <a:noFill/>
          <a:ln/>
        </p:spPr>
        <p:txBody>
          <a:bodyPr wrap="square" lIns="0" tIns="0" rIns="0" bIns="0" rtlCol="0" anchor="ctr"/>
          <a:lstStyle/>
          <a:p>
            <a:pPr indent="0" marL="0">
              <a:buNone/>
            </a:pPr>
            <a:r>
              <a:rPr lang="en-US" sz="1250" b="1" dirty="0">
                <a:solidFill>
                  <a:srgbClr val="C89B3C"/>
                </a:solidFill>
                <a:latin typeface="Calibri" pitchFamily="34" charset="0"/>
                <a:ea typeface="Calibri" pitchFamily="34" charset="-122"/>
                <a:cs typeface="Calibri" pitchFamily="34" charset="-120"/>
              </a:rPr>
              <a:t>Formulation retenue pour l'ONCFM</a:t>
            </a:r>
            <a:endParaRPr lang="en-US" sz="1250" dirty="0"/>
          </a:p>
        </p:txBody>
      </p:sp>
      <p:sp>
        <p:nvSpPr>
          <p:cNvPr id="27" name="Text 25"/>
          <p:cNvSpPr/>
          <p:nvPr/>
        </p:nvSpPr>
        <p:spPr>
          <a:xfrm>
            <a:off x="1005840" y="5248656"/>
            <a:ext cx="10424160" cy="594360"/>
          </a:xfrm>
          <a:prstGeom prst="rect">
            <a:avLst/>
          </a:prstGeom>
          <a:noFill/>
          <a:ln/>
        </p:spPr>
        <p:txBody>
          <a:bodyPr wrap="square" lIns="0" tIns="0" rIns="0" bIns="0" rtlCol="0" anchor="ctr"/>
          <a:lstStyle/>
          <a:p>
            <a:pPr indent="0" marL="0">
              <a:lnSpc>
                <a:spcPts val="1800"/>
              </a:lnSpc>
              <a:buNone/>
            </a:pPr>
            <a:r>
              <a:rPr lang="en-US" sz="1300" dirty="0">
                <a:solidFill>
                  <a:srgbClr val="2B3A47"/>
                </a:solidFill>
                <a:latin typeface="Calibri" pitchFamily="34" charset="0"/>
                <a:ea typeface="Calibri" pitchFamily="34" charset="-122"/>
                <a:cs typeface="Calibri" pitchFamily="34" charset="-120"/>
              </a:rPr>
              <a:t>Le modèle intercepte environ 99 % des contrefaçons, au prix d'environ 1,6 % des vrais billets renvoyés en vérification, soit un peu plus de 1 % de l'ensemble des billets analysés. Le résultat parfait obtenu sur l'échantillon de test est cohérent avec cette estimation — il ne la contredit pas, il ne la garantit pas non plus.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14</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Ce que le modèle a appris</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Coefficients sur variables standardisées — l'avantage d'un modèle transparent</a:t>
            </a:r>
            <a:endParaRPr lang="en-US" sz="1300" dirty="0"/>
          </a:p>
        </p:txBody>
      </p:sp>
      <p:graphicFrame>
        <p:nvGraphicFramePr>
          <p:cNvPr id="6" name="Chart 0" descr=""/>
          <p:cNvGraphicFramePr/>
          <p:nvPr/>
        </p:nvGraphicFramePr>
        <p:xfrm>
          <a:off x="685800" y="164592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35240" y="1645920"/>
            <a:ext cx="3840480" cy="3291840"/>
          </a:xfrm>
          <a:prstGeom prst="roundRect">
            <a:avLst>
              <a:gd name="adj" fmla="val 1667"/>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8" name="Text 5"/>
          <p:cNvSpPr/>
          <p:nvPr/>
        </p:nvSpPr>
        <p:spPr>
          <a:xfrm>
            <a:off x="7863840" y="1828800"/>
            <a:ext cx="3383280" cy="292608"/>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Lecture métier</a:t>
            </a:r>
            <a:endParaRPr lang="en-US" sz="1400" dirty="0"/>
          </a:p>
        </p:txBody>
      </p:sp>
      <p:sp>
        <p:nvSpPr>
          <p:cNvPr id="9" name="Text 6"/>
          <p:cNvSpPr/>
          <p:nvPr/>
        </p:nvSpPr>
        <p:spPr>
          <a:xfrm>
            <a:off x="7863840" y="2212848"/>
            <a:ext cx="3383280" cy="260604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Un billet plus long d'un écart-type (0,87 mm) voit sa cote d'être authentique multipliée par près de 40.</a:t>
            </a:r>
            <a:endParaRPr lang="en-US" sz="1250" dirty="0"/>
          </a:p>
          <a:p>
            <a:pPr indent="0" marL="0">
              <a:lnSpc>
                <a:spcPts val="1700"/>
              </a:lnSpc>
              <a:buNone/>
            </a:pPr>
            <a:endParaRPr lang="en-US" sz="1250" dirty="0"/>
          </a:p>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À l'inverse, une marge inférieure plus large d'un écart-type divise cette cote par 13,7.</a:t>
            </a:r>
            <a:endParaRPr lang="en-US" sz="1250" dirty="0"/>
          </a:p>
          <a:p>
            <a:pPr indent="0" marL="0">
              <a:lnSpc>
                <a:spcPts val="1700"/>
              </a:lnSpc>
              <a:buNone/>
            </a:pPr>
            <a:endParaRPr lang="en-US" sz="1250" dirty="0"/>
          </a:p>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Une phrase résume le modèle : les contrefaçons sont plus courtes et impriment leur image avec des marges plus larges.</a:t>
            </a:r>
            <a:endParaRPr lang="en-US" sz="1250" dirty="0"/>
          </a:p>
        </p:txBody>
      </p:sp>
      <p:sp>
        <p:nvSpPr>
          <p:cNvPr id="10" name="Shape 7"/>
          <p:cNvSpPr/>
          <p:nvPr/>
        </p:nvSpPr>
        <p:spPr>
          <a:xfrm>
            <a:off x="685800" y="5166360"/>
            <a:ext cx="10817352" cy="960120"/>
          </a:xfrm>
          <a:prstGeom prst="roundRect">
            <a:avLst>
              <a:gd name="adj" fmla="val 5714"/>
            </a:avLst>
          </a:prstGeom>
          <a:solidFill>
            <a:srgbClr val="EDF3F6"/>
          </a:solidFill>
          <a:ln w="12700">
            <a:solidFill>
              <a:srgbClr val="C2D6E0"/>
            </a:solidFill>
            <a:prstDash val="solid"/>
          </a:ln>
          <a:effectLst>
            <a:outerShdw sx="100000" sy="100000" kx="0" ky="0" algn="bl" rotWithShape="0" blurRad="101600" dist="25400" dir="5400000">
              <a:srgbClr val="B9B3A8">
                <a:alpha val="35000"/>
              </a:srgbClr>
            </a:outerShdw>
          </a:effectLst>
        </p:spPr>
      </p:sp>
      <p:sp>
        <p:nvSpPr>
          <p:cNvPr id="11" name="Text 8"/>
          <p:cNvSpPr/>
          <p:nvPr/>
        </p:nvSpPr>
        <p:spPr>
          <a:xfrm>
            <a:off x="1005840" y="5349240"/>
            <a:ext cx="10424160" cy="621792"/>
          </a:xfrm>
          <a:prstGeom prst="rect">
            <a:avLst/>
          </a:prstGeom>
          <a:noFill/>
          <a:ln/>
        </p:spPr>
        <p:txBody>
          <a:bodyPr wrap="square" lIns="0" tIns="0" rIns="0" bIns="0" rtlCol="0" anchor="ctr"/>
          <a:lstStyle/>
          <a:p>
            <a:pPr indent="0" marL="0">
              <a:lnSpc>
                <a:spcPts val="1700"/>
              </a:lnSpc>
              <a:buNone/>
            </a:pPr>
            <a:r>
              <a:rPr lang="en-US" sz="1250" dirty="0">
                <a:solidFill>
                  <a:srgbClr val="3D4E58"/>
                </a:solidFill>
                <a:latin typeface="Calibri" pitchFamily="34" charset="0"/>
                <a:ea typeface="Calibri" pitchFamily="34" charset="-122"/>
                <a:cs typeface="Calibri" pitchFamily="34" charset="-120"/>
              </a:rPr>
              <a:t>Une vérification indépendante confirme ce classement : l'importance par permutation — mélanger une variable et mesurer la dégradation — place elle aussi length et margin_low loin devant les autres. Deux méthodes qui ne reposent sur aucune hypothèse commune convergent.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15</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Architecture du pipeline livré</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Un objet unique, de la lecture du fichier à la décision</a:t>
            </a:r>
            <a:endParaRPr lang="en-US" sz="1300" dirty="0"/>
          </a:p>
        </p:txBody>
      </p:sp>
      <p:sp>
        <p:nvSpPr>
          <p:cNvPr id="6" name="Shape 4"/>
          <p:cNvSpPr/>
          <p:nvPr/>
        </p:nvSpPr>
        <p:spPr>
          <a:xfrm>
            <a:off x="685800" y="1828800"/>
            <a:ext cx="1691640" cy="2468880"/>
          </a:xfrm>
          <a:prstGeom prst="roundRect">
            <a:avLst>
              <a:gd name="adj" fmla="val 3243"/>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7" name="Text 5"/>
          <p:cNvSpPr/>
          <p:nvPr/>
        </p:nvSpPr>
        <p:spPr>
          <a:xfrm>
            <a:off x="795528" y="1956816"/>
            <a:ext cx="365760" cy="274320"/>
          </a:xfrm>
          <a:prstGeom prst="rect">
            <a:avLst/>
          </a:prstGeom>
          <a:noFill/>
          <a:ln/>
        </p:spPr>
        <p:txBody>
          <a:bodyPr wrap="square" lIns="0" tIns="0" rIns="0" bIns="0" rtlCol="0" anchor="ctr"/>
          <a:lstStyle/>
          <a:p>
            <a:pPr indent="0" marL="0">
              <a:buNone/>
            </a:pPr>
            <a:r>
              <a:rPr lang="en-US" sz="1100" b="1" dirty="0">
                <a:solidFill>
                  <a:srgbClr val="C89B3C"/>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22960" y="2286000"/>
            <a:ext cx="1417320" cy="777240"/>
          </a:xfrm>
          <a:prstGeom prst="rect">
            <a:avLst/>
          </a:prstGeom>
          <a:noFill/>
          <a:ln/>
        </p:spPr>
        <p:txBody>
          <a:bodyPr wrap="square" lIns="0" tIns="0" rIns="0" bIns="0" rtlCol="0" anchor="ctr"/>
          <a:lstStyle/>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Validation</a:t>
            </a:r>
            <a:endParaRPr lang="en-US" sz="1250" dirty="0"/>
          </a:p>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des colonnes</a:t>
            </a:r>
            <a:endParaRPr lang="en-US" sz="1250" dirty="0"/>
          </a:p>
        </p:txBody>
      </p:sp>
      <p:sp>
        <p:nvSpPr>
          <p:cNvPr id="9" name="Text 7"/>
          <p:cNvSpPr/>
          <p:nvPr/>
        </p:nvSpPr>
        <p:spPr>
          <a:xfrm>
            <a:off x="822960" y="3108960"/>
            <a:ext cx="1417320" cy="1097280"/>
          </a:xfrm>
          <a:prstGeom prst="rect">
            <a:avLst/>
          </a:prstGeom>
          <a:noFill/>
          <a:ln/>
        </p:spPr>
        <p:txBody>
          <a:bodyPr wrap="square" lIns="0" tIns="0" rIns="0" bIns="0" rtlCol="0" anchor="ctr"/>
          <a:lstStyle/>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Vérifie les 6 colonnes,</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ignore les colonnes</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en trop, réordonne</a:t>
            </a:r>
            <a:endParaRPr lang="en-US" sz="1050" dirty="0"/>
          </a:p>
        </p:txBody>
      </p:sp>
      <p:sp>
        <p:nvSpPr>
          <p:cNvPr id="10" name="Text 8"/>
          <p:cNvSpPr/>
          <p:nvPr/>
        </p:nvSpPr>
        <p:spPr>
          <a:xfrm>
            <a:off x="2377440" y="2834640"/>
            <a:ext cx="155448" cy="365760"/>
          </a:xfrm>
          <a:prstGeom prst="rect">
            <a:avLst/>
          </a:prstGeom>
          <a:noFill/>
          <a:ln/>
        </p:spPr>
        <p:txBody>
          <a:bodyPr wrap="square" lIns="0" tIns="0" rIns="0" bIns="0" rtlCol="0" anchor="ctr"/>
          <a:lstStyle/>
          <a:p>
            <a:pPr algn="ctr" indent="0" marL="0">
              <a:buNone/>
            </a:pPr>
            <a:r>
              <a:rPr lang="en-US" sz="1800" b="1" dirty="0">
                <a:solidFill>
                  <a:srgbClr val="C89B3C"/>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532888" y="1828800"/>
            <a:ext cx="1691640" cy="2468880"/>
          </a:xfrm>
          <a:prstGeom prst="roundRect">
            <a:avLst>
              <a:gd name="adj" fmla="val 3243"/>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2" name="Text 10"/>
          <p:cNvSpPr/>
          <p:nvPr/>
        </p:nvSpPr>
        <p:spPr>
          <a:xfrm>
            <a:off x="2642616" y="1956816"/>
            <a:ext cx="365760" cy="274320"/>
          </a:xfrm>
          <a:prstGeom prst="rect">
            <a:avLst/>
          </a:prstGeom>
          <a:noFill/>
          <a:ln/>
        </p:spPr>
        <p:txBody>
          <a:bodyPr wrap="square" lIns="0" tIns="0" rIns="0" bIns="0" rtlCol="0" anchor="ctr"/>
          <a:lstStyle/>
          <a:p>
            <a:pPr indent="0" marL="0">
              <a:buNone/>
            </a:pPr>
            <a:r>
              <a:rPr lang="en-US" sz="1100" b="1" dirty="0">
                <a:solidFill>
                  <a:srgbClr val="C89B3C"/>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2670048" y="2286000"/>
            <a:ext cx="1417320" cy="777240"/>
          </a:xfrm>
          <a:prstGeom prst="rect">
            <a:avLst/>
          </a:prstGeom>
          <a:noFill/>
          <a:ln/>
        </p:spPr>
        <p:txBody>
          <a:bodyPr wrap="square" lIns="0" tIns="0" rIns="0" bIns="0" rtlCol="0" anchor="ctr"/>
          <a:lstStyle/>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Contrôle</a:t>
            </a:r>
            <a:endParaRPr lang="en-US" sz="1250" dirty="0"/>
          </a:p>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d'intégrité</a:t>
            </a:r>
            <a:endParaRPr lang="en-US" sz="1250" dirty="0"/>
          </a:p>
        </p:txBody>
      </p:sp>
      <p:sp>
        <p:nvSpPr>
          <p:cNvPr id="14" name="Text 12"/>
          <p:cNvSpPr/>
          <p:nvPr/>
        </p:nvSpPr>
        <p:spPr>
          <a:xfrm>
            <a:off x="2670048" y="3108960"/>
            <a:ext cx="1417320" cy="1097280"/>
          </a:xfrm>
          <a:prstGeom prst="rect">
            <a:avLst/>
          </a:prstGeom>
          <a:noFill/>
          <a:ln/>
        </p:spPr>
        <p:txBody>
          <a:bodyPr wrap="square" lIns="0" tIns="0" rIns="0" bIns="0" rtlCol="0" anchor="ctr"/>
          <a:lstStyle/>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Refuse les billets</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privés de la majorité</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de leurs mesures</a:t>
            </a:r>
            <a:endParaRPr lang="en-US" sz="1050" dirty="0"/>
          </a:p>
        </p:txBody>
      </p:sp>
      <p:sp>
        <p:nvSpPr>
          <p:cNvPr id="15" name="Text 13"/>
          <p:cNvSpPr/>
          <p:nvPr/>
        </p:nvSpPr>
        <p:spPr>
          <a:xfrm>
            <a:off x="4224528" y="2834640"/>
            <a:ext cx="155448" cy="365760"/>
          </a:xfrm>
          <a:prstGeom prst="rect">
            <a:avLst/>
          </a:prstGeom>
          <a:noFill/>
          <a:ln/>
        </p:spPr>
        <p:txBody>
          <a:bodyPr wrap="square" lIns="0" tIns="0" rIns="0" bIns="0" rtlCol="0" anchor="ctr"/>
          <a:lstStyle/>
          <a:p>
            <a:pPr algn="ctr" indent="0" marL="0">
              <a:buNone/>
            </a:pPr>
            <a:r>
              <a:rPr lang="en-US" sz="1800" b="1" dirty="0">
                <a:solidFill>
                  <a:srgbClr val="C89B3C"/>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4379976" y="1828800"/>
            <a:ext cx="1691640" cy="2468880"/>
          </a:xfrm>
          <a:prstGeom prst="roundRect">
            <a:avLst>
              <a:gd name="adj" fmla="val 3243"/>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7" name="Text 15"/>
          <p:cNvSpPr/>
          <p:nvPr/>
        </p:nvSpPr>
        <p:spPr>
          <a:xfrm>
            <a:off x="4489704" y="1956816"/>
            <a:ext cx="365760" cy="274320"/>
          </a:xfrm>
          <a:prstGeom prst="rect">
            <a:avLst/>
          </a:prstGeom>
          <a:noFill/>
          <a:ln/>
        </p:spPr>
        <p:txBody>
          <a:bodyPr wrap="square" lIns="0" tIns="0" rIns="0" bIns="0" rtlCol="0" anchor="ctr"/>
          <a:lstStyle/>
          <a:p>
            <a:pPr indent="0" marL="0">
              <a:buNone/>
            </a:pPr>
            <a:r>
              <a:rPr lang="en-US" sz="1100" b="1" dirty="0">
                <a:solidFill>
                  <a:srgbClr val="C89B3C"/>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4517136" y="2286000"/>
            <a:ext cx="1417320" cy="777240"/>
          </a:xfrm>
          <a:prstGeom prst="rect">
            <a:avLst/>
          </a:prstGeom>
          <a:noFill/>
          <a:ln/>
        </p:spPr>
        <p:txBody>
          <a:bodyPr wrap="square" lIns="0" tIns="0" rIns="0" bIns="0" rtlCol="0" anchor="ctr"/>
          <a:lstStyle/>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Imputation par</a:t>
            </a:r>
            <a:endParaRPr lang="en-US" sz="1250" dirty="0"/>
          </a:p>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régression</a:t>
            </a:r>
            <a:endParaRPr lang="en-US" sz="1250" dirty="0"/>
          </a:p>
        </p:txBody>
      </p:sp>
      <p:sp>
        <p:nvSpPr>
          <p:cNvPr id="19" name="Text 17"/>
          <p:cNvSpPr/>
          <p:nvPr/>
        </p:nvSpPr>
        <p:spPr>
          <a:xfrm>
            <a:off x="4517136" y="3108960"/>
            <a:ext cx="1417320" cy="1097280"/>
          </a:xfrm>
          <a:prstGeom prst="rect">
            <a:avLst/>
          </a:prstGeom>
          <a:noFill/>
          <a:ln/>
        </p:spPr>
        <p:txBody>
          <a:bodyPr wrap="square" lIns="0" tIns="0" rIns="0" bIns="0" rtlCol="0" anchor="ctr"/>
          <a:lstStyle/>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Reconstruit toute</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mesure manquante</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à partir des autres</a:t>
            </a:r>
            <a:endParaRPr lang="en-US" sz="1050" dirty="0"/>
          </a:p>
        </p:txBody>
      </p:sp>
      <p:sp>
        <p:nvSpPr>
          <p:cNvPr id="20" name="Text 18"/>
          <p:cNvSpPr/>
          <p:nvPr/>
        </p:nvSpPr>
        <p:spPr>
          <a:xfrm>
            <a:off x="6071616" y="2834640"/>
            <a:ext cx="155448" cy="365760"/>
          </a:xfrm>
          <a:prstGeom prst="rect">
            <a:avLst/>
          </a:prstGeom>
          <a:noFill/>
          <a:ln/>
        </p:spPr>
        <p:txBody>
          <a:bodyPr wrap="square" lIns="0" tIns="0" rIns="0" bIns="0" rtlCol="0" anchor="ctr"/>
          <a:lstStyle/>
          <a:p>
            <a:pPr algn="ctr" indent="0" marL="0">
              <a:buNone/>
            </a:pPr>
            <a:r>
              <a:rPr lang="en-US" sz="1800" b="1" dirty="0">
                <a:solidFill>
                  <a:srgbClr val="C89B3C"/>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6227064" y="1828800"/>
            <a:ext cx="1691640" cy="2468880"/>
          </a:xfrm>
          <a:prstGeom prst="roundRect">
            <a:avLst>
              <a:gd name="adj" fmla="val 3243"/>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22" name="Text 20"/>
          <p:cNvSpPr/>
          <p:nvPr/>
        </p:nvSpPr>
        <p:spPr>
          <a:xfrm>
            <a:off x="6336792" y="1956816"/>
            <a:ext cx="365760" cy="274320"/>
          </a:xfrm>
          <a:prstGeom prst="rect">
            <a:avLst/>
          </a:prstGeom>
          <a:noFill/>
          <a:ln/>
        </p:spPr>
        <p:txBody>
          <a:bodyPr wrap="square" lIns="0" tIns="0" rIns="0" bIns="0" rtlCol="0" anchor="ctr"/>
          <a:lstStyle/>
          <a:p>
            <a:pPr indent="0" marL="0">
              <a:buNone/>
            </a:pPr>
            <a:r>
              <a:rPr lang="en-US" sz="1100" b="1" dirty="0">
                <a:solidFill>
                  <a:srgbClr val="C89B3C"/>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6364224" y="2286000"/>
            <a:ext cx="1417320" cy="777240"/>
          </a:xfrm>
          <a:prstGeom prst="rect">
            <a:avLst/>
          </a:prstGeom>
          <a:noFill/>
          <a:ln/>
        </p:spPr>
        <p:txBody>
          <a:bodyPr wrap="square" lIns="0" tIns="0" rIns="0" bIns="0" rtlCol="0" anchor="ctr"/>
          <a:lstStyle/>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Standardisation</a:t>
            </a:r>
            <a:endParaRPr lang="en-US" sz="1250" dirty="0"/>
          </a:p>
        </p:txBody>
      </p:sp>
      <p:sp>
        <p:nvSpPr>
          <p:cNvPr id="24" name="Text 22"/>
          <p:cNvSpPr/>
          <p:nvPr/>
        </p:nvSpPr>
        <p:spPr>
          <a:xfrm>
            <a:off x="6364224" y="3108960"/>
            <a:ext cx="1417320" cy="1097280"/>
          </a:xfrm>
          <a:prstGeom prst="rect">
            <a:avLst/>
          </a:prstGeom>
          <a:noFill/>
          <a:ln/>
        </p:spPr>
        <p:txBody>
          <a:bodyPr wrap="square" lIns="0" tIns="0" rIns="0" bIns="0" rtlCol="0" anchor="ctr"/>
          <a:lstStyle/>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Met les six variables</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à la même échelle</a:t>
            </a:r>
            <a:endParaRPr lang="en-US" sz="1050" dirty="0"/>
          </a:p>
        </p:txBody>
      </p:sp>
      <p:sp>
        <p:nvSpPr>
          <p:cNvPr id="25" name="Text 23"/>
          <p:cNvSpPr/>
          <p:nvPr/>
        </p:nvSpPr>
        <p:spPr>
          <a:xfrm>
            <a:off x="7918704" y="2834640"/>
            <a:ext cx="155448" cy="365760"/>
          </a:xfrm>
          <a:prstGeom prst="rect">
            <a:avLst/>
          </a:prstGeom>
          <a:noFill/>
          <a:ln/>
        </p:spPr>
        <p:txBody>
          <a:bodyPr wrap="square" lIns="0" tIns="0" rIns="0" bIns="0" rtlCol="0" anchor="ctr"/>
          <a:lstStyle/>
          <a:p>
            <a:pPr algn="ctr" indent="0" marL="0">
              <a:buNone/>
            </a:pPr>
            <a:r>
              <a:rPr lang="en-US" sz="1800" b="1" dirty="0">
                <a:solidFill>
                  <a:srgbClr val="C89B3C"/>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8074152" y="1828800"/>
            <a:ext cx="1691640" cy="2468880"/>
          </a:xfrm>
          <a:prstGeom prst="roundRect">
            <a:avLst>
              <a:gd name="adj" fmla="val 3243"/>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27" name="Text 25"/>
          <p:cNvSpPr/>
          <p:nvPr/>
        </p:nvSpPr>
        <p:spPr>
          <a:xfrm>
            <a:off x="8183880" y="1956816"/>
            <a:ext cx="365760" cy="274320"/>
          </a:xfrm>
          <a:prstGeom prst="rect">
            <a:avLst/>
          </a:prstGeom>
          <a:noFill/>
          <a:ln/>
        </p:spPr>
        <p:txBody>
          <a:bodyPr wrap="square" lIns="0" tIns="0" rIns="0" bIns="0" rtlCol="0" anchor="ctr"/>
          <a:lstStyle/>
          <a:p>
            <a:pPr indent="0" marL="0">
              <a:buNone/>
            </a:pPr>
            <a:r>
              <a:rPr lang="en-US" sz="1100" b="1" dirty="0">
                <a:solidFill>
                  <a:srgbClr val="C89B3C"/>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8211312" y="2286000"/>
            <a:ext cx="1417320" cy="777240"/>
          </a:xfrm>
          <a:prstGeom prst="rect">
            <a:avLst/>
          </a:prstGeom>
          <a:noFill/>
          <a:ln/>
        </p:spPr>
        <p:txBody>
          <a:bodyPr wrap="square" lIns="0" tIns="0" rIns="0" bIns="0" rtlCol="0" anchor="ctr"/>
          <a:lstStyle/>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Régression</a:t>
            </a:r>
            <a:endParaRPr lang="en-US" sz="1250" dirty="0"/>
          </a:p>
          <a:p>
            <a:pPr indent="0" marL="0">
              <a:lnSpc>
                <a:spcPts val="1500"/>
              </a:lnSpc>
              <a:buNone/>
            </a:pPr>
            <a:r>
              <a:rPr lang="en-US" sz="1250" b="1" dirty="0">
                <a:solidFill>
                  <a:srgbClr val="12263A"/>
                </a:solidFill>
                <a:latin typeface="Calibri" pitchFamily="34" charset="0"/>
                <a:ea typeface="Calibri" pitchFamily="34" charset="-122"/>
                <a:cs typeface="Calibri" pitchFamily="34" charset="-120"/>
              </a:rPr>
              <a:t>logistique</a:t>
            </a:r>
            <a:endParaRPr lang="en-US" sz="1250" dirty="0"/>
          </a:p>
        </p:txBody>
      </p:sp>
      <p:sp>
        <p:nvSpPr>
          <p:cNvPr id="29" name="Text 27"/>
          <p:cNvSpPr/>
          <p:nvPr/>
        </p:nvSpPr>
        <p:spPr>
          <a:xfrm>
            <a:off x="8211312" y="3108960"/>
            <a:ext cx="1417320" cy="1097280"/>
          </a:xfrm>
          <a:prstGeom prst="rect">
            <a:avLst/>
          </a:prstGeom>
          <a:noFill/>
          <a:ln/>
        </p:spPr>
        <p:txBody>
          <a:bodyPr wrap="square" lIns="0" tIns="0" rIns="0" bIns="0" rtlCol="0" anchor="ctr"/>
          <a:lstStyle/>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Estime</a:t>
            </a:r>
            <a:endParaRPr lang="en-US" sz="1050" dirty="0"/>
          </a:p>
          <a:p>
            <a:pPr indent="0" marL="0">
              <a:lnSpc>
                <a:spcPts val="1300"/>
              </a:lnSpc>
              <a:buNone/>
            </a:pPr>
            <a:r>
              <a:rPr lang="en-US" sz="1050" dirty="0">
                <a:solidFill>
                  <a:srgbClr val="5A6A76"/>
                </a:solidFill>
                <a:latin typeface="Calibri" pitchFamily="34" charset="0"/>
                <a:ea typeface="Calibri" pitchFamily="34" charset="-122"/>
                <a:cs typeface="Calibri" pitchFamily="34" charset="-120"/>
              </a:rPr>
              <a:t>P(billet authentique)</a:t>
            </a:r>
            <a:endParaRPr lang="en-US" sz="1050" dirty="0"/>
          </a:p>
        </p:txBody>
      </p:sp>
      <p:sp>
        <p:nvSpPr>
          <p:cNvPr id="30" name="Text 28"/>
          <p:cNvSpPr/>
          <p:nvPr/>
        </p:nvSpPr>
        <p:spPr>
          <a:xfrm>
            <a:off x="9765792" y="2834640"/>
            <a:ext cx="155448" cy="365760"/>
          </a:xfrm>
          <a:prstGeom prst="rect">
            <a:avLst/>
          </a:prstGeom>
          <a:noFill/>
          <a:ln/>
        </p:spPr>
        <p:txBody>
          <a:bodyPr wrap="square" lIns="0" tIns="0" rIns="0" bIns="0" rtlCol="0" anchor="ctr"/>
          <a:lstStyle/>
          <a:p>
            <a:pPr algn="ctr" indent="0" marL="0">
              <a:buNone/>
            </a:pPr>
            <a:r>
              <a:rPr lang="en-US" sz="1800" b="1" dirty="0">
                <a:solidFill>
                  <a:srgbClr val="C89B3C"/>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9921240" y="1828800"/>
            <a:ext cx="1691640" cy="2468880"/>
          </a:xfrm>
          <a:prstGeom prst="roundRect">
            <a:avLst>
              <a:gd name="adj" fmla="val 3243"/>
            </a:avLst>
          </a:prstGeom>
          <a:solidFill>
            <a:srgbClr val="12263A"/>
          </a:solidFill>
          <a:ln w="12700">
            <a:solidFill>
              <a:srgbClr val="12263A"/>
            </a:solidFill>
            <a:prstDash val="solid"/>
          </a:ln>
          <a:effectLst>
            <a:outerShdw sx="100000" sy="100000" kx="0" ky="0" algn="bl" rotWithShape="0" blurRad="101600" dist="25400" dir="5400000">
              <a:srgbClr val="B9B3A8">
                <a:alpha val="35000"/>
              </a:srgbClr>
            </a:outerShdw>
          </a:effectLst>
        </p:spPr>
      </p:sp>
      <p:sp>
        <p:nvSpPr>
          <p:cNvPr id="32" name="Text 30"/>
          <p:cNvSpPr/>
          <p:nvPr/>
        </p:nvSpPr>
        <p:spPr>
          <a:xfrm>
            <a:off x="10030968" y="1956816"/>
            <a:ext cx="365760" cy="274320"/>
          </a:xfrm>
          <a:prstGeom prst="rect">
            <a:avLst/>
          </a:prstGeom>
          <a:noFill/>
          <a:ln/>
        </p:spPr>
        <p:txBody>
          <a:bodyPr wrap="square" lIns="0" tIns="0" rIns="0" bIns="0" rtlCol="0" anchor="ctr"/>
          <a:lstStyle/>
          <a:p>
            <a:pPr indent="0" marL="0">
              <a:buNone/>
            </a:pPr>
            <a:r>
              <a:rPr lang="en-US" sz="1100" b="1" dirty="0">
                <a:solidFill>
                  <a:srgbClr val="C89B3C"/>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10058400" y="2286000"/>
            <a:ext cx="1417320" cy="77724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Seuil 0,80</a:t>
            </a:r>
            <a:endParaRPr lang="en-US" sz="1250" dirty="0"/>
          </a:p>
        </p:txBody>
      </p:sp>
      <p:sp>
        <p:nvSpPr>
          <p:cNvPr id="34" name="Text 32"/>
          <p:cNvSpPr/>
          <p:nvPr/>
        </p:nvSpPr>
        <p:spPr>
          <a:xfrm>
            <a:off x="10058400" y="3108960"/>
            <a:ext cx="1417320" cy="1097280"/>
          </a:xfrm>
          <a:prstGeom prst="rect">
            <a:avLst/>
          </a:prstGeom>
          <a:noFill/>
          <a:ln/>
        </p:spPr>
        <p:txBody>
          <a:bodyPr wrap="square" lIns="0" tIns="0" rIns="0" bIns="0" rtlCol="0" anchor="ctr"/>
          <a:lstStyle/>
          <a:p>
            <a:pPr indent="0" marL="0">
              <a:lnSpc>
                <a:spcPts val="1300"/>
              </a:lnSpc>
              <a:buNone/>
            </a:pPr>
            <a:r>
              <a:rPr lang="en-US" sz="1050" dirty="0">
                <a:solidFill>
                  <a:srgbClr val="D3DCE5"/>
                </a:solidFill>
                <a:latin typeface="Calibri" pitchFamily="34" charset="0"/>
                <a:ea typeface="Calibri" pitchFamily="34" charset="-122"/>
                <a:cs typeface="Calibri" pitchFamily="34" charset="-120"/>
              </a:rPr>
              <a:t>Tranche selon</a:t>
            </a:r>
            <a:endParaRPr lang="en-US" sz="1050" dirty="0"/>
          </a:p>
          <a:p>
            <a:pPr indent="0" marL="0">
              <a:lnSpc>
                <a:spcPts val="1300"/>
              </a:lnSpc>
              <a:buNone/>
            </a:pPr>
            <a:r>
              <a:rPr lang="en-US" sz="1050" dirty="0">
                <a:solidFill>
                  <a:srgbClr val="D3DCE5"/>
                </a:solidFill>
                <a:latin typeface="Calibri" pitchFamily="34" charset="0"/>
                <a:ea typeface="Calibri" pitchFamily="34" charset="-122"/>
                <a:cs typeface="Calibri" pitchFamily="34" charset="-120"/>
              </a:rPr>
              <a:t>l'arbitrage métier</a:t>
            </a:r>
            <a:endParaRPr lang="en-US" sz="1050" dirty="0"/>
          </a:p>
          <a:p>
            <a:pPr indent="0" marL="0">
              <a:lnSpc>
                <a:spcPts val="1300"/>
              </a:lnSpc>
              <a:buNone/>
            </a:pPr>
            <a:r>
              <a:rPr lang="en-US" sz="1050" dirty="0">
                <a:solidFill>
                  <a:srgbClr val="D3DCE5"/>
                </a:solidFill>
                <a:latin typeface="Calibri" pitchFamily="34" charset="0"/>
                <a:ea typeface="Calibri" pitchFamily="34" charset="-122"/>
                <a:cs typeface="Calibri" pitchFamily="34" charset="-120"/>
              </a:rPr>
              <a:t>plutôt qu'à 0,50</a:t>
            </a:r>
            <a:endParaRPr lang="en-US" sz="1050" dirty="0"/>
          </a:p>
        </p:txBody>
      </p:sp>
      <p:sp>
        <p:nvSpPr>
          <p:cNvPr id="35" name="Shape 33"/>
          <p:cNvSpPr/>
          <p:nvPr/>
        </p:nvSpPr>
        <p:spPr>
          <a:xfrm>
            <a:off x="685800" y="4572000"/>
            <a:ext cx="5257800" cy="1554480"/>
          </a:xfrm>
          <a:prstGeom prst="roundRect">
            <a:avLst>
              <a:gd name="adj" fmla="val 3529"/>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36" name="Text 34"/>
          <p:cNvSpPr/>
          <p:nvPr/>
        </p:nvSpPr>
        <p:spPr>
          <a:xfrm>
            <a:off x="960120" y="4754880"/>
            <a:ext cx="4709160" cy="274320"/>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Éprouvé avant livraison</a:t>
            </a:r>
            <a:endParaRPr lang="en-US" sz="1350" dirty="0"/>
          </a:p>
        </p:txBody>
      </p:sp>
      <p:sp>
        <p:nvSpPr>
          <p:cNvPr id="37" name="Text 35"/>
          <p:cNvSpPr/>
          <p:nvPr/>
        </p:nvSpPr>
        <p:spPr>
          <a:xfrm>
            <a:off x="960120" y="5065776"/>
            <a:ext cx="4709160" cy="914400"/>
          </a:xfrm>
          <a:prstGeom prst="rect">
            <a:avLst/>
          </a:prstGeom>
          <a:noFill/>
          <a:ln/>
        </p:spPr>
        <p:txBody>
          <a:bodyPr wrap="square" lIns="0" tIns="0" rIns="0" bIns="0" rtlCol="0" anchor="ctr"/>
          <a:lstStyle/>
          <a:p>
            <a:pPr indent="0" marL="0">
              <a:lnSpc>
                <a:spcPts val="1600"/>
              </a:lnSpc>
              <a:buNone/>
            </a:pPr>
            <a:r>
              <a:rPr lang="en-US" sz="1200" dirty="0">
                <a:solidFill>
                  <a:srgbClr val="44525E"/>
                </a:solidFill>
                <a:latin typeface="Calibri" pitchFamily="34" charset="0"/>
                <a:ea typeface="Calibri" pitchFamily="34" charset="-122"/>
                <a:cs typeface="Calibri" pitchFamily="34" charset="-120"/>
              </a:rPr>
              <a:t>Séparateur inconnu, colonnes dans le désordre, colonne id surnuméraire, mesure manquante, valeur textuelle, colonne absente, ligne vide : chaque cas est traité ou rejeté avec un message explicite.</a:t>
            </a:r>
            <a:endParaRPr lang="en-US" sz="1200" dirty="0"/>
          </a:p>
        </p:txBody>
      </p:sp>
      <p:sp>
        <p:nvSpPr>
          <p:cNvPr id="38" name="Shape 36"/>
          <p:cNvSpPr/>
          <p:nvPr/>
        </p:nvSpPr>
        <p:spPr>
          <a:xfrm>
            <a:off x="6217920" y="4572000"/>
            <a:ext cx="5257800" cy="1554480"/>
          </a:xfrm>
          <a:prstGeom prst="roundRect">
            <a:avLst>
              <a:gd name="adj" fmla="val 3529"/>
            </a:avLst>
          </a:prstGeom>
          <a:solidFill>
            <a:srgbClr val="FDF6E7"/>
          </a:solidFill>
          <a:ln w="12700">
            <a:solidFill>
              <a:srgbClr val="E8D5A8"/>
            </a:solidFill>
            <a:prstDash val="solid"/>
          </a:ln>
          <a:effectLst>
            <a:outerShdw sx="100000" sy="100000" kx="0" ky="0" algn="bl" rotWithShape="0" blurRad="101600" dist="25400" dir="5400000">
              <a:srgbClr val="B9B3A8">
                <a:alpha val="35000"/>
              </a:srgbClr>
            </a:outerShdw>
          </a:effectLst>
        </p:spPr>
      </p:sp>
      <p:sp>
        <p:nvSpPr>
          <p:cNvPr id="39" name="Text 37"/>
          <p:cNvSpPr/>
          <p:nvPr/>
        </p:nvSpPr>
        <p:spPr>
          <a:xfrm>
            <a:off x="6492240" y="4754880"/>
            <a:ext cx="4709160" cy="274320"/>
          </a:xfrm>
          <a:prstGeom prst="rect">
            <a:avLst/>
          </a:prstGeom>
          <a:noFill/>
          <a:ln/>
        </p:spPr>
        <p:txBody>
          <a:bodyPr wrap="square" lIns="0" tIns="0" rIns="0" bIns="0" rtlCol="0" anchor="ctr"/>
          <a:lstStyle/>
          <a:p>
            <a:pPr indent="0" marL="0">
              <a:buNone/>
            </a:pPr>
            <a:r>
              <a:rPr lang="en-US" sz="1350" b="1" dirty="0">
                <a:solidFill>
                  <a:srgbClr val="8A6A1E"/>
                </a:solidFill>
                <a:latin typeface="Calibri" pitchFamily="34" charset="0"/>
                <a:ea typeface="Calibri" pitchFamily="34" charset="-122"/>
                <a:cs typeface="Calibri" pitchFamily="34" charset="-120"/>
              </a:rPr>
              <a:t>Un choix assumé : pas de sélection automatique</a:t>
            </a:r>
            <a:endParaRPr lang="en-US" sz="1350" dirty="0"/>
          </a:p>
        </p:txBody>
      </p:sp>
      <p:sp>
        <p:nvSpPr>
          <p:cNvPr id="40" name="Text 38"/>
          <p:cNvSpPr/>
          <p:nvPr/>
        </p:nvSpPr>
        <p:spPr>
          <a:xfrm>
            <a:off x="6492240" y="5065776"/>
            <a:ext cx="4709160" cy="914400"/>
          </a:xfrm>
          <a:prstGeom prst="rect">
            <a:avLst/>
          </a:prstGeom>
          <a:noFill/>
          <a:ln/>
        </p:spPr>
        <p:txBody>
          <a:bodyPr wrap="square" lIns="0" tIns="0" rIns="0" bIns="0" rtlCol="0" anchor="ctr"/>
          <a:lstStyle/>
          <a:p>
            <a:pPr indent="0" marL="0">
              <a:lnSpc>
                <a:spcPts val="1600"/>
              </a:lnSpc>
              <a:buNone/>
            </a:pPr>
            <a:r>
              <a:rPr lang="en-US" sz="1200" dirty="0">
                <a:solidFill>
                  <a:srgbClr val="6B5518"/>
                </a:solidFill>
                <a:latin typeface="Calibri" pitchFamily="34" charset="0"/>
                <a:ea typeface="Calibri" pitchFamily="34" charset="-122"/>
                <a:cs typeface="Calibri" pitchFamily="34" charset="-120"/>
              </a:rPr>
              <a:t>Un sélecteur qui réévaluerait les modèles à chaque réentraînement changerait le modèle en production sans intervention humaine. Pour un organisme public, un modèle figé et auditable vaut mieux.</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16</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L'application en fonctionnement</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Deux modes : fichier CSV ou saisie manuelle d'un billet</a:t>
            </a:r>
            <a:endParaRPr lang="en-US" sz="1300" dirty="0"/>
          </a:p>
        </p:txBody>
      </p:sp>
      <p:sp>
        <p:nvSpPr>
          <p:cNvPr id="6" name="Shape 4"/>
          <p:cNvSpPr/>
          <p:nvPr/>
        </p:nvSpPr>
        <p:spPr>
          <a:xfrm>
            <a:off x="685800" y="1645920"/>
            <a:ext cx="6949440" cy="3749040"/>
          </a:xfrm>
          <a:prstGeom prst="roundRect">
            <a:avLst>
              <a:gd name="adj" fmla="val 1463"/>
            </a:avLst>
          </a:prstGeom>
          <a:solidFill>
            <a:srgbClr val="0E1B2A"/>
          </a:solidFill>
          <a:ln w="12700">
            <a:solidFill>
              <a:srgbClr val="0E1B2A"/>
            </a:solidFill>
            <a:prstDash val="solid"/>
          </a:ln>
          <a:effectLst>
            <a:outerShdw sx="100000" sy="100000" kx="0" ky="0" algn="bl" rotWithShape="0" blurRad="101600" dist="25400" dir="5400000">
              <a:srgbClr val="B9B3A8">
                <a:alpha val="35000"/>
              </a:srgbClr>
            </a:outerShdw>
          </a:effectLst>
        </p:spPr>
      </p:sp>
      <p:sp>
        <p:nvSpPr>
          <p:cNvPr id="7" name="Text 5"/>
          <p:cNvSpPr/>
          <p:nvPr/>
        </p:nvSpPr>
        <p:spPr>
          <a:xfrm>
            <a:off x="960120" y="1828800"/>
            <a:ext cx="6400800" cy="292608"/>
          </a:xfrm>
          <a:prstGeom prst="rect">
            <a:avLst/>
          </a:prstGeom>
          <a:noFill/>
          <a:ln/>
        </p:spPr>
        <p:txBody>
          <a:bodyPr wrap="square" lIns="0" tIns="0" rIns="0" bIns="0" rtlCol="0" anchor="ctr"/>
          <a:lstStyle/>
          <a:p>
            <a:pPr indent="0" marL="0">
              <a:buNone/>
            </a:pPr>
            <a:r>
              <a:rPr lang="en-US" sz="1200" dirty="0">
                <a:solidFill>
                  <a:srgbClr val="C89B3C"/>
                </a:solidFill>
                <a:latin typeface="Courier New" pitchFamily="34" charset="0"/>
                <a:ea typeface="Courier New" pitchFamily="34" charset="-122"/>
                <a:cs typeface="Courier New" pitchFamily="34" charset="-120"/>
              </a:rPr>
              <a:t>$ python app.py billets_production.csv</a:t>
            </a:r>
            <a:endParaRPr lang="en-US" sz="1200" dirty="0"/>
          </a:p>
        </p:txBody>
      </p:sp>
      <p:sp>
        <p:nvSpPr>
          <p:cNvPr id="8" name="Text 6"/>
          <p:cNvSpPr/>
          <p:nvPr/>
        </p:nvSpPr>
        <p:spPr>
          <a:xfrm>
            <a:off x="960120" y="2212848"/>
            <a:ext cx="6400800" cy="3017520"/>
          </a:xfrm>
          <a:prstGeom prst="rect">
            <a:avLst/>
          </a:prstGeom>
          <a:noFill/>
          <a:ln/>
        </p:spPr>
        <p:txBody>
          <a:bodyPr wrap="square" lIns="0" tIns="0" rIns="0" bIns="0" rtlCol="0" anchor="ctr"/>
          <a:lstStyle/>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Modèle chargé    : régression logistique, seuil 0.80</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Fichier lu       : billets_production.csv</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Billets détectés : 5</a:t>
            </a:r>
            <a:endParaRPr lang="en-US" sz="1050" dirty="0"/>
          </a:p>
          <a:p>
            <a:pPr indent="0" marL="0">
              <a:lnSpc>
                <a:spcPts val="1400"/>
              </a:lnSpc>
              <a:buNone/>
            </a:pP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Identifiant   Verdict         P(authentique)   Confiance</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&gt;A_1          FAUX BILLET             0.0011      élevée</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&gt;A_2          FAUX BILLET             0.0001      élevée</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&gt;A_3          FAUX BILLET             0.0003      élevée</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 A_4          Vrai billet             0.9794      élevée</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 A_5          Vrai billet             0.9999      élevée</a:t>
            </a:r>
            <a:endParaRPr lang="en-US" sz="1050" dirty="0"/>
          </a:p>
          <a:p>
            <a:pPr indent="0" marL="0">
              <a:lnSpc>
                <a:spcPts val="1400"/>
              </a:lnSpc>
              <a:buNone/>
            </a:pP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  Billets analysés      : 5</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  Vrais billets         :   2  (40.0%)</a:t>
            </a:r>
            <a:endParaRPr lang="en-US" sz="1050" dirty="0"/>
          </a:p>
          <a:p>
            <a:pPr indent="0" marL="0">
              <a:lnSpc>
                <a:spcPts val="1400"/>
              </a:lnSpc>
              <a:buNone/>
            </a:pPr>
            <a:r>
              <a:rPr lang="en-US" sz="1050" dirty="0">
                <a:solidFill>
                  <a:srgbClr val="C7D3DF"/>
                </a:solidFill>
                <a:latin typeface="Courier New" pitchFamily="34" charset="0"/>
                <a:ea typeface="Courier New" pitchFamily="34" charset="-122"/>
                <a:cs typeface="Courier New" pitchFamily="34" charset="-120"/>
              </a:rPr>
              <a:t>  Faux billets détectés :   3  (60.0%)</a:t>
            </a:r>
            <a:endParaRPr lang="en-US" sz="1050" dirty="0"/>
          </a:p>
        </p:txBody>
      </p:sp>
      <p:sp>
        <p:nvSpPr>
          <p:cNvPr id="9" name="Text 7"/>
          <p:cNvSpPr/>
          <p:nvPr/>
        </p:nvSpPr>
        <p:spPr>
          <a:xfrm>
            <a:off x="7955280" y="1645920"/>
            <a:ext cx="3520440" cy="274320"/>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Séparateur détecté automatiquement</a:t>
            </a:r>
            <a:endParaRPr lang="en-US" sz="1300" dirty="0"/>
          </a:p>
        </p:txBody>
      </p:sp>
      <p:sp>
        <p:nvSpPr>
          <p:cNvPr id="10" name="Text 8"/>
          <p:cNvSpPr/>
          <p:nvPr/>
        </p:nvSpPr>
        <p:spPr>
          <a:xfrm>
            <a:off x="7955280" y="1938528"/>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5A6A76"/>
                </a:solidFill>
                <a:latin typeface="Calibri" pitchFamily="34" charset="0"/>
                <a:ea typeface="Calibri" pitchFamily="34" charset="-122"/>
                <a:cs typeface="Calibri" pitchFamily="34" charset="-120"/>
              </a:rPr>
              <a:t>Virgule, point-virgule ou tabulation — le format des fichiers de l'ONCFM varie.</a:t>
            </a:r>
            <a:endParaRPr lang="en-US" sz="1150" dirty="0"/>
          </a:p>
        </p:txBody>
      </p:sp>
      <p:sp>
        <p:nvSpPr>
          <p:cNvPr id="11" name="Text 9"/>
          <p:cNvSpPr/>
          <p:nvPr/>
        </p:nvSpPr>
        <p:spPr>
          <a:xfrm>
            <a:off x="7955280" y="2606040"/>
            <a:ext cx="3520440" cy="274320"/>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Probabilité affichée</a:t>
            </a:r>
            <a:endParaRPr lang="en-US" sz="1300" dirty="0"/>
          </a:p>
        </p:txBody>
      </p:sp>
      <p:sp>
        <p:nvSpPr>
          <p:cNvPr id="12" name="Text 10"/>
          <p:cNvSpPr/>
          <p:nvPr/>
        </p:nvSpPr>
        <p:spPr>
          <a:xfrm>
            <a:off x="7955280" y="2898648"/>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5A6A76"/>
                </a:solidFill>
                <a:latin typeface="Calibri" pitchFamily="34" charset="0"/>
                <a:ea typeface="Calibri" pitchFamily="34" charset="-122"/>
                <a:cs typeface="Calibri" pitchFamily="34" charset="-120"/>
              </a:rPr>
              <a:t>Un billet faux à 99,9 % et un cas limite à 51 % n'appellent pas la même confiance.</a:t>
            </a:r>
            <a:endParaRPr lang="en-US" sz="1150" dirty="0"/>
          </a:p>
        </p:txBody>
      </p:sp>
      <p:sp>
        <p:nvSpPr>
          <p:cNvPr id="13" name="Text 11"/>
          <p:cNvSpPr/>
          <p:nvPr/>
        </p:nvSpPr>
        <p:spPr>
          <a:xfrm>
            <a:off x="7955280" y="3566160"/>
            <a:ext cx="3520440" cy="274320"/>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Signalement des cas douteux</a:t>
            </a:r>
            <a:endParaRPr lang="en-US" sz="1300" dirty="0"/>
          </a:p>
        </p:txBody>
      </p:sp>
      <p:sp>
        <p:nvSpPr>
          <p:cNvPr id="14" name="Text 12"/>
          <p:cNvSpPr/>
          <p:nvPr/>
        </p:nvSpPr>
        <p:spPr>
          <a:xfrm>
            <a:off x="7955280" y="3858768"/>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5A6A76"/>
                </a:solidFill>
                <a:latin typeface="Calibri" pitchFamily="34" charset="0"/>
                <a:ea typeface="Calibri" pitchFamily="34" charset="-122"/>
                <a:cs typeface="Calibri" pitchFamily="34" charset="-120"/>
              </a:rPr>
              <a:t>Les billets en zone d'incertitude sont marqués « à vérifier ».</a:t>
            </a:r>
            <a:endParaRPr lang="en-US" sz="1150" dirty="0"/>
          </a:p>
        </p:txBody>
      </p:sp>
      <p:sp>
        <p:nvSpPr>
          <p:cNvPr id="15" name="Text 13"/>
          <p:cNvSpPr/>
          <p:nvPr/>
        </p:nvSpPr>
        <p:spPr>
          <a:xfrm>
            <a:off x="7955280" y="4526280"/>
            <a:ext cx="3520440" cy="274320"/>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Export CSV et seuil ajustable</a:t>
            </a:r>
            <a:endParaRPr lang="en-US" sz="1300" dirty="0"/>
          </a:p>
        </p:txBody>
      </p:sp>
      <p:sp>
        <p:nvSpPr>
          <p:cNvPr id="16" name="Text 14"/>
          <p:cNvSpPr/>
          <p:nvPr/>
        </p:nvSpPr>
        <p:spPr>
          <a:xfrm>
            <a:off x="7955280" y="4818888"/>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5A6A76"/>
                </a:solidFill>
                <a:latin typeface="Calibri" pitchFamily="34" charset="0"/>
                <a:ea typeface="Calibri" pitchFamily="34" charset="-122"/>
                <a:cs typeface="Calibri" pitchFamily="34" charset="-120"/>
              </a:rPr>
              <a:t>Options --export et --seuil pour un traitement de lot quotidien.</a:t>
            </a:r>
            <a:endParaRPr lang="en-US" sz="1150" dirty="0"/>
          </a:p>
        </p:txBody>
      </p:sp>
      <p:sp>
        <p:nvSpPr>
          <p:cNvPr id="17" name="Shape 15"/>
          <p:cNvSpPr/>
          <p:nvPr/>
        </p:nvSpPr>
        <p:spPr>
          <a:xfrm>
            <a:off x="685800" y="5623560"/>
            <a:ext cx="10817352" cy="685800"/>
          </a:xfrm>
          <a:prstGeom prst="roundRect">
            <a:avLst>
              <a:gd name="adj" fmla="val 8000"/>
            </a:avLst>
          </a:prstGeom>
          <a:solidFill>
            <a:srgbClr val="EDF3F6"/>
          </a:solidFill>
          <a:ln w="12700">
            <a:solidFill>
              <a:srgbClr val="C2D6E0"/>
            </a:solidFill>
            <a:prstDash val="solid"/>
          </a:ln>
          <a:effectLst>
            <a:outerShdw sx="100000" sy="100000" kx="0" ky="0" algn="bl" rotWithShape="0" blurRad="101600" dist="25400" dir="5400000">
              <a:srgbClr val="B9B3A8">
                <a:alpha val="35000"/>
              </a:srgbClr>
            </a:outerShdw>
          </a:effectLst>
        </p:spPr>
      </p:sp>
      <p:sp>
        <p:nvSpPr>
          <p:cNvPr id="18" name="Text 16"/>
          <p:cNvSpPr/>
          <p:nvPr/>
        </p:nvSpPr>
        <p:spPr>
          <a:xfrm>
            <a:off x="1005840" y="5742432"/>
            <a:ext cx="10424160" cy="457200"/>
          </a:xfrm>
          <a:prstGeom prst="rect">
            <a:avLst/>
          </a:prstGeom>
          <a:noFill/>
          <a:ln/>
        </p:spPr>
        <p:txBody>
          <a:bodyPr wrap="square" lIns="0" tIns="0" rIns="0" bIns="0" rtlCol="0" anchor="ctr"/>
          <a:lstStyle/>
          <a:p>
            <a:pPr indent="0" marL="0">
              <a:buNone/>
            </a:pPr>
            <a:r>
              <a:rPr lang="en-US" sz="1250" dirty="0">
                <a:solidFill>
                  <a:srgbClr val="3D4E58"/>
                </a:solidFill>
                <a:latin typeface="Calibri" pitchFamily="34" charset="0"/>
                <a:ea typeface="Calibri" pitchFamily="34" charset="-122"/>
                <a:cs typeface="Calibri" pitchFamily="34" charset="-120"/>
              </a:rPr>
              <a:t>Le modèle est sauvegardé avec l'intégralité de son prétraitement, et son rechargement a été vérifié depuis un processus Python entièrement indépendant.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17</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Ce que ce modèle ne garantit pas</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Les limites à connaître avant tout déploiement</a:t>
            </a:r>
            <a:endParaRPr lang="en-US" sz="1300" dirty="0"/>
          </a:p>
        </p:txBody>
      </p:sp>
      <p:sp>
        <p:nvSpPr>
          <p:cNvPr id="6" name="Shape 4"/>
          <p:cNvSpPr/>
          <p:nvPr/>
        </p:nvSpPr>
        <p:spPr>
          <a:xfrm>
            <a:off x="685800" y="1645920"/>
            <a:ext cx="5257800" cy="2011680"/>
          </a:xfrm>
          <a:prstGeom prst="roundRect">
            <a:avLst>
              <a:gd name="adj" fmla="val 2727"/>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7" name="Shape 5"/>
          <p:cNvSpPr/>
          <p:nvPr/>
        </p:nvSpPr>
        <p:spPr>
          <a:xfrm>
            <a:off x="960120" y="1883664"/>
            <a:ext cx="274320" cy="274320"/>
          </a:xfrm>
          <a:prstGeom prst="ellipse">
            <a:avLst/>
          </a:prstGeom>
          <a:solidFill>
            <a:srgbClr val="B3261E"/>
          </a:solidFill>
          <a:ln/>
        </p:spPr>
      </p:sp>
      <p:sp>
        <p:nvSpPr>
          <p:cNvPr id="8" name="Text 6"/>
          <p:cNvSpPr/>
          <p:nvPr/>
        </p:nvSpPr>
        <p:spPr>
          <a:xfrm>
            <a:off x="1344168" y="1847088"/>
            <a:ext cx="4343400" cy="347472"/>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Un seul scanner</a:t>
            </a:r>
            <a:endParaRPr lang="en-US" sz="1400" dirty="0"/>
          </a:p>
        </p:txBody>
      </p:sp>
      <p:sp>
        <p:nvSpPr>
          <p:cNvPr id="9" name="Text 7"/>
          <p:cNvSpPr/>
          <p:nvPr/>
        </p:nvSpPr>
        <p:spPr>
          <a:xfrm>
            <a:off x="960120" y="2304288"/>
            <a:ext cx="4709160" cy="118872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Les 1 500 billets proviennent d'une même chaîne de mesure. Un changement de matériel ou une dérive du capteur dégraderait les performances sans qu'aucun signal ne l'annonce.</a:t>
            </a:r>
            <a:endParaRPr lang="en-US" sz="1250" dirty="0"/>
          </a:p>
        </p:txBody>
      </p:sp>
      <p:sp>
        <p:nvSpPr>
          <p:cNvPr id="10" name="Shape 8"/>
          <p:cNvSpPr/>
          <p:nvPr/>
        </p:nvSpPr>
        <p:spPr>
          <a:xfrm>
            <a:off x="6217920" y="1645920"/>
            <a:ext cx="5257800" cy="2011680"/>
          </a:xfrm>
          <a:prstGeom prst="roundRect">
            <a:avLst>
              <a:gd name="adj" fmla="val 2727"/>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1" name="Shape 9"/>
          <p:cNvSpPr/>
          <p:nvPr/>
        </p:nvSpPr>
        <p:spPr>
          <a:xfrm>
            <a:off x="6492240" y="1883664"/>
            <a:ext cx="274320" cy="274320"/>
          </a:xfrm>
          <a:prstGeom prst="ellipse">
            <a:avLst/>
          </a:prstGeom>
          <a:solidFill>
            <a:srgbClr val="B3261E"/>
          </a:solidFill>
          <a:ln/>
        </p:spPr>
      </p:sp>
      <p:sp>
        <p:nvSpPr>
          <p:cNvPr id="12" name="Text 10"/>
          <p:cNvSpPr/>
          <p:nvPr/>
        </p:nvSpPr>
        <p:spPr>
          <a:xfrm>
            <a:off x="6876288" y="1847088"/>
            <a:ext cx="4343400" cy="347472"/>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Les contrefaçons évoluent</a:t>
            </a:r>
            <a:endParaRPr lang="en-US" sz="1400" dirty="0"/>
          </a:p>
        </p:txBody>
      </p:sp>
      <p:sp>
        <p:nvSpPr>
          <p:cNvPr id="13" name="Text 11"/>
          <p:cNvSpPr/>
          <p:nvPr/>
        </p:nvSpPr>
        <p:spPr>
          <a:xfrm>
            <a:off x="6492240" y="2304288"/>
            <a:ext cx="4709160" cy="118872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Le modèle a appris les faux billets actuels. Une nouvelle génération corrigeant l'écart de longueur — la variable la plus discriminante — le prendrait en défaut.</a:t>
            </a:r>
            <a:endParaRPr lang="en-US" sz="1250" dirty="0"/>
          </a:p>
        </p:txBody>
      </p:sp>
      <p:sp>
        <p:nvSpPr>
          <p:cNvPr id="14" name="Shape 12"/>
          <p:cNvSpPr/>
          <p:nvPr/>
        </p:nvSpPr>
        <p:spPr>
          <a:xfrm>
            <a:off x="685800" y="3886200"/>
            <a:ext cx="5257800" cy="2011680"/>
          </a:xfrm>
          <a:prstGeom prst="roundRect">
            <a:avLst>
              <a:gd name="adj" fmla="val 2727"/>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5" name="Shape 13"/>
          <p:cNvSpPr/>
          <p:nvPr/>
        </p:nvSpPr>
        <p:spPr>
          <a:xfrm>
            <a:off x="960120" y="4123944"/>
            <a:ext cx="274320" cy="274320"/>
          </a:xfrm>
          <a:prstGeom prst="ellipse">
            <a:avLst/>
          </a:prstGeom>
          <a:solidFill>
            <a:srgbClr val="B3261E"/>
          </a:solidFill>
          <a:ln/>
        </p:spPr>
      </p:sp>
      <p:sp>
        <p:nvSpPr>
          <p:cNvPr id="16" name="Text 14"/>
          <p:cNvSpPr/>
          <p:nvPr/>
        </p:nvSpPr>
        <p:spPr>
          <a:xfrm>
            <a:off x="1344168" y="4087368"/>
            <a:ext cx="4343400" cy="347472"/>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Le taux de faux est supposé stable</a:t>
            </a:r>
            <a:endParaRPr lang="en-US" sz="1400" dirty="0"/>
          </a:p>
        </p:txBody>
      </p:sp>
      <p:sp>
        <p:nvSpPr>
          <p:cNvPr id="17" name="Text 15"/>
          <p:cNvSpPr/>
          <p:nvPr/>
        </p:nvSpPr>
        <p:spPr>
          <a:xfrm>
            <a:off x="960120" y="4544568"/>
            <a:ext cx="4709160" cy="118872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L'échantillon comporte 33 % de faux, ce qui ne reflète probablement pas le flux réel. Si la proportion réelle est plus faible, la précision observée en production sera inférieure.</a:t>
            </a:r>
            <a:endParaRPr lang="en-US" sz="1250" dirty="0"/>
          </a:p>
        </p:txBody>
      </p:sp>
      <p:sp>
        <p:nvSpPr>
          <p:cNvPr id="18" name="Shape 16"/>
          <p:cNvSpPr/>
          <p:nvPr/>
        </p:nvSpPr>
        <p:spPr>
          <a:xfrm>
            <a:off x="6217920" y="3886200"/>
            <a:ext cx="5257800" cy="2011680"/>
          </a:xfrm>
          <a:prstGeom prst="roundRect">
            <a:avLst>
              <a:gd name="adj" fmla="val 2727"/>
            </a:avLst>
          </a:prstGeom>
          <a:solidFill>
            <a:srgbClr val="FFFFFF"/>
          </a:solidFill>
          <a:ln w="12700">
            <a:solidFill>
              <a:srgbClr val="DCD8CF"/>
            </a:solidFill>
            <a:prstDash val="solid"/>
          </a:ln>
          <a:effectLst>
            <a:outerShdw sx="100000" sy="100000" kx="0" ky="0" algn="bl" rotWithShape="0" blurRad="101600" dist="25400" dir="5400000">
              <a:srgbClr val="B9B3A8">
                <a:alpha val="35000"/>
              </a:srgbClr>
            </a:outerShdw>
          </a:effectLst>
        </p:spPr>
      </p:sp>
      <p:sp>
        <p:nvSpPr>
          <p:cNvPr id="19" name="Shape 17"/>
          <p:cNvSpPr/>
          <p:nvPr/>
        </p:nvSpPr>
        <p:spPr>
          <a:xfrm>
            <a:off x="6492240" y="4123944"/>
            <a:ext cx="274320" cy="274320"/>
          </a:xfrm>
          <a:prstGeom prst="ellipse">
            <a:avLst/>
          </a:prstGeom>
          <a:solidFill>
            <a:srgbClr val="B3261E"/>
          </a:solidFill>
          <a:ln/>
        </p:spPr>
      </p:sp>
      <p:sp>
        <p:nvSpPr>
          <p:cNvPr id="20" name="Text 18"/>
          <p:cNvSpPr/>
          <p:nvPr/>
        </p:nvSpPr>
        <p:spPr>
          <a:xfrm>
            <a:off x="6876288" y="4087368"/>
            <a:ext cx="4343400" cy="347472"/>
          </a:xfrm>
          <a:prstGeom prst="rect">
            <a:avLst/>
          </a:prstGeom>
          <a:noFill/>
          <a:ln/>
        </p:spPr>
        <p:txBody>
          <a:bodyPr wrap="square" lIns="0" tIns="0" rIns="0" bIns="0" rtlCol="0" anchor="ctr"/>
          <a:lstStyle/>
          <a:p>
            <a:pPr indent="0" marL="0">
              <a:buNone/>
            </a:pPr>
            <a:r>
              <a:rPr lang="en-US" sz="1400" b="1" dirty="0">
                <a:solidFill>
                  <a:srgbClr val="12263A"/>
                </a:solidFill>
                <a:latin typeface="Calibri" pitchFamily="34" charset="0"/>
                <a:ea typeface="Calibri" pitchFamily="34" charset="-122"/>
                <a:cs typeface="Calibri" pitchFamily="34" charset="-120"/>
              </a:rPr>
              <a:t>300 billets ne prouvent pas 100 %</a:t>
            </a:r>
            <a:endParaRPr lang="en-US" sz="1400" dirty="0"/>
          </a:p>
        </p:txBody>
      </p:sp>
      <p:sp>
        <p:nvSpPr>
          <p:cNvPr id="21" name="Text 19"/>
          <p:cNvSpPr/>
          <p:nvPr/>
        </p:nvSpPr>
        <p:spPr>
          <a:xfrm>
            <a:off x="6492240" y="4544568"/>
            <a:ext cx="4709160" cy="1188720"/>
          </a:xfrm>
          <a:prstGeom prst="rect">
            <a:avLst/>
          </a:prstGeom>
          <a:noFill/>
          <a:ln/>
        </p:spPr>
        <p:txBody>
          <a:bodyPr wrap="square" lIns="0" tIns="0" rIns="0" bIns="0" rtlCol="0" anchor="ctr"/>
          <a:lstStyle/>
          <a:p>
            <a:pPr indent="0" marL="0">
              <a:lnSpc>
                <a:spcPts val="1700"/>
              </a:lnSpc>
              <a:buNone/>
            </a:pPr>
            <a:r>
              <a:rPr lang="en-US" sz="1250" dirty="0">
                <a:solidFill>
                  <a:srgbClr val="44525E"/>
                </a:solidFill>
                <a:latin typeface="Calibri" pitchFamily="34" charset="0"/>
                <a:ea typeface="Calibri" pitchFamily="34" charset="-122"/>
                <a:cs typeface="Calibri" pitchFamily="34" charset="-120"/>
              </a:rPr>
              <a:t>L'estimation robuste, appuyée sur 1 200 billets, est d'environ 1 % de contrefaçons non détectées.</a:t>
            </a:r>
            <a:endParaRPr lang="en-US" sz="1250" dirty="0"/>
          </a:p>
        </p:txBody>
      </p:sp>
      <p:sp>
        <p:nvSpPr>
          <p:cNvPr id="22" name="Text 20"/>
          <p:cNvSpPr/>
          <p:nvPr/>
        </p:nvSpPr>
        <p:spPr>
          <a:xfrm>
            <a:off x="685800" y="6053328"/>
            <a:ext cx="10817352" cy="365760"/>
          </a:xfrm>
          <a:prstGeom prst="rect">
            <a:avLst/>
          </a:prstGeom>
          <a:noFill/>
          <a:ln/>
        </p:spPr>
        <p:txBody>
          <a:bodyPr wrap="square" lIns="0" tIns="0" rIns="0" bIns="0" rtlCol="0" anchor="ctr"/>
          <a:lstStyle/>
          <a:p>
            <a:pPr indent="0" marL="0">
              <a:buNone/>
            </a:pPr>
            <a:r>
              <a:rPr lang="en-US" sz="1250" i="1" dirty="0">
                <a:solidFill>
                  <a:srgbClr val="6B7A8C"/>
                </a:solidFill>
                <a:latin typeface="Calibri" pitchFamily="34" charset="0"/>
                <a:ea typeface="Calibri" pitchFamily="34" charset="-122"/>
                <a:cs typeface="Calibri" pitchFamily="34" charset="-120"/>
              </a:rPr>
              <a:t>Ces limites ne remettent pas en cause le modèle : elles définissent les conditions de son suivi.</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685800" y="420624"/>
            <a:ext cx="420624" cy="420624"/>
          </a:xfrm>
          <a:prstGeom prst="ellipse">
            <a:avLst/>
          </a:prstGeom>
          <a:solidFill>
            <a:srgbClr val="12263A"/>
          </a:solidFill>
          <a:ln/>
        </p:spPr>
      </p:sp>
      <p:sp>
        <p:nvSpPr>
          <p:cNvPr id="3" name="Text 1"/>
          <p:cNvSpPr/>
          <p:nvPr/>
        </p:nvSpPr>
        <p:spPr>
          <a:xfrm>
            <a:off x="685800" y="420624"/>
            <a:ext cx="420624" cy="420624"/>
          </a:xfrm>
          <a:prstGeom prst="rect">
            <a:avLst/>
          </a:prstGeom>
          <a:noFill/>
          <a:ln/>
        </p:spPr>
        <p:txBody>
          <a:bodyPr wrap="square" lIns="0" tIns="0" rIns="0" bIns="0" rtlCol="0" anchor="ctr"/>
          <a:lstStyle/>
          <a:p>
            <a:pPr algn="ctr" indent="0" marL="0">
              <a:buNone/>
            </a:pPr>
            <a:r>
              <a:rPr lang="en-US" sz="1300" b="1" dirty="0">
                <a:solidFill>
                  <a:srgbClr val="C89B3C"/>
                </a:solidFill>
                <a:latin typeface="Calibri" pitchFamily="34" charset="0"/>
                <a:ea typeface="Calibri" pitchFamily="34" charset="-122"/>
                <a:cs typeface="Calibri" pitchFamily="34" charset="-120"/>
              </a:rPr>
              <a:t>18</a:t>
            </a:r>
            <a:endParaRPr lang="en-US" sz="1300" dirty="0"/>
          </a:p>
        </p:txBody>
      </p:sp>
      <p:sp>
        <p:nvSpPr>
          <p:cNvPr id="4" name="Text 2"/>
          <p:cNvSpPr/>
          <p:nvPr/>
        </p:nvSpPr>
        <p:spPr>
          <a:xfrm>
            <a:off x="1307592" y="365760"/>
            <a:ext cx="10195560" cy="566928"/>
          </a:xfrm>
          <a:prstGeom prst="rect">
            <a:avLst/>
          </a:prstGeom>
          <a:noFill/>
          <a:ln/>
        </p:spPr>
        <p:txBody>
          <a:bodyPr wrap="square" lIns="0" tIns="0" rIns="0" bIns="0" rtlCol="0" anchor="ctr"/>
          <a:lstStyle/>
          <a:p>
            <a:pPr indent="0" marL="0">
              <a:buNone/>
            </a:pPr>
            <a:r>
              <a:rPr lang="en-US" sz="2700" b="1" dirty="0">
                <a:solidFill>
                  <a:srgbClr val="12263A"/>
                </a:solidFill>
                <a:latin typeface="Cambria" pitchFamily="34" charset="0"/>
                <a:ea typeface="Cambria" pitchFamily="34" charset="-122"/>
                <a:cs typeface="Cambria" pitchFamily="34" charset="-120"/>
              </a:rPr>
              <a:t>Recommandations</a:t>
            </a:r>
            <a:endParaRPr lang="en-US" sz="2700" dirty="0"/>
          </a:p>
        </p:txBody>
      </p:sp>
      <p:sp>
        <p:nvSpPr>
          <p:cNvPr id="5" name="Text 3"/>
          <p:cNvSpPr/>
          <p:nvPr/>
        </p:nvSpPr>
        <p:spPr>
          <a:xfrm>
            <a:off x="1307592" y="932688"/>
            <a:ext cx="10195560" cy="310896"/>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Cinq mesures pour maintenir la performance dans la durée</a:t>
            </a:r>
            <a:endParaRPr lang="en-US" sz="1300" dirty="0"/>
          </a:p>
        </p:txBody>
      </p:sp>
      <p:sp>
        <p:nvSpPr>
          <p:cNvPr id="6" name="Shape 4"/>
          <p:cNvSpPr/>
          <p:nvPr/>
        </p:nvSpPr>
        <p:spPr>
          <a:xfrm>
            <a:off x="685800" y="1664208"/>
            <a:ext cx="329184" cy="329184"/>
          </a:xfrm>
          <a:prstGeom prst="ellipse">
            <a:avLst/>
          </a:prstGeom>
          <a:solidFill>
            <a:srgbClr val="12263A"/>
          </a:solidFill>
          <a:ln/>
        </p:spPr>
      </p:sp>
      <p:sp>
        <p:nvSpPr>
          <p:cNvPr id="7" name="Text 5"/>
          <p:cNvSpPr/>
          <p:nvPr/>
        </p:nvSpPr>
        <p:spPr>
          <a:xfrm>
            <a:off x="685800" y="1664208"/>
            <a:ext cx="329184" cy="329184"/>
          </a:xfrm>
          <a:prstGeom prst="rect">
            <a:avLst/>
          </a:prstGeom>
          <a:noFill/>
          <a:ln/>
        </p:spPr>
        <p:txBody>
          <a:bodyPr wrap="square" lIns="0" tIns="0" rIns="0" bIns="0" rtlCol="0" anchor="ctr"/>
          <a:lstStyle/>
          <a:p>
            <a:pPr algn="ctr" indent="0" marL="0">
              <a:buNone/>
            </a:pPr>
            <a:r>
              <a:rPr lang="en-US" sz="1200" b="1" dirty="0">
                <a:solidFill>
                  <a:srgbClr val="C89B3C"/>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16152" y="1591056"/>
            <a:ext cx="3657600" cy="457200"/>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Suivre la dérive</a:t>
            </a:r>
            <a:endParaRPr lang="en-US" sz="1350" dirty="0"/>
          </a:p>
        </p:txBody>
      </p:sp>
      <p:sp>
        <p:nvSpPr>
          <p:cNvPr id="9" name="Text 7"/>
          <p:cNvSpPr/>
          <p:nvPr/>
        </p:nvSpPr>
        <p:spPr>
          <a:xfrm>
            <a:off x="4937760" y="1572768"/>
            <a:ext cx="6537960" cy="777240"/>
          </a:xfrm>
          <a:prstGeom prst="rect">
            <a:avLst/>
          </a:prstGeom>
          <a:noFill/>
          <a:ln/>
        </p:spPr>
        <p:txBody>
          <a:bodyPr wrap="square" lIns="0" tIns="0" rIns="0" bIns="0" rtlCol="0" anchor="ctr"/>
          <a:lstStyle/>
          <a:p>
            <a:pPr indent="0" marL="0">
              <a:lnSpc>
                <a:spcPts val="1600"/>
              </a:lnSpc>
              <a:buNone/>
            </a:pPr>
            <a:r>
              <a:rPr lang="en-US" sz="1200" dirty="0">
                <a:solidFill>
                  <a:srgbClr val="44525E"/>
                </a:solidFill>
                <a:latin typeface="Calibri" pitchFamily="34" charset="0"/>
                <a:ea typeface="Calibri" pitchFamily="34" charset="-122"/>
                <a:cs typeface="Calibri" pitchFamily="34" charset="-120"/>
              </a:rPr>
              <a:t>Enregistrer mensuellement la distribution des six mesures et la proportion de billets classés faux. Un décalage signale un besoin de réentraînement avant que les erreurs ne deviennent visibles.</a:t>
            </a:r>
            <a:endParaRPr lang="en-US" sz="1200" dirty="0"/>
          </a:p>
        </p:txBody>
      </p:sp>
      <p:sp>
        <p:nvSpPr>
          <p:cNvPr id="10" name="Shape 8"/>
          <p:cNvSpPr/>
          <p:nvPr/>
        </p:nvSpPr>
        <p:spPr>
          <a:xfrm>
            <a:off x="1216152" y="2414016"/>
            <a:ext cx="10241280" cy="0"/>
          </a:xfrm>
          <a:prstGeom prst="line">
            <a:avLst/>
          </a:prstGeom>
          <a:noFill/>
          <a:ln w="12700">
            <a:solidFill>
              <a:srgbClr val="DCD8CF"/>
            </a:solidFill>
            <a:prstDash val="solid"/>
          </a:ln>
        </p:spPr>
      </p:sp>
      <p:sp>
        <p:nvSpPr>
          <p:cNvPr id="11" name="Shape 9"/>
          <p:cNvSpPr/>
          <p:nvPr/>
        </p:nvSpPr>
        <p:spPr>
          <a:xfrm>
            <a:off x="685800" y="2596896"/>
            <a:ext cx="329184" cy="329184"/>
          </a:xfrm>
          <a:prstGeom prst="ellipse">
            <a:avLst/>
          </a:prstGeom>
          <a:solidFill>
            <a:srgbClr val="12263A"/>
          </a:solidFill>
          <a:ln/>
        </p:spPr>
      </p:sp>
      <p:sp>
        <p:nvSpPr>
          <p:cNvPr id="12" name="Text 10"/>
          <p:cNvSpPr/>
          <p:nvPr/>
        </p:nvSpPr>
        <p:spPr>
          <a:xfrm>
            <a:off x="685800" y="2596896"/>
            <a:ext cx="329184" cy="329184"/>
          </a:xfrm>
          <a:prstGeom prst="rect">
            <a:avLst/>
          </a:prstGeom>
          <a:noFill/>
          <a:ln/>
        </p:spPr>
        <p:txBody>
          <a:bodyPr wrap="square" lIns="0" tIns="0" rIns="0" bIns="0" rtlCol="0" anchor="ctr"/>
          <a:lstStyle/>
          <a:p>
            <a:pPr algn="ctr" indent="0" marL="0">
              <a:buNone/>
            </a:pPr>
            <a:r>
              <a:rPr lang="en-US" sz="1200" b="1" dirty="0">
                <a:solidFill>
                  <a:srgbClr val="C89B3C"/>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16152" y="2523744"/>
            <a:ext cx="3657600" cy="457200"/>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Instaurer un circuit à trois issues</a:t>
            </a:r>
            <a:endParaRPr lang="en-US" sz="1350" dirty="0"/>
          </a:p>
        </p:txBody>
      </p:sp>
      <p:sp>
        <p:nvSpPr>
          <p:cNvPr id="14" name="Text 12"/>
          <p:cNvSpPr/>
          <p:nvPr/>
        </p:nvSpPr>
        <p:spPr>
          <a:xfrm>
            <a:off x="4937760" y="2505456"/>
            <a:ext cx="6537960" cy="777240"/>
          </a:xfrm>
          <a:prstGeom prst="rect">
            <a:avLst/>
          </a:prstGeom>
          <a:noFill/>
          <a:ln/>
        </p:spPr>
        <p:txBody>
          <a:bodyPr wrap="square" lIns="0" tIns="0" rIns="0" bIns="0" rtlCol="0" anchor="ctr"/>
          <a:lstStyle/>
          <a:p>
            <a:pPr indent="0" marL="0">
              <a:lnSpc>
                <a:spcPts val="1600"/>
              </a:lnSpc>
              <a:buNone/>
            </a:pPr>
            <a:r>
              <a:rPr lang="en-US" sz="1200" dirty="0">
                <a:solidFill>
                  <a:srgbClr val="44525E"/>
                </a:solidFill>
                <a:latin typeface="Calibri" pitchFamily="34" charset="0"/>
                <a:ea typeface="Calibri" pitchFamily="34" charset="-122"/>
                <a:cs typeface="Calibri" pitchFamily="34" charset="-120"/>
              </a:rPr>
              <a:t>Router vers un examen humain les billets dont la probabilité tombe en zone grise, plutôt que de forcer une décision binaire. Le volume resterait très faible.</a:t>
            </a:r>
            <a:endParaRPr lang="en-US" sz="1200" dirty="0"/>
          </a:p>
        </p:txBody>
      </p:sp>
      <p:sp>
        <p:nvSpPr>
          <p:cNvPr id="15" name="Shape 13"/>
          <p:cNvSpPr/>
          <p:nvPr/>
        </p:nvSpPr>
        <p:spPr>
          <a:xfrm>
            <a:off x="1216152" y="3346704"/>
            <a:ext cx="10241280" cy="0"/>
          </a:xfrm>
          <a:prstGeom prst="line">
            <a:avLst/>
          </a:prstGeom>
          <a:noFill/>
          <a:ln w="12700">
            <a:solidFill>
              <a:srgbClr val="DCD8CF"/>
            </a:solidFill>
            <a:prstDash val="solid"/>
          </a:ln>
        </p:spPr>
      </p:sp>
      <p:sp>
        <p:nvSpPr>
          <p:cNvPr id="16" name="Shape 14"/>
          <p:cNvSpPr/>
          <p:nvPr/>
        </p:nvSpPr>
        <p:spPr>
          <a:xfrm>
            <a:off x="685800" y="3529584"/>
            <a:ext cx="329184" cy="329184"/>
          </a:xfrm>
          <a:prstGeom prst="ellipse">
            <a:avLst/>
          </a:prstGeom>
          <a:solidFill>
            <a:srgbClr val="12263A"/>
          </a:solidFill>
          <a:ln/>
        </p:spPr>
      </p:sp>
      <p:sp>
        <p:nvSpPr>
          <p:cNvPr id="17" name="Text 15"/>
          <p:cNvSpPr/>
          <p:nvPr/>
        </p:nvSpPr>
        <p:spPr>
          <a:xfrm>
            <a:off x="685800" y="3529584"/>
            <a:ext cx="329184" cy="329184"/>
          </a:xfrm>
          <a:prstGeom prst="rect">
            <a:avLst/>
          </a:prstGeom>
          <a:noFill/>
          <a:ln/>
        </p:spPr>
        <p:txBody>
          <a:bodyPr wrap="square" lIns="0" tIns="0" rIns="0" bIns="0" rtlCol="0" anchor="ctr"/>
          <a:lstStyle/>
          <a:p>
            <a:pPr algn="ctr" indent="0" marL="0">
              <a:buNone/>
            </a:pPr>
            <a:r>
              <a:rPr lang="en-US" sz="1200" b="1" dirty="0">
                <a:solidFill>
                  <a:srgbClr val="C89B3C"/>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216152" y="3456432"/>
            <a:ext cx="3657600" cy="457200"/>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Constituer un jeu de contrôle indépendant</a:t>
            </a:r>
            <a:endParaRPr lang="en-US" sz="1350" dirty="0"/>
          </a:p>
        </p:txBody>
      </p:sp>
      <p:sp>
        <p:nvSpPr>
          <p:cNvPr id="19" name="Text 17"/>
          <p:cNvSpPr/>
          <p:nvPr/>
        </p:nvSpPr>
        <p:spPr>
          <a:xfrm>
            <a:off x="4937760" y="3438144"/>
            <a:ext cx="6537960" cy="777240"/>
          </a:xfrm>
          <a:prstGeom prst="rect">
            <a:avLst/>
          </a:prstGeom>
          <a:noFill/>
          <a:ln/>
        </p:spPr>
        <p:txBody>
          <a:bodyPr wrap="square" lIns="0" tIns="0" rIns="0" bIns="0" rtlCol="0" anchor="ctr"/>
          <a:lstStyle/>
          <a:p>
            <a:pPr indent="0" marL="0">
              <a:lnSpc>
                <a:spcPts val="1600"/>
              </a:lnSpc>
              <a:buNone/>
            </a:pPr>
            <a:r>
              <a:rPr lang="en-US" sz="1200" dirty="0">
                <a:solidFill>
                  <a:srgbClr val="44525E"/>
                </a:solidFill>
                <a:latin typeface="Calibri" pitchFamily="34" charset="0"/>
                <a:ea typeface="Calibri" pitchFamily="34" charset="-122"/>
                <a:cs typeface="Calibri" pitchFamily="34" charset="-120"/>
              </a:rPr>
              <a:t>Faire expertiser périodiquement un échantillon de billets acceptés : la seule vérification du taux réel de faux non détectés qui ne dépende pas du modèle.</a:t>
            </a:r>
            <a:endParaRPr lang="en-US" sz="1200" dirty="0"/>
          </a:p>
        </p:txBody>
      </p:sp>
      <p:sp>
        <p:nvSpPr>
          <p:cNvPr id="20" name="Shape 18"/>
          <p:cNvSpPr/>
          <p:nvPr/>
        </p:nvSpPr>
        <p:spPr>
          <a:xfrm>
            <a:off x="1216152" y="4279392"/>
            <a:ext cx="10241280" cy="0"/>
          </a:xfrm>
          <a:prstGeom prst="line">
            <a:avLst/>
          </a:prstGeom>
          <a:noFill/>
          <a:ln w="12700">
            <a:solidFill>
              <a:srgbClr val="DCD8CF"/>
            </a:solidFill>
            <a:prstDash val="solid"/>
          </a:ln>
        </p:spPr>
      </p:sp>
      <p:sp>
        <p:nvSpPr>
          <p:cNvPr id="21" name="Shape 19"/>
          <p:cNvSpPr/>
          <p:nvPr/>
        </p:nvSpPr>
        <p:spPr>
          <a:xfrm>
            <a:off x="685800" y="4462272"/>
            <a:ext cx="329184" cy="329184"/>
          </a:xfrm>
          <a:prstGeom prst="ellipse">
            <a:avLst/>
          </a:prstGeom>
          <a:solidFill>
            <a:srgbClr val="12263A"/>
          </a:solidFill>
          <a:ln/>
        </p:spPr>
      </p:sp>
      <p:sp>
        <p:nvSpPr>
          <p:cNvPr id="22" name="Text 20"/>
          <p:cNvSpPr/>
          <p:nvPr/>
        </p:nvSpPr>
        <p:spPr>
          <a:xfrm>
            <a:off x="685800" y="4462272"/>
            <a:ext cx="329184" cy="329184"/>
          </a:xfrm>
          <a:prstGeom prst="rect">
            <a:avLst/>
          </a:prstGeom>
          <a:noFill/>
          <a:ln/>
        </p:spPr>
        <p:txBody>
          <a:bodyPr wrap="square" lIns="0" tIns="0" rIns="0" bIns="0" rtlCol="0" anchor="ctr"/>
          <a:lstStyle/>
          <a:p>
            <a:pPr algn="ctr" indent="0" marL="0">
              <a:buNone/>
            </a:pPr>
            <a:r>
              <a:rPr lang="en-US" sz="1200" b="1" dirty="0">
                <a:solidFill>
                  <a:srgbClr val="C89B3C"/>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216152" y="4389120"/>
            <a:ext cx="3657600" cy="457200"/>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Réentraîner à l'arrivée de nouvelles données</a:t>
            </a:r>
            <a:endParaRPr lang="en-US" sz="1350" dirty="0"/>
          </a:p>
        </p:txBody>
      </p:sp>
      <p:sp>
        <p:nvSpPr>
          <p:cNvPr id="24" name="Text 22"/>
          <p:cNvSpPr/>
          <p:nvPr/>
        </p:nvSpPr>
        <p:spPr>
          <a:xfrm>
            <a:off x="4937760" y="4370832"/>
            <a:ext cx="6537960" cy="777240"/>
          </a:xfrm>
          <a:prstGeom prst="rect">
            <a:avLst/>
          </a:prstGeom>
          <a:noFill/>
          <a:ln/>
        </p:spPr>
        <p:txBody>
          <a:bodyPr wrap="square" lIns="0" tIns="0" rIns="0" bIns="0" rtlCol="0" anchor="ctr"/>
          <a:lstStyle/>
          <a:p>
            <a:pPr indent="0" marL="0">
              <a:lnSpc>
                <a:spcPts val="1600"/>
              </a:lnSpc>
              <a:buNone/>
            </a:pPr>
            <a:r>
              <a:rPr lang="en-US" sz="1200" dirty="0">
                <a:solidFill>
                  <a:srgbClr val="44525E"/>
                </a:solidFill>
                <a:latin typeface="Calibri" pitchFamily="34" charset="0"/>
                <a:ea typeface="Calibri" pitchFamily="34" charset="-122"/>
                <a:cs typeface="Calibri" pitchFamily="34" charset="-120"/>
              </a:rPr>
              <a:t>Le pipeline complet est reproductible — réexécuter le notebook sur un jeu enrichi régénère un modèle à jour.</a:t>
            </a:r>
            <a:endParaRPr lang="en-US" sz="1200" dirty="0"/>
          </a:p>
        </p:txBody>
      </p:sp>
      <p:sp>
        <p:nvSpPr>
          <p:cNvPr id="25" name="Shape 23"/>
          <p:cNvSpPr/>
          <p:nvPr/>
        </p:nvSpPr>
        <p:spPr>
          <a:xfrm>
            <a:off x="1216152" y="5212080"/>
            <a:ext cx="10241280" cy="0"/>
          </a:xfrm>
          <a:prstGeom prst="line">
            <a:avLst/>
          </a:prstGeom>
          <a:noFill/>
          <a:ln w="12700">
            <a:solidFill>
              <a:srgbClr val="DCD8CF"/>
            </a:solidFill>
            <a:prstDash val="solid"/>
          </a:ln>
        </p:spPr>
      </p:sp>
      <p:sp>
        <p:nvSpPr>
          <p:cNvPr id="26" name="Shape 24"/>
          <p:cNvSpPr/>
          <p:nvPr/>
        </p:nvSpPr>
        <p:spPr>
          <a:xfrm>
            <a:off x="685800" y="5394960"/>
            <a:ext cx="329184" cy="329184"/>
          </a:xfrm>
          <a:prstGeom prst="ellipse">
            <a:avLst/>
          </a:prstGeom>
          <a:solidFill>
            <a:srgbClr val="12263A"/>
          </a:solidFill>
          <a:ln/>
        </p:spPr>
      </p:sp>
      <p:sp>
        <p:nvSpPr>
          <p:cNvPr id="27" name="Text 25"/>
          <p:cNvSpPr/>
          <p:nvPr/>
        </p:nvSpPr>
        <p:spPr>
          <a:xfrm>
            <a:off x="685800" y="5394960"/>
            <a:ext cx="329184" cy="329184"/>
          </a:xfrm>
          <a:prstGeom prst="rect">
            <a:avLst/>
          </a:prstGeom>
          <a:noFill/>
          <a:ln/>
        </p:spPr>
        <p:txBody>
          <a:bodyPr wrap="square" lIns="0" tIns="0" rIns="0" bIns="0" rtlCol="0" anchor="ctr"/>
          <a:lstStyle/>
          <a:p>
            <a:pPr algn="ctr" indent="0" marL="0">
              <a:buNone/>
            </a:pPr>
            <a:r>
              <a:rPr lang="en-US" sz="1200" b="1" dirty="0">
                <a:solidFill>
                  <a:srgbClr val="C89B3C"/>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216152" y="5321808"/>
            <a:ext cx="3657600" cy="457200"/>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Enrichir les mesures</a:t>
            </a:r>
            <a:endParaRPr lang="en-US" sz="1350" dirty="0"/>
          </a:p>
        </p:txBody>
      </p:sp>
      <p:sp>
        <p:nvSpPr>
          <p:cNvPr id="29" name="Text 27"/>
          <p:cNvSpPr/>
          <p:nvPr/>
        </p:nvSpPr>
        <p:spPr>
          <a:xfrm>
            <a:off x="4937760" y="5303520"/>
            <a:ext cx="6537960" cy="777240"/>
          </a:xfrm>
          <a:prstGeom prst="rect">
            <a:avLst/>
          </a:prstGeom>
          <a:noFill/>
          <a:ln/>
        </p:spPr>
        <p:txBody>
          <a:bodyPr wrap="square" lIns="0" tIns="0" rIns="0" bIns="0" rtlCol="0" anchor="ctr"/>
          <a:lstStyle/>
          <a:p>
            <a:pPr indent="0" marL="0">
              <a:lnSpc>
                <a:spcPts val="1600"/>
              </a:lnSpc>
              <a:buNone/>
            </a:pPr>
            <a:r>
              <a:rPr lang="en-US" sz="1200" dirty="0">
                <a:solidFill>
                  <a:srgbClr val="44525E"/>
                </a:solidFill>
                <a:latin typeface="Calibri" pitchFamily="34" charset="0"/>
                <a:ea typeface="Calibri" pitchFamily="34" charset="-122"/>
                <a:cs typeface="Calibri" pitchFamily="34" charset="-120"/>
              </a:rPr>
              <a:t>Six dimensions géométriques suffisent aujourd'hui. Ajouter des caractéristiques difficiles à reproduire (encre, filigrane, papier) rendrait le dispositif bien plus résistant.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1005840" y="1051560"/>
            <a:ext cx="10058400"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En résumé</a:t>
            </a:r>
            <a:endParaRPr lang="en-US" sz="3200" dirty="0"/>
          </a:p>
        </p:txBody>
      </p:sp>
      <p:sp>
        <p:nvSpPr>
          <p:cNvPr id="3" name="Text 1"/>
          <p:cNvSpPr/>
          <p:nvPr/>
        </p:nvSpPr>
        <p:spPr>
          <a:xfrm>
            <a:off x="1005840" y="1920240"/>
            <a:ext cx="2377440" cy="685800"/>
          </a:xfrm>
          <a:prstGeom prst="rect">
            <a:avLst/>
          </a:prstGeom>
          <a:noFill/>
          <a:ln/>
        </p:spPr>
        <p:txBody>
          <a:bodyPr wrap="square" lIns="0" tIns="0" rIns="0" bIns="0" rtlCol="0" anchor="ctr"/>
          <a:lstStyle/>
          <a:p>
            <a:pPr indent="0" marL="0">
              <a:buNone/>
            </a:pPr>
            <a:r>
              <a:rPr lang="en-US" sz="3400" b="1" dirty="0">
                <a:solidFill>
                  <a:srgbClr val="C89B3C"/>
                </a:solidFill>
                <a:latin typeface="Cambria" pitchFamily="34" charset="0"/>
                <a:ea typeface="Cambria" pitchFamily="34" charset="-122"/>
                <a:cs typeface="Cambria" pitchFamily="34" charset="-120"/>
              </a:rPr>
              <a:t>≈ 99 %</a:t>
            </a:r>
            <a:endParaRPr lang="en-US" sz="3400" dirty="0"/>
          </a:p>
        </p:txBody>
      </p:sp>
      <p:sp>
        <p:nvSpPr>
          <p:cNvPr id="4" name="Text 2"/>
          <p:cNvSpPr/>
          <p:nvPr/>
        </p:nvSpPr>
        <p:spPr>
          <a:xfrm>
            <a:off x="1005840" y="2633472"/>
            <a:ext cx="2377440" cy="548640"/>
          </a:xfrm>
          <a:prstGeom prst="rect">
            <a:avLst/>
          </a:prstGeom>
          <a:noFill/>
          <a:ln/>
        </p:spPr>
        <p:txBody>
          <a:bodyPr wrap="square" lIns="0" tIns="0" rIns="0" bIns="0" rtlCol="0" anchor="ctr"/>
          <a:lstStyle/>
          <a:p>
            <a:pPr indent="0" marL="0">
              <a:lnSpc>
                <a:spcPts val="1500"/>
              </a:lnSpc>
              <a:buNone/>
            </a:pPr>
            <a:r>
              <a:rPr lang="en-US" sz="1200" dirty="0">
                <a:solidFill>
                  <a:srgbClr val="9EAFC0"/>
                </a:solidFill>
                <a:latin typeface="Calibri" pitchFamily="34" charset="0"/>
                <a:ea typeface="Calibri" pitchFamily="34" charset="-122"/>
                <a:cs typeface="Calibri" pitchFamily="34" charset="-120"/>
              </a:rPr>
              <a:t>des contrefaçons interceptées</a:t>
            </a:r>
            <a:endParaRPr lang="en-US" sz="1200" dirty="0"/>
          </a:p>
        </p:txBody>
      </p:sp>
      <p:sp>
        <p:nvSpPr>
          <p:cNvPr id="5" name="Text 3"/>
          <p:cNvSpPr/>
          <p:nvPr/>
        </p:nvSpPr>
        <p:spPr>
          <a:xfrm>
            <a:off x="3611880" y="1920240"/>
            <a:ext cx="2377440" cy="685800"/>
          </a:xfrm>
          <a:prstGeom prst="rect">
            <a:avLst/>
          </a:prstGeom>
          <a:noFill/>
          <a:ln/>
        </p:spPr>
        <p:txBody>
          <a:bodyPr wrap="square" lIns="0" tIns="0" rIns="0" bIns="0" rtlCol="0" anchor="ctr"/>
          <a:lstStyle/>
          <a:p>
            <a:pPr indent="0" marL="0">
              <a:buNone/>
            </a:pPr>
            <a:r>
              <a:rPr lang="en-US" sz="3400" b="1" dirty="0">
                <a:solidFill>
                  <a:srgbClr val="C89B3C"/>
                </a:solidFill>
                <a:latin typeface="Cambria" pitchFamily="34" charset="0"/>
                <a:ea typeface="Cambria" pitchFamily="34" charset="-122"/>
                <a:cs typeface="Cambria" pitchFamily="34" charset="-120"/>
              </a:rPr>
              <a:t>≈ 1,6 %</a:t>
            </a:r>
            <a:endParaRPr lang="en-US" sz="3400" dirty="0"/>
          </a:p>
        </p:txBody>
      </p:sp>
      <p:sp>
        <p:nvSpPr>
          <p:cNvPr id="6" name="Text 4"/>
          <p:cNvSpPr/>
          <p:nvPr/>
        </p:nvSpPr>
        <p:spPr>
          <a:xfrm>
            <a:off x="3611880" y="2633472"/>
            <a:ext cx="2377440" cy="548640"/>
          </a:xfrm>
          <a:prstGeom prst="rect">
            <a:avLst/>
          </a:prstGeom>
          <a:noFill/>
          <a:ln/>
        </p:spPr>
        <p:txBody>
          <a:bodyPr wrap="square" lIns="0" tIns="0" rIns="0" bIns="0" rtlCol="0" anchor="ctr"/>
          <a:lstStyle/>
          <a:p>
            <a:pPr indent="0" marL="0">
              <a:lnSpc>
                <a:spcPts val="1500"/>
              </a:lnSpc>
              <a:buNone/>
            </a:pPr>
            <a:r>
              <a:rPr lang="en-US" sz="1200" dirty="0">
                <a:solidFill>
                  <a:srgbClr val="9EAFC0"/>
                </a:solidFill>
                <a:latin typeface="Calibri" pitchFamily="34" charset="0"/>
                <a:ea typeface="Calibri" pitchFamily="34" charset="-122"/>
                <a:cs typeface="Calibri" pitchFamily="34" charset="-120"/>
              </a:rPr>
              <a:t>des vrais billets en vérification</a:t>
            </a:r>
            <a:endParaRPr lang="en-US" sz="1200" dirty="0"/>
          </a:p>
        </p:txBody>
      </p:sp>
      <p:sp>
        <p:nvSpPr>
          <p:cNvPr id="7" name="Text 5"/>
          <p:cNvSpPr/>
          <p:nvPr/>
        </p:nvSpPr>
        <p:spPr>
          <a:xfrm>
            <a:off x="6217920" y="1920240"/>
            <a:ext cx="2377440" cy="685800"/>
          </a:xfrm>
          <a:prstGeom prst="rect">
            <a:avLst/>
          </a:prstGeom>
          <a:noFill/>
          <a:ln/>
        </p:spPr>
        <p:txBody>
          <a:bodyPr wrap="square" lIns="0" tIns="0" rIns="0" bIns="0" rtlCol="0" anchor="ctr"/>
          <a:lstStyle/>
          <a:p>
            <a:pPr indent="0" marL="0">
              <a:buNone/>
            </a:pPr>
            <a:r>
              <a:rPr lang="en-US" sz="3400" b="1" dirty="0">
                <a:solidFill>
                  <a:srgbClr val="C89B3C"/>
                </a:solidFill>
                <a:latin typeface="Cambria" pitchFamily="34" charset="0"/>
                <a:ea typeface="Cambria" pitchFamily="34" charset="-122"/>
                <a:cs typeface="Cambria" pitchFamily="34" charset="-120"/>
              </a:rPr>
              <a:t>0,80</a:t>
            </a:r>
            <a:endParaRPr lang="en-US" sz="3400" dirty="0"/>
          </a:p>
        </p:txBody>
      </p:sp>
      <p:sp>
        <p:nvSpPr>
          <p:cNvPr id="8" name="Text 6"/>
          <p:cNvSpPr/>
          <p:nvPr/>
        </p:nvSpPr>
        <p:spPr>
          <a:xfrm>
            <a:off x="6217920" y="2633472"/>
            <a:ext cx="2377440" cy="548640"/>
          </a:xfrm>
          <a:prstGeom prst="rect">
            <a:avLst/>
          </a:prstGeom>
          <a:noFill/>
          <a:ln/>
        </p:spPr>
        <p:txBody>
          <a:bodyPr wrap="square" lIns="0" tIns="0" rIns="0" bIns="0" rtlCol="0" anchor="ctr"/>
          <a:lstStyle/>
          <a:p>
            <a:pPr indent="0" marL="0">
              <a:lnSpc>
                <a:spcPts val="1500"/>
              </a:lnSpc>
              <a:buNone/>
            </a:pPr>
            <a:r>
              <a:rPr lang="en-US" sz="1200" dirty="0">
                <a:solidFill>
                  <a:srgbClr val="9EAFC0"/>
                </a:solidFill>
                <a:latin typeface="Calibri" pitchFamily="34" charset="0"/>
                <a:ea typeface="Calibri" pitchFamily="34" charset="-122"/>
                <a:cs typeface="Calibri" pitchFamily="34" charset="-120"/>
              </a:rPr>
              <a:t>seuil de décision calibré</a:t>
            </a:r>
            <a:endParaRPr lang="en-US" sz="1200" dirty="0"/>
          </a:p>
        </p:txBody>
      </p:sp>
      <p:sp>
        <p:nvSpPr>
          <p:cNvPr id="9" name="Text 7"/>
          <p:cNvSpPr/>
          <p:nvPr/>
        </p:nvSpPr>
        <p:spPr>
          <a:xfrm>
            <a:off x="8823960" y="1920240"/>
            <a:ext cx="2377440" cy="685800"/>
          </a:xfrm>
          <a:prstGeom prst="rect">
            <a:avLst/>
          </a:prstGeom>
          <a:noFill/>
          <a:ln/>
        </p:spPr>
        <p:txBody>
          <a:bodyPr wrap="square" lIns="0" tIns="0" rIns="0" bIns="0" rtlCol="0" anchor="ctr"/>
          <a:lstStyle/>
          <a:p>
            <a:pPr indent="0" marL="0">
              <a:buNone/>
            </a:pPr>
            <a:r>
              <a:rPr lang="en-US" sz="3400" b="1" dirty="0">
                <a:solidFill>
                  <a:srgbClr val="C89B3C"/>
                </a:solidFill>
                <a:latin typeface="Cambria" pitchFamily="34" charset="0"/>
                <a:ea typeface="Cambria" pitchFamily="34" charset="-122"/>
                <a:cs typeface="Cambria" pitchFamily="34" charset="-120"/>
              </a:rPr>
              <a:t>6</a:t>
            </a:r>
            <a:endParaRPr lang="en-US" sz="3400" dirty="0"/>
          </a:p>
        </p:txBody>
      </p:sp>
      <p:sp>
        <p:nvSpPr>
          <p:cNvPr id="10" name="Text 8"/>
          <p:cNvSpPr/>
          <p:nvPr/>
        </p:nvSpPr>
        <p:spPr>
          <a:xfrm>
            <a:off x="8823960" y="2633472"/>
            <a:ext cx="2377440" cy="548640"/>
          </a:xfrm>
          <a:prstGeom prst="rect">
            <a:avLst/>
          </a:prstGeom>
          <a:noFill/>
          <a:ln/>
        </p:spPr>
        <p:txBody>
          <a:bodyPr wrap="square" lIns="0" tIns="0" rIns="0" bIns="0" rtlCol="0" anchor="ctr"/>
          <a:lstStyle/>
          <a:p>
            <a:pPr indent="0" marL="0">
              <a:lnSpc>
                <a:spcPts val="1500"/>
              </a:lnSpc>
              <a:buNone/>
            </a:pPr>
            <a:r>
              <a:rPr lang="en-US" sz="1200" dirty="0">
                <a:solidFill>
                  <a:srgbClr val="9EAFC0"/>
                </a:solidFill>
                <a:latin typeface="Calibri" pitchFamily="34" charset="0"/>
                <a:ea typeface="Calibri" pitchFamily="34" charset="-122"/>
                <a:cs typeface="Calibri" pitchFamily="34" charset="-120"/>
              </a:rPr>
              <a:t>mesures suffisent</a:t>
            </a:r>
            <a:endParaRPr lang="en-US" sz="1200" dirty="0"/>
          </a:p>
        </p:txBody>
      </p:sp>
      <p:sp>
        <p:nvSpPr>
          <p:cNvPr id="11" name="Shape 9"/>
          <p:cNvSpPr/>
          <p:nvPr/>
        </p:nvSpPr>
        <p:spPr>
          <a:xfrm>
            <a:off x="1005840" y="3520440"/>
            <a:ext cx="10149840" cy="0"/>
          </a:xfrm>
          <a:prstGeom prst="line">
            <a:avLst/>
          </a:prstGeom>
          <a:noFill/>
          <a:ln w="12700">
            <a:solidFill>
              <a:srgbClr val="2A3E56"/>
            </a:solidFill>
            <a:prstDash val="solid"/>
          </a:ln>
        </p:spPr>
      </p:sp>
      <p:sp>
        <p:nvSpPr>
          <p:cNvPr id="12" name="Text 10"/>
          <p:cNvSpPr/>
          <p:nvPr/>
        </p:nvSpPr>
        <p:spPr>
          <a:xfrm>
            <a:off x="1005840" y="3749040"/>
            <a:ext cx="10058400" cy="320040"/>
          </a:xfrm>
          <a:prstGeom prst="rect">
            <a:avLst/>
          </a:prstGeom>
          <a:noFill/>
          <a:ln/>
        </p:spPr>
        <p:txBody>
          <a:bodyPr wrap="square" lIns="0" tIns="0" rIns="0" bIns="0" rtlCol="0" anchor="ctr"/>
          <a:lstStyle/>
          <a:p>
            <a:pPr indent="0" marL="0">
              <a:buNone/>
            </a:pPr>
            <a:r>
              <a:rPr lang="en-US" sz="1300" b="1" dirty="0">
                <a:solidFill>
                  <a:srgbClr val="C89B3C"/>
                </a:solidFill>
                <a:latin typeface="Calibri" pitchFamily="34" charset="0"/>
                <a:ea typeface="Calibri" pitchFamily="34" charset="-122"/>
                <a:cs typeface="Calibri" pitchFamily="34" charset="-120"/>
              </a:rPr>
              <a:t>Ce qui fait tenir ces chiffres</a:t>
            </a:r>
            <a:endParaRPr lang="en-US" sz="1300" dirty="0"/>
          </a:p>
        </p:txBody>
      </p:sp>
      <p:sp>
        <p:nvSpPr>
          <p:cNvPr id="13" name="Text 11"/>
          <p:cNvSpPr/>
          <p:nvPr/>
        </p:nvSpPr>
        <p:spPr>
          <a:xfrm>
            <a:off x="1005840" y="4114800"/>
            <a:ext cx="10058400" cy="128016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C9D3DE"/>
                </a:solidFill>
                <a:latin typeface="Calibri" pitchFamily="34" charset="0"/>
                <a:ea typeface="Calibri" pitchFamily="34" charset="-122"/>
                <a:cs typeface="Calibri" pitchFamily="34" charset="-120"/>
              </a:rPr>
              <a:t>Aucune décision — imputation, modèle, seuil — n'a été prise en regardant le jeu de test</a:t>
            </a:r>
            <a:endParaRPr lang="en-US" sz="1300" dirty="0"/>
          </a:p>
          <a:p>
            <a:pPr marL="342900" indent="-342900">
              <a:lnSpc>
                <a:spcPts val="2000"/>
              </a:lnSpc>
              <a:spcAft>
                <a:spcPts val="1000"/>
              </a:spcAft>
              <a:buSzPct val="100000"/>
              <a:buChar char="▪"/>
            </a:pPr>
            <a:r>
              <a:rPr lang="en-US" sz="1300" dirty="0">
                <a:solidFill>
                  <a:srgbClr val="C9D3DE"/>
                </a:solidFill>
                <a:latin typeface="Calibri" pitchFamily="34" charset="0"/>
                <a:ea typeface="Calibri" pitchFamily="34" charset="-122"/>
                <a:cs typeface="Calibri" pitchFamily="34" charset="-120"/>
              </a:rPr>
              <a:t>Le modèle retenu ne l'a pas été sur sa performance brute, mais sur sa précision au point de fonctionnement réel et sur la qualité de ses probabilités</a:t>
            </a:r>
            <a:endParaRPr lang="en-US" sz="1300" dirty="0"/>
          </a:p>
          <a:p>
            <a:pPr marL="342900" indent="-342900">
              <a:lnSpc>
                <a:spcPts val="2000"/>
              </a:lnSpc>
              <a:spcAft>
                <a:spcPts val="1000"/>
              </a:spcAft>
              <a:buSzPct val="100000"/>
              <a:buChar char="▪"/>
            </a:pPr>
            <a:r>
              <a:rPr lang="en-US" sz="1300" dirty="0">
                <a:solidFill>
                  <a:srgbClr val="C9D3DE"/>
                </a:solidFill>
                <a:latin typeface="Calibri" pitchFamily="34" charset="0"/>
                <a:ea typeface="Calibri" pitchFamily="34" charset="-122"/>
                <a:cs typeface="Calibri" pitchFamily="34" charset="-120"/>
              </a:rPr>
              <a:t>La performance annoncée est l'estimation hors-échantillon, plus prudente que le résultat parfait obtenu sur les 300 billets de test</a:t>
            </a:r>
            <a:endParaRPr lang="en-US" sz="1300" dirty="0"/>
          </a:p>
        </p:txBody>
      </p:sp>
      <p:sp>
        <p:nvSpPr>
          <p:cNvPr id="14" name="Text 12"/>
          <p:cNvSpPr/>
          <p:nvPr/>
        </p:nvSpPr>
        <p:spPr>
          <a:xfrm>
            <a:off x="1005840" y="5669280"/>
            <a:ext cx="100584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Merci — vos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automatique de faux billets — ONCFM</dc:title>
  <dc:subject>PptxGenJS Presentation</dc:subject>
  <dc:creator>Data Analyst Senior</dc:creator>
  <cp:lastModifiedBy>Data Analyst Senior</cp:lastModifiedBy>
  <cp:revision>1</cp:revision>
  <dcterms:created xsi:type="dcterms:W3CDTF">2026-07-24T16:01:54Z</dcterms:created>
  <dcterms:modified xsi:type="dcterms:W3CDTF">2026-07-24T16:01:54Z</dcterms:modified>
</cp:coreProperties>
</file>