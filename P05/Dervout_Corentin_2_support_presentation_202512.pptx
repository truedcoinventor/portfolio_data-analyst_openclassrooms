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6" r:id="rId24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7B92B4F-763C-AE88-2DE1-AB83BBDF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3300E83-9964-5118-77E2-3E7BD2CCC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6D92CB9-A965-424E-A0F7-DBFEC572C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FC7AF67-0EAB-2164-C9CC-4F96148E44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72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09189A5-1D7E-C36B-EFC1-26A82B9E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4D73453-4A63-AF62-0504-179EC9948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67F47FB-58DD-7411-0255-C9E3D7C5E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4C961BD3-E6BC-0BCD-8205-6AE8B6EBE9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2918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ECD7097-33BA-DD9B-0A92-72AF04CE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55F81E0-FCA8-40FE-007A-DF3E94B81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B632EE7-0DE8-41FC-BA9B-6306E1285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5E5A466-E9AF-B287-2810-23B2B7F2A6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315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D7A2C54-7300-A5A4-EADF-C0AB0D70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AB0D574-29DB-6AFB-2318-9951A97A0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F5CD61B-2A05-AF99-0DD9-C4FE78A14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BB90349-DE35-E294-16C7-7631B509BB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4485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F1646EE-8A7A-3F9B-91CA-572F5C3C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8D95E30-F73D-ECA1-ACFA-4C2118774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D463500B-93CB-46A6-49F7-9EEFE7612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50C50C7-55D7-CBE8-2203-8541C0B60D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7883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0131CD6-2901-14C2-E9E3-045E722DE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99AD9FD-35AE-573E-F5F6-44CC041DD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F7E78C9-22DF-988E-77F3-8D45B4024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E59F4EF9-6171-4AE2-8C58-8B7546C612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9285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40A9EEA-B29A-9909-1C07-AF7A612F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907DC21D-6901-BE38-37FB-BC65301DC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DBBE9785-0E7C-3DBD-7E24-7E0CD0F91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E3DFFE9-0744-9276-2965-A87C0CCB8B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045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5A54F17-2CB4-E430-7F2F-EC204275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D02222C-EB22-21C2-6E16-8D8AF23F2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F87F4D3D-4127-E010-DB6E-F1C9E380C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D96A70F-3BC2-C252-47E7-C3E4F51A38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64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3DF024A-AACE-3B50-36EF-B7D8B87C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81C1D7C5-C74F-1A5D-105D-7A4F10BC0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89E3B09-7EDA-B7C8-EF62-114C16C45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F240F9B-084C-E675-9786-F0B19B4962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0776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8C3C0B2-195A-2C83-19FF-190AA7325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0F4660F-EDA8-D440-3DE0-EFFD6CBCD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1DF4137-7C47-45EF-DE3D-6F63B3505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01C86D4-21C0-D0D2-A6C7-5D6923C8E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053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FFB63D2-223E-99D0-770A-B56B9A95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D87E31D4-744E-58D0-FFCA-421CFB042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528883B-C8BA-E1F3-D2AD-F093A0C41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3172363C-C200-C856-F9BD-69906CF861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92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Mon nom</a:t>
            </a:r>
            <a:endParaRPr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DATAImmo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fr-FR" dirty="0"/>
              <a:t>analyser le marché et aider les différentes agences régionales à mieux accompagner leurs clients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Suppression des noms d’acquéreur</a:t>
            </a:r>
            <a:br>
              <a:rPr lang="fr" dirty="0"/>
            </a:br>
            <a:r>
              <a:rPr lang="fr" dirty="0"/>
              <a:t>utilisation de la nouvelle version du DVF tout les 6 mois pour une suppression « automatique » des données ayant dépassé les seuils RGPD</a:t>
            </a: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89008" y="1053793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Extrait du fichier « Demandes de valeurs foncières », 1</a:t>
            </a:r>
            <a:r>
              <a:rPr lang="fr" baseline="30000" dirty="0"/>
              <a:t>er</a:t>
            </a:r>
            <a:r>
              <a:rPr lang="fr" dirty="0"/>
              <a:t> semestre 2020 de data.gouv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Extrait du fichier « Référentiel géographique français […] » de data.gouv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Extrait du fichier « Données communes » de data.gouv</a:t>
            </a: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0F041-847A-9AE5-C862-95E5256D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143" y="703752"/>
            <a:ext cx="6003310" cy="4439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4" name="Google Shape;304;p38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FCF8-EBC1-2E7F-4779-0CBDD7B4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091086"/>
            <a:ext cx="790575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1E76DC-3CE7-E09A-8C8A-FD0189C1D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878" y="0"/>
            <a:ext cx="3017640" cy="5143500"/>
          </a:xfrm>
          <a:prstGeom prst="rect">
            <a:avLst/>
          </a:prstGeom>
        </p:spPr>
      </p:pic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35305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93FE5-56B1-80DB-60E9-715D66814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4687"/>
            <a:ext cx="3074478" cy="21766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5BAB0-0753-1835-383F-EA8E5516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075" y="730656"/>
            <a:ext cx="3017640" cy="44128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DF170-BF7F-DDA5-1767-92AE6475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84" y="255651"/>
            <a:ext cx="2600688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CC369-35EB-CB64-802C-117DF22F1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17" y="1068021"/>
            <a:ext cx="7425311" cy="39730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Nombre total d’appartements vendus au 1</a:t>
            </a:r>
            <a:r>
              <a:rPr lang="fr" baseline="30000" dirty="0"/>
              <a:t>er</a:t>
            </a:r>
            <a:r>
              <a:rPr lang="fr" dirty="0"/>
              <a:t> semestre 2020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9D195-1432-5255-CFBA-C42C0AD5B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2220202"/>
            <a:ext cx="990738" cy="657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6E6674-4D34-D5B6-7D27-5A834F55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8" y="1381279"/>
            <a:ext cx="6744641" cy="609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E6E0BE8-09B8-78D8-2447-C0F61BD1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B76ADED-1034-FD7C-4D57-7A6701C51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6AB34664-C7C3-70A9-E4C8-2AD8C2FC40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7163632-EC40-4C95-AFB0-D35756C32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2A273B0-B75D-E458-213C-9137948BA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96255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fr-FR" dirty="0"/>
              <a:t>Nombre de ventes d’appartement par région pour le 1</a:t>
            </a:r>
            <a:r>
              <a:rPr lang="fr-FR" baseline="30000" dirty="0"/>
              <a:t>er</a:t>
            </a:r>
            <a:r>
              <a:rPr lang="fr-FR" dirty="0"/>
              <a:t> semestre 2020</a:t>
            </a:r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B8EAEF53-D43D-7309-419D-9AE24952B7CE}"/>
              </a:ext>
            </a:extLst>
          </p:cNvPr>
          <p:cNvSpPr txBox="1"/>
          <p:nvPr/>
        </p:nvSpPr>
        <p:spPr>
          <a:xfrm>
            <a:off x="208600" y="1259727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7800">
              <a:lnSpc>
                <a:spcPct val="90000"/>
              </a:lnSpc>
              <a:buClr>
                <a:srgbClr val="2E7A40"/>
              </a:buClr>
              <a:buSzPts val="1800"/>
              <a:buFont typeface="Arial"/>
              <a:buChar char="•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5B094-0E56-0551-74AB-1439E84FA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152" y="791375"/>
            <a:ext cx="2614661" cy="38195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369760-E783-7A0F-6C28-5945FC16B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42" y="1396871"/>
            <a:ext cx="4725059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39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89FB0F2C-63A5-37CA-4AD3-5DB570F8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5BC6BD3-BF96-AC67-B752-9CB403D75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C418BDE3-26F9-8405-93F1-C5360B3C05A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A2412CD7-1FF7-ABEA-27F2-33D91503B1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A400ED2-6603-6B86-43A0-2C1097D15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des ventes d’appartements par le nombre de pièces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1D492-4E2D-5E31-9357-6A548347D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56" y="1282149"/>
            <a:ext cx="5782482" cy="971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99239C-34A0-AEBD-3220-7FF23A1AB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383" y="2046614"/>
            <a:ext cx="3916121" cy="30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E097D1B-FA23-2E60-6A81-40420058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A8E96D6-6B5D-1AB8-5638-639CF04300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48322FCD-AE94-2319-98FA-E8C8650053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2026D63-D979-5285-3823-A6B4C3EAEE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03F262C8-8E49-17C1-0BEA-0EBE26B5D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" dirty="0"/>
              <a:t>Top </a:t>
            </a:r>
            <a:r>
              <a:rPr lang="fr-FR" dirty="0"/>
              <a:t>10 des départements où le prix du mètre carré est le plus élevé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E53AF3-19AB-0F31-E9FB-47FFD7C24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89" y="1337403"/>
            <a:ext cx="5430008" cy="13241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DAD570-A8DB-953F-BF96-2A1588650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30" y="2075736"/>
            <a:ext cx="296268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81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395311E-E12B-4EA8-0217-9EB42010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4229DA8-B280-6F48-EBF1-A35F4A4E03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AD0E8EF-8D7A-E355-24AA-1AE3F7EB496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CF2F6B0-49D7-4250-ABE8-87FC082B43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C2D6D2CA-002B-3C0F-A0DA-02A1DACBF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4FB82-059F-8577-D114-911D5EC8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09" y="3193797"/>
            <a:ext cx="2915057" cy="64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20C1C0-6465-AFAB-0698-840054462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75" y="1395729"/>
            <a:ext cx="815453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4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7C0EB2D-D1FE-BAD6-A6B9-1671E769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F9783B9-E7DE-EAB7-C72E-C0B16963B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357400F4-837B-F523-6DAF-6576CAAAA1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E92C96E-6027-1C3A-805A-3D609AD87C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606CD5D-26B5-7B6C-0C57-CA8F07385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700"/>
            <a:ext cx="640737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Top 10 appartements les plus chers avec la région et le nombre de mètres carrés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0AD32-9FB0-75DB-3ED1-03D46C3C2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67" y="1376316"/>
            <a:ext cx="5973009" cy="1371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B31802-7AE8-603B-3017-9FBDFF1A2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284" y="2364881"/>
            <a:ext cx="3294789" cy="262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1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087F016-BD00-56C5-8F42-C6E1C61F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3DEC65F-CF3E-8DC1-C8A1-F5E31C0F3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D1AAC85D-0333-F80F-FD48-D0A48CC776E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21F91DE-72AC-0086-CB25-9D92D3D22C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75DA193-E394-04ED-3C33-CAD4406CD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trimestre de 2020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92CC0-37FD-D05B-1255-FFD6DF89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975" y="3668851"/>
            <a:ext cx="1914792" cy="695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6D1963-2DF8-4E30-5B30-1FE02F0DE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56" y="1608280"/>
            <a:ext cx="5782482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84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542DDC3-4AB9-9EB3-420B-BED529DF3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7BFB75A-6FC9-53D4-80A4-33CCBB9C1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D140ECC3-A0B2-9DB8-C4EA-844175118D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85B38BD-0D86-4B03-F0E2-5652DAA8BE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278E285-C9DA-4812-0E37-B633F552A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Classement des régions par rapport au prix au mètre carré des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appartement de plus de 4 pièces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4DE36-5649-4379-AE9E-76D57B55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58" y="1558819"/>
            <a:ext cx="7525800" cy="1333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85B069-C51E-BCAE-03FC-50B40C3C69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3" t="1035" r="1"/>
          <a:stretch>
            <a:fillRect/>
          </a:stretch>
        </p:blipFill>
        <p:spPr>
          <a:xfrm>
            <a:off x="3375141" y="2848524"/>
            <a:ext cx="1792282" cy="23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88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4670459-EB68-8C25-2E4C-19DE2989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6C116DC-3D9A-C4FC-7B76-E5D7DDA5A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7B77B0D5-82BA-9A8C-C4EA-FCFF04B3DF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5F036B3-519A-D8C2-DF68-E8091881FF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323292F-6928-14F0-9034-9FCB478AE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19446-ED94-517D-3F1D-E950E8EDB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341" y="0"/>
            <a:ext cx="1470822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E65E56-E1E2-D272-3A6D-377D9EC57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78" y="1322688"/>
            <a:ext cx="482984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88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29864FE-3A6F-2920-5E03-D86AA550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913B555-6DE0-4DA2-F2D3-CF52AB6A5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A2D14CA8-8442-3000-1163-545D387C69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DD26F15-154E-AEB1-E4BC-47943E81C0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4FFCD8E-03D7-50BA-3322-4530A3552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 Différence en pourcentage du prix au mètre carré entre un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appartement de 2 pièces et un appartement de 3 pièces.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F8C2D-F4E9-2C44-8770-649A19B9B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95" y="3975685"/>
            <a:ext cx="1724266" cy="676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4CD070-CA8C-FB51-6F24-E20CC676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15" y="1723906"/>
            <a:ext cx="8383170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24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12003FF-04FF-9C7C-F174-C95173B3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D016E-2A91-BB74-75C9-0FC951E7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0" y="1527893"/>
            <a:ext cx="5373367" cy="3355858"/>
          </a:xfrm>
          <a:prstGeom prst="rect">
            <a:avLst/>
          </a:prstGeom>
        </p:spPr>
      </p:pic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E9B039B-E68D-79B0-D124-F35C82748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EEC28C5F-9FD2-8A7A-2EFB-3F6F1CEECD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8FB9251-7664-0313-3228-5D6A5A8C3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BCEEE72-6387-3413-69F8-AC32609C3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 Les moyennes de valeurs foncières pour le top 3 des communes des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départements 6, 13, 33, 59 et 69.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97EBED-FC89-3FB9-EE92-61B5974D2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917" y="1306970"/>
            <a:ext cx="3659484" cy="33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80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12893F9-F35B-0018-1CA0-983D0F79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AE1784A-2750-0C2A-C849-D321D51C8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06F06978-E1DA-8C70-7CE8-EB5893AD80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8E312D2-23CF-BFD1-AFDA-C8D3BB79F0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C9FACDE3-8C40-4163-9ACC-E6D2CEA38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 Les 20 communes avec le plus de transactions pour 1000 habitants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pour les communes qui dépassent les 10 000 habitants.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BC89E-C1F7-BA70-53FF-7656535A3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64" y="1504321"/>
            <a:ext cx="6735115" cy="1152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E57E38-F237-26B2-E090-0DE0E867C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564" y="2156316"/>
            <a:ext cx="2692539" cy="26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16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489</Words>
  <Application>Microsoft Office PowerPoint</Application>
  <PresentationFormat>On-screen Show (16:9)</PresentationFormat>
  <Paragraphs>108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Arial</vt:lpstr>
      <vt:lpstr>Arial Black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Corentin DERVOUT</cp:lastModifiedBy>
  <cp:revision>6</cp:revision>
  <dcterms:modified xsi:type="dcterms:W3CDTF">2026-01-23T12:26:15Z</dcterms:modified>
</cp:coreProperties>
</file>