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LIBRAIRIE LAPAGE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6E4F0"/>
                </a:solidFill>
                <a:latin typeface="Calibri"/>
              </a:defRPr>
            </a:pPr>
            <a:r>
              <a:t>Analyse des ventes en ligne — Bilan à 2 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840480"/>
            <a:ext cx="3657600" cy="36576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4F0"/>
                </a:solidFill>
                <a:latin typeface="Calibri"/>
              </a:defRPr>
            </a:pPr>
            <a:r>
              <a:t>Présentation au CODIR — Direction Commerciale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6E4F0"/>
                </a:solidFill>
                <a:latin typeface="Calibri"/>
              </a:defRPr>
            </a:pPr>
            <a:r>
              <a:t>Mars 2021 — Février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 Chiffres clés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 Évolution du chiffre d'affaires et décomposition temporelle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 Analyse par catégorie de produits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 Zoom sur les références : Top, Flop et Pareto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 Profil des clients et courbe de Lorenz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6.  Focus clients BtoB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7.  Analyse comportementale : corrélations et tests statistiques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8.  Synthèse et recommandations stratégiques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 CHIFFRES CLÉS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56032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60320" cy="73152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E79A7"/>
                </a:solidFill>
                <a:latin typeface="Calibri"/>
              </a:defRPr>
            </a:pPr>
            <a:r>
              <a:t>12,0 M€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CA total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645920"/>
            <a:ext cx="256032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645920"/>
            <a:ext cx="2560320" cy="73152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874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E79A7"/>
                </a:solidFill>
                <a:latin typeface="Calibri"/>
              </a:defRPr>
            </a:pPr>
            <a:r>
              <a:t>~501 k€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CA mensuel moyen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256032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2560320" cy="73152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28E2B"/>
                </a:solidFill>
                <a:latin typeface="Calibri"/>
              </a:defRPr>
            </a:pPr>
            <a:r>
              <a:t>687 534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Transactions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645920"/>
            <a:ext cx="256032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645920"/>
            <a:ext cx="2560320" cy="73152"/>
          </a:xfrm>
          <a:prstGeom prst="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874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9A14F"/>
                </a:solidFill>
                <a:latin typeface="Calibri"/>
              </a:defRPr>
            </a:pPr>
            <a:r>
              <a:t>8 600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Clients uniques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474720"/>
            <a:ext cx="256032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2560320" cy="73152"/>
          </a:xfrm>
          <a:prstGeom prst="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703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9A14F"/>
                </a:solidFill>
                <a:latin typeface="Calibri"/>
              </a:defRPr>
            </a:pPr>
            <a:r>
              <a:t>3 265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51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Produits vendus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3474720"/>
            <a:ext cx="256032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66160" y="3474720"/>
            <a:ext cx="2560320" cy="73152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3703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28E2B"/>
                </a:solidFill>
                <a:latin typeface="Calibri"/>
              </a:defRPr>
            </a:pPr>
            <a:r>
              <a:t>à compléter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251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Panier moyen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74720"/>
            <a:ext cx="256032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474720"/>
            <a:ext cx="2560320" cy="73152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03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E79A7"/>
                </a:solidFill>
                <a:latin typeface="Calibri"/>
              </a:defRPr>
            </a:pPr>
            <a:r>
              <a:t>0,442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251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Indice de Gini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3474720"/>
            <a:ext cx="256032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3474720"/>
            <a:ext cx="2560320" cy="73152"/>
          </a:xfrm>
          <a:prstGeom prst="rect">
            <a:avLst/>
          </a:prstGeom>
          <a:solidFill>
            <a:srgbClr val="E15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3703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15759"/>
                </a:solidFill>
                <a:latin typeface="Calibri"/>
              </a:defRPr>
            </a:pPr>
            <a:r>
              <a:t>7,4%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251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Part BtoB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Période : 1er mars 2021 → 28 février 2023 (24 mois)  •  21 produits jamais vendus  •  21 clients sans achat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 ÉVOLUTION DU CA ET DÉCOMPOSITION TEMPORELLE</a:t>
            </a:r>
          </a:p>
        </p:txBody>
      </p:sp>
      <p:pic>
        <p:nvPicPr>
          <p:cNvPr id="4" name="Picture 3" descr="graph_01_ca_mensu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669280" cy="4251960"/>
          </a:xfrm>
          <a:prstGeom prst="rect">
            <a:avLst/>
          </a:prstGeom>
        </p:spPr>
      </p:pic>
      <p:pic>
        <p:nvPicPr>
          <p:cNvPr id="5" name="Picture 4" descr="graph_02_decomposition_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472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💡 Moyenne mobile 3 mois pour lisser les variations. Décomposition additive (période 12 mois) : tendance, saisonnalité et résidus isolés.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3. ANALYSE PAR CATÉGORIE DE PRODUITS</a:t>
            </a:r>
          </a:p>
        </p:txBody>
      </p:sp>
      <p:pic>
        <p:nvPicPr>
          <p:cNvPr id="4" name="Picture 3" descr="graph_02_ca_catego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3840480" cy="2880360"/>
          </a:xfrm>
          <a:prstGeom prst="rect">
            <a:avLst/>
          </a:prstGeom>
        </p:spPr>
      </p:pic>
      <p:pic>
        <p:nvPicPr>
          <p:cNvPr id="5" name="Picture 4" descr="graph_08_repartition_categor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80160"/>
            <a:ext cx="3840480" cy="1371600"/>
          </a:xfrm>
          <a:prstGeom prst="rect">
            <a:avLst/>
          </a:prstGeom>
        </p:spPr>
      </p:pic>
      <p:pic>
        <p:nvPicPr>
          <p:cNvPr id="6" name="Picture 5" descr="graph_13_ca_categorie_tem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280160"/>
            <a:ext cx="3840480" cy="2880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📌 Insight clé : La Catégorie 2 ne représente que 5,3% des transactions mais génère 23,1% du CA grâce à un prix moyen de 76€. La Catégorie 0 domine en volume (60%) mais pèse moins en valeur (37%). La Catégorie 1 réalise le meilleur équilibre volume/valeur (34% / 40%).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4. ZOOM RÉFÉRENCES : TOP, FLOP ET PARETO</a:t>
            </a:r>
          </a:p>
        </p:txBody>
      </p:sp>
      <p:pic>
        <p:nvPicPr>
          <p:cNvPr id="4" name="Picture 3" descr="graph_06_top10_produ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3749039" cy="2811779"/>
          </a:xfrm>
          <a:prstGeom prst="rect">
            <a:avLst/>
          </a:prstGeom>
        </p:spPr>
      </p:pic>
      <p:pic>
        <p:nvPicPr>
          <p:cNvPr id="5" name="Picture 4" descr="graph_07_flop10_produ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280160"/>
            <a:ext cx="3749039" cy="2811779"/>
          </a:xfrm>
          <a:prstGeom prst="rect">
            <a:avLst/>
          </a:prstGeom>
        </p:spPr>
      </p:pic>
      <p:pic>
        <p:nvPicPr>
          <p:cNvPr id="6" name="Picture 5" descr="graph_15_pareto_produi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280160"/>
            <a:ext cx="3931920" cy="23591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📌 Classement par CA (prix × volume), l'indicateur décisionnel pour la direction. L'analyse Pareto montre la concentration : un faible % des références génère l'essentiel du CA. Les flops sont des références à très faible rotation — à évaluer pour rationner le catalogue.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5. PROFIL CLIENTS ET CONCENTRATION DU CA</a:t>
            </a:r>
          </a:p>
        </p:txBody>
      </p:sp>
      <p:pic>
        <p:nvPicPr>
          <p:cNvPr id="4" name="Picture 3" descr="graph_16_profil_cl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486400" cy="1959429"/>
          </a:xfrm>
          <a:prstGeom prst="rect">
            <a:avLst/>
          </a:prstGeom>
        </p:spPr>
      </p:pic>
      <p:pic>
        <p:nvPicPr>
          <p:cNvPr id="5" name="Picture 4" descr="graph_10_loren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Médiane ~44 ans  •  52% femmes / 48% hommes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5943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Gini = 0,442 → concentration modérée. Top 20% → 48% du 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6. FOCUS CLIENTS BtoB</a:t>
            </a:r>
          </a:p>
        </p:txBody>
      </p:sp>
      <p:pic>
        <p:nvPicPr>
          <p:cNvPr id="4" name="Picture 3" descr="graph_11_ca_bt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943600" cy="2122714"/>
          </a:xfrm>
          <a:prstGeom prst="rect">
            <a:avLst/>
          </a:prstGeom>
        </p:spPr>
      </p:pic>
      <p:pic>
        <p:nvPicPr>
          <p:cNvPr id="5" name="Picture 4" descr="graph_12_ca_btob_categor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5303520" cy="3977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📌 4 clients identifiés comme atypiques (écart x21 avec le 5ème client). Ils génèrent 7,4% du CA (884 k€) avec des achats équilibrés entre les 3 catégories (~1/3 chacune), contrairement aux BtoC concentrés sur la Cat. 0. Profil type d'acheteurs institutionnels (bibliothèques, entreprises).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7a. TESTS STATISTIQUES — JUSTIFICATION DES CHOIX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Périmètre : clients BtoC uniquement (4 BtoB exclus). Données agrégées par client pour éviter la pseudo-réplication.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0312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5029200"/>
              </a:tblGrid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Corrélation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Variables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choisi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Pourquoi ce test ?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Genre × Catégorie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Cat. × Cat.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Chi²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Seul test d'indépendance pour 2 variables catégorielles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Âge × Montant total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Quant. × Quant.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Spearman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Shapiro-Wilk → non-normalité → Pearson inadapté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Âge × Fréquence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Quant. × Quant.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Spearman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Idem : non-normalité des deux variables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Âge × Panier moyen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Quant. × Quant.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Spearman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Idem : non-normalité des deux variables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Âge × Catégorie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Quant. × Cat.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Kruskal-Wallis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Non-normalité + variances non homogènes (Levene) → ANOVA inadaptée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💡 Seuil de significativité fixé à 5% (α = 0.05) avant l'exécution des tests. Distinction entre significativité statistique (p-value) et significativité pratique (force du lien).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7b. TESTS STATISTIQUES — RÉSULTATS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1828800"/>
                <a:gridCol w="4114800"/>
              </a:tblGrid>
              <a:tr h="4267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Corrélation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Statistique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Conclusion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Genre × Catégorie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χ² = 4,90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0,086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Pas de lien significatif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Âge × Montant total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ρ = -0,18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≈ 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Corrélation faible négative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Âge × Fréquence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ρ = +0,22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≈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Corrélation faible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Âge × Panier moyen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ρ = -0,70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≈ 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Corrélation forte négative ⚠️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Âge × Catégorie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 = 1997,6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≈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Différence très significative ⚠️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graph_22_age_pan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114800"/>
            <a:ext cx="3931920" cy="2948940"/>
          </a:xfrm>
          <a:prstGeom prst="rect">
            <a:avLst/>
          </a:prstGeom>
        </p:spPr>
      </p:pic>
      <p:pic>
        <p:nvPicPr>
          <p:cNvPr id="6" name="Picture 5" descr="graph_23_age_categor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4114800"/>
            <a:ext cx="3931920" cy="2948940"/>
          </a:xfrm>
          <a:prstGeom prst="rect">
            <a:avLst/>
          </a:prstGeom>
        </p:spPr>
      </p:pic>
      <p:pic>
        <p:nvPicPr>
          <p:cNvPr id="7" name="Picture 6" descr="graph_19_genre_categor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114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7c. TROIS PROFILS CLIENTS PAR ÂGE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4747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73152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28E2B"/>
                </a:solidFill>
                <a:latin typeface="Calibri"/>
              </a:defRPr>
            </a:pPr>
            <a:r>
              <a:t>🧑 JEUNES (~23 ans)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Catégorie dominante : Cat. 2 (la plus chère)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Panier moyen élevé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Fréquence d'achat plus faible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Profil très homogène (σ = 4,3 ans)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34747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474720" cy="73152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79A7"/>
                </a:solidFill>
                <a:latin typeface="Calibri"/>
              </a:defRPr>
            </a:pPr>
            <a:r>
              <a:t>👤 ADULTES (~43 ans)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Catégorie dominante : Cat. 0 (entrée de gamme)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Comportement « standard »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Le segment le plus large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Dispersion modérée (σ = 12,5 ans)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645920"/>
            <a:ext cx="34747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645920"/>
            <a:ext cx="3474720" cy="73152"/>
          </a:xfrm>
          <a:prstGeom prst="rect">
            <a:avLst/>
          </a:prstGeom>
          <a:solidFill>
            <a:srgbClr val="59A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9A14F"/>
                </a:solidFill>
                <a:latin typeface="Calibri"/>
              </a:defRPr>
            </a:pPr>
            <a:r>
              <a:t>👴 SENIORS (~50+ ans)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603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Catégorie dominante : Cat. 1 (milieu de gamme)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Les plus fidèles (fréquence élevée)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Panier moyen faible (ρ = -0,70)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Grande dispersion (σ = 19,8 ans)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8. SYNTHÈSE ET RECOMMANDATIONS STRATÉGIQUES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097280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Calibri"/>
              </a:defRPr>
            </a:pPr>
            <a:r>
              <a:t>L'âge est le facteur clé de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7452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Le genre n'a aucune influence sur le comportement d'achat. Trois segments se dégagent par l'âge avec des comportements distincts.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1097280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Calibri"/>
              </a:defRPr>
            </a:pPr>
            <a:r>
              <a:t>La Catégorie 2 est un levier de croissance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803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5% des transactions mais 23% du CA, portée par les jeunes. Développer l'offre et la visibilité de cette catégorie.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1097280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Calibri"/>
              </a:defRPr>
            </a:pPr>
            <a:r>
              <a:t>Les seniors sont fidèles mais sous-monétisés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862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Fréquence élevée, panier faible. Opportunité : offres cross-selling, packs découverte pour augmenter le panier moyen.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1097280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26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Calibri"/>
              </a:defRPr>
            </a:pPr>
            <a:r>
              <a:t>Sécuriser les 4 clients BtoB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920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7,4% du CA sur 4 clients. Programme de fidélisation dédié, tarifs négociés, interlocuteur commercial attitré.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86400"/>
            <a:ext cx="1097280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532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  <a:latin typeface="Calibri"/>
              </a:defRPr>
            </a:pPr>
            <a:r>
              <a:t>Points de vigilance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8978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21 produits jamais vendus (rationalisation catalogue ?). 21 clients inscrits sans achat (relance marketing ciblée ?).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